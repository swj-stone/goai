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29eede230241ec" /><Relationship Type="http://schemas.openxmlformats.org/officeDocument/2006/relationships/extended-properties" Target="/docProps/app.xml" Id="Rf9262ce717ec431b" /><Relationship Type="http://schemas.openxmlformats.org/officeDocument/2006/relationships/officeDocument" Target="/ppt/presentation.xml" Id="R066157489a25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bca8ff63e74f29"/>
  </p:sldMasterIdLst>
  <p:notesMasterIdLst>
    <p:notesMasterId xmlns:r="http://schemas.openxmlformats.org/officeDocument/2006/relationships" r:id="R056854d8f0f844e0"/>
  </p:notesMasterIdLst>
  <p:sldIdLst>
    <p:sldId xmlns:r="http://schemas.openxmlformats.org/officeDocument/2006/relationships" id="256" r:id="R88e2b5d113564696"/>
    <p:sldId xmlns:r="http://schemas.openxmlformats.org/officeDocument/2006/relationships" id="257" r:id="R11f97bb4b38e4483"/>
    <p:sldId xmlns:r="http://schemas.openxmlformats.org/officeDocument/2006/relationships" id="258" r:id="R9e72060fe94a4a97"/>
    <p:sldId xmlns:r="http://schemas.openxmlformats.org/officeDocument/2006/relationships" id="259" r:id="Ra0291c5a87e94031"/>
    <p:sldId xmlns:r="http://schemas.openxmlformats.org/officeDocument/2006/relationships" id="260" r:id="Re171c4226c36438c"/>
    <p:sldId xmlns:r="http://schemas.openxmlformats.org/officeDocument/2006/relationships" id="261" r:id="R42e601eba60c442c"/>
    <p:sldId xmlns:r="http://schemas.openxmlformats.org/officeDocument/2006/relationships" id="262" r:id="Ra764fad8913f4603"/>
    <p:sldId xmlns:r="http://schemas.openxmlformats.org/officeDocument/2006/relationships" id="263" r:id="R4a6b7fb1b3a44836"/>
    <p:sldId xmlns:r="http://schemas.openxmlformats.org/officeDocument/2006/relationships" id="264" r:id="Rcc2d31de09e743c4"/>
    <p:sldId xmlns:r="http://schemas.openxmlformats.org/officeDocument/2006/relationships" id="265" r:id="R18f692ac74914706"/>
    <p:sldId xmlns:r="http://schemas.openxmlformats.org/officeDocument/2006/relationships" id="266" r:id="R827609401c4048d5"/>
    <p:sldId xmlns:r="http://schemas.openxmlformats.org/officeDocument/2006/relationships" id="267" r:id="R4ccce09b6ad84ff9"/>
    <p:sldId xmlns:r="http://schemas.openxmlformats.org/officeDocument/2006/relationships" id="268" r:id="Rebae151f1f5a4ddc"/>
    <p:sldId xmlns:r="http://schemas.openxmlformats.org/officeDocument/2006/relationships" id="269" r:id="R91f026f77b8e41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e7612dfe44484" /><Relationship Type="http://schemas.openxmlformats.org/officeDocument/2006/relationships/slideMaster" Target="/ppt/slideMasters/slideMaster1.xml" Id="Rb7bca8ff63e74f29" /><Relationship Type="http://schemas.openxmlformats.org/officeDocument/2006/relationships/notesMaster" Target="/ppt/notesMasters/notesMaster1.xml" Id="R056854d8f0f844e0" /><Relationship Type="http://schemas.openxmlformats.org/officeDocument/2006/relationships/presProps" Target="/ppt/presProps.xml" Id="Rc852af4af6034218" /><Relationship Type="http://schemas.openxmlformats.org/officeDocument/2006/relationships/tableStyles" Target="/ppt/tableStyles.xml" Id="R80b0a7591fa749f2" /><Relationship Type="http://schemas.openxmlformats.org/officeDocument/2006/relationships/slide" Target="/ppt/slides/slide1.xml" Id="R88e2b5d113564696" /><Relationship Type="http://schemas.openxmlformats.org/officeDocument/2006/relationships/slide" Target="/ppt/slides/slide2.xml" Id="R11f97bb4b38e4483" /><Relationship Type="http://schemas.openxmlformats.org/officeDocument/2006/relationships/slide" Target="/ppt/slides/slide3.xml" Id="R9e72060fe94a4a97" /><Relationship Type="http://schemas.openxmlformats.org/officeDocument/2006/relationships/slide" Target="/ppt/slides/slide4.xml" Id="Ra0291c5a87e94031" /><Relationship Type="http://schemas.openxmlformats.org/officeDocument/2006/relationships/slide" Target="/ppt/slides/slide5.xml" Id="Re171c4226c36438c" /><Relationship Type="http://schemas.openxmlformats.org/officeDocument/2006/relationships/slide" Target="/ppt/slides/slide6.xml" Id="R42e601eba60c442c" /><Relationship Type="http://schemas.openxmlformats.org/officeDocument/2006/relationships/slide" Target="/ppt/slides/slide7.xml" Id="Ra764fad8913f4603" /><Relationship Type="http://schemas.openxmlformats.org/officeDocument/2006/relationships/slide" Target="/ppt/slides/slide8.xml" Id="R4a6b7fb1b3a44836" /><Relationship Type="http://schemas.openxmlformats.org/officeDocument/2006/relationships/slide" Target="/ppt/slides/slide9.xml" Id="Rcc2d31de09e743c4" /><Relationship Type="http://schemas.openxmlformats.org/officeDocument/2006/relationships/slide" Target="/ppt/slides/slide10.xml" Id="R18f692ac74914706" /><Relationship Type="http://schemas.openxmlformats.org/officeDocument/2006/relationships/slide" Target="/ppt/slides/slide11.xml" Id="R827609401c4048d5" /><Relationship Type="http://schemas.openxmlformats.org/officeDocument/2006/relationships/slide" Target="/ppt/slides/slide12.xml" Id="R4ccce09b6ad84ff9" /><Relationship Type="http://schemas.openxmlformats.org/officeDocument/2006/relationships/slide" Target="/ppt/slides/slide13.xml" Id="Rebae151f1f5a4ddc" /><Relationship Type="http://schemas.openxmlformats.org/officeDocument/2006/relationships/slide" Target="/ppt/slides/slide14.xml" Id="R91f026f77b8e41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530081211d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63a528b5d449e" /><Relationship Type="http://schemas.openxmlformats.org/officeDocument/2006/relationships/notesMaster" Target="/ppt/notesMasters/notesMaster1.xml" Id="R59b811be1d4642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4fe0f4d6f64b53" /><Relationship Type="http://schemas.openxmlformats.org/officeDocument/2006/relationships/notesMaster" Target="/ppt/notesMasters/notesMaster1.xml" Id="R53c08b1c855944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cf4bab22c645b9" /><Relationship Type="http://schemas.openxmlformats.org/officeDocument/2006/relationships/notesMaster" Target="/ppt/notesMasters/notesMaster1.xml" Id="Rd9d16ed13136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fe3043e154133" /><Relationship Type="http://schemas.openxmlformats.org/officeDocument/2006/relationships/notesMaster" Target="/ppt/notesMasters/notesMaster1.xml" Id="Rfcbb53797ba6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72afb66604297" /><Relationship Type="http://schemas.openxmlformats.org/officeDocument/2006/relationships/notesMaster" Target="/ppt/notesMasters/notesMaster1.xml" Id="R32bb8f5a7c864c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bcc12c019642ca" /><Relationship Type="http://schemas.openxmlformats.org/officeDocument/2006/relationships/notesMaster" Target="/ppt/notesMasters/notesMaster1.xml" Id="Rda9c2f42154448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dd7bf30de446f9" /><Relationship Type="http://schemas.openxmlformats.org/officeDocument/2006/relationships/notesMaster" Target="/ppt/notesMasters/notesMaster1.xml" Id="Re71131acacda46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67f9b8250045c6" /><Relationship Type="http://schemas.openxmlformats.org/officeDocument/2006/relationships/notesMaster" Target="/ppt/notesMasters/notesMaster1.xml" Id="R4283b6e04cb749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a624ad772b41cb" /><Relationship Type="http://schemas.openxmlformats.org/officeDocument/2006/relationships/notesMaster" Target="/ppt/notesMasters/notesMaster1.xml" Id="Rf8a0bb5c76eb4b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a3034d944a4788" /><Relationship Type="http://schemas.openxmlformats.org/officeDocument/2006/relationships/notesMaster" Target="/ppt/notesMasters/notesMaster1.xml" Id="R3f41f86242674a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2556963b854404" /><Relationship Type="http://schemas.openxmlformats.org/officeDocument/2006/relationships/notesMaster" Target="/ppt/notesMasters/notesMaster1.xml" Id="R279e0fd38c4c4b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bfc8b8dacf4938" /><Relationship Type="http://schemas.openxmlformats.org/officeDocument/2006/relationships/notesMaster" Target="/ppt/notesMasters/notesMaster1.xml" Id="R1d8ca78b868946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63b6a1fd874dea" /><Relationship Type="http://schemas.openxmlformats.org/officeDocument/2006/relationships/notesMaster" Target="/ppt/notesMasters/notesMaster1.xml" Id="R5525d8f074684f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9bee57f7d643fb" /><Relationship Type="http://schemas.openxmlformats.org/officeDocument/2006/relationships/notesMaster" Target="/ppt/notesMasters/notesMaster1.xml" Id="R75c779ac56c84f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CampusMatch 不是替学生包装经历的聊天机器人，而是一套面向高校就业服务的多 Agent 基础设施。它连接学生材料、岗位要求、匹配理由、辅导建议和审计记录，让每项结论都能回到证据。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Cover visual generated with OpenAI image generation for this deck; no external asset URL.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场景不是虚构的。高校就业中心需要在短时间内处理大量学生材料和岗位，同时还要提供个性化服务。问题不是缺一个聊天框，而是缺一套可复核、可协作、可规模化的任务系统。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https://www.moe.gov.cn/jyb_xwfb/s5147/202606/t20260615_1440719.html</a:t>
            </a:r>
          </a:p>
          <a:p xmlns:a="http://schemas.openxmlformats.org/drawingml/2006/main">
            <a:r>
              <a:t>- https://hudong.moe.gov.cn/jyb_xxgk/moe_1777/moe_1779/202604/t20260403_1432954.html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一个黑盒分数无法区分缺证、能力差距和岗位风险，也无法告诉就业老师该如何介入。这正是我们选择证据链作为基础设施核心的原因。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系统从原始材料开始，保留哈希和引用；所有结构化结论、匹配与辅导建议都带着证据走到审计与人工批准。这样每一步都可回放、可质疑、可重做。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任务不是一次问答，而是一条可恢复状态机。每个 Agent 都读写标准任务信封；工具失败会重试，缺材料会向用户提问，高风险条件和无证据事实会进入阻断或人工升级。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Manager 只做目标、编排和汇总，五个 Worker 各自负责单一能力。大文件通过引用共享，不在对话中重复复制；Worker 不持有真实凭据，外部调用经网关治理。人可以进入协作空间观察、纠正和批准。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https://github.com/agentscope-ai/AgentTeams</a:t>
            </a:r>
          </a:p>
          <a:p xmlns:a="http://schemas.openxmlformats.org/drawingml/2006/main">
            <a:r>
              <a:t>- https://hiclaw.io/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把安全规则写在角色边界里，而不是只依赖一段总提示词。特别是 Audit 的 BLOCK 不能被 Manager 静默绕过；如果要继续，只能补证、删改或进入人工审批。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Markdown 便于学生和 AI 共同查看，但原始文件仍只读保留并计算哈希。每项结构化能力都关联区块、原文和确认状态；任何结论都能追到原文，而不是只追到模型回答。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Agent 不只给一个分数。它把匹配度和证据置信度分开，并逐项标出符合、部分符合、缺少证据、冲突和风险排除。页面数据为合成演示，只展示交互与解释方式。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numbers on this slide are synthetic demonstration data created for the CampusMatch prototype.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不只是最后一遍敏感词过滤。前置审查处理授权、隐私和岗位公平；后置审查处理事实、证据、内容安全和 Trace。演示中，Coach 写出材料没有支撑的“提升 30%”，系统必须 BLOCK，直到删除或补证并由用户确认。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https://www.npc.gov.cn/WZWSREL25wYy9jMi9jMzA4MzQvMjAyMTA4L3QyMDIxMDgyMF8zMTMwODguaHRtbD9yZWY9aW1i</a:t>
            </a:r>
          </a:p>
          <a:p xmlns:a="http://schemas.openxmlformats.org/drawingml/2006/main">
            <a:r>
              <a:t>- https://app.www.gov.cn/govdata/gov/202408/29/518774/article.html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不是工具名清单，而是可复用的专家流程：定义输入、输出、失败处理和安全边界。MCP 或等价契约负责连接文件、岗位、知识库和日志。日志侧可接入阿里云 SLS 查询 Skill，便于复赛展示可观测性。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https://skills.aliyun.com/skills</a:t>
            </a:r>
          </a:p>
          <a:p xmlns:a="http://schemas.openxmlformats.org/drawingml/2006/main">
            <a:r>
              <a:t>- https://skills.aliyun.com/skills/alibabacloud-sls-query</a:t>
            </a:r>
          </a:p>
          <a:p xmlns:a="http://schemas.openxmlformats.org/drawingml/2006/main">
            <a:r>
              <a:t>- https://opentelemetry.io/docs/specs/semconv/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不是只走成功路径。我们用合成简历和岗位先生成画像与匹配，再故意让 Coach 产生一个无证据数字，Audit 必须阻断；修复并确认后才导出。离线模式保证复现，在线模式展示真实协同。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本页全部是复赛实现后的验收目标，不是已经取得的成绩。我们会用固定合成数据集跑正常、缺证、工具失败、歧视条件和危机信号用例，并保存 Trace 和审核结果。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CampusMatch 从高校就业服务这个真实场景出发，开放 Agent Identity、Skills、Schema、合成数据、评测用例、工具适配器和 Trace 示例。它不替学生编造经历，也不替企业自动淘汰，让每次匹配都有证据，让每次自动化都能被人接管。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0771d34e941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620c8c645441e" /><Relationship Type="http://schemas.openxmlformats.org/officeDocument/2006/relationships/slideLayout" Target="/ppt/slideLayouts/slideLayout1.xml" Id="R57680f59f21e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80f59f21e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3166d171a4304" /><Relationship Type="http://schemas.openxmlformats.org/officeDocument/2006/relationships/image" Target="/ppt/media/image.png" Id="Rb5989923df144141" /><Relationship Type="http://schemas.openxmlformats.org/officeDocument/2006/relationships/notesSlide" Target="/ppt/notesSlides/notesSlide1.xml" Id="R6e1c0f5abeab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e516ed1914bb3" /><Relationship Type="http://schemas.openxmlformats.org/officeDocument/2006/relationships/notesSlide" Target="/ppt/notesSlides/notesSlide2.xml" Id="Rbdea0827013e40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a59d76dce41b9" /><Relationship Type="http://schemas.openxmlformats.org/officeDocument/2006/relationships/notesSlide" Target="/ppt/notesSlides/notesSlide3.xml" Id="Re0f26ae2b24340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d00f7c2c24f8d" /><Relationship Type="http://schemas.openxmlformats.org/officeDocument/2006/relationships/notesSlide" Target="/ppt/notesSlides/notesSlide4.xml" Id="R73f51e1576c741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fcf579c8244d3" /><Relationship Type="http://schemas.openxmlformats.org/officeDocument/2006/relationships/notesSlide" Target="/ppt/notesSlides/notesSlide5.xml" Id="Re47956e2b2e243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64ce954d54cb6" /><Relationship Type="http://schemas.openxmlformats.org/officeDocument/2006/relationships/notesSlide" Target="/ppt/notesSlides/notesSlide6.xml" Id="R9fd0c7c68fcb44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c7aa765da4bf7" /><Relationship Type="http://schemas.openxmlformats.org/officeDocument/2006/relationships/notesSlide" Target="/ppt/notesSlides/notesSlide7.xml" Id="Rf0244a25e76e40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7d1c6a7c944bb" /><Relationship Type="http://schemas.openxmlformats.org/officeDocument/2006/relationships/notesSlide" Target="/ppt/notesSlides/notesSlide8.xml" Id="R61f92f0d5f1840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479a7df36476a" /><Relationship Type="http://schemas.openxmlformats.org/officeDocument/2006/relationships/chart" Target="/ppt/slides/charts/chart1.xml" Id="Rb9be4e47758d4b7a" /><Relationship Type="http://schemas.openxmlformats.org/officeDocument/2006/relationships/notesSlide" Target="/ppt/notesSlides/notesSlide9.xml" Id="Rd8179613723445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0224cd9b24aa5" /><Relationship Type="http://schemas.openxmlformats.org/officeDocument/2006/relationships/notesSlide" Target="/ppt/notesSlides/notesSlide10.xml" Id="R9098bae390c943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5d65f7b434ec6" /><Relationship Type="http://schemas.openxmlformats.org/officeDocument/2006/relationships/notesSlide" Target="/ppt/notesSlides/notesSlide11.xml" Id="R63cbac047a4d44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588c53457479f" /><Relationship Type="http://schemas.openxmlformats.org/officeDocument/2006/relationships/notesSlide" Target="/ppt/notesSlides/notesSlide12.xml" Id="R3e252029e1ad49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625a6b33a4835" /><Relationship Type="http://schemas.openxmlformats.org/officeDocument/2006/relationships/notesSlide" Target="/ppt/notesSlides/notesSlide13.xml" Id="Rdb5a7ee6d50440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b9e92695344ac" /><Relationship Type="http://schemas.openxmlformats.org/officeDocument/2006/relationships/notesSlide" Target="/ppt/notesSlides/notesSlide14.xml" Id="R37f0186fad464aba" /></Relationships>
</file>

<file path=ppt/slides/charts/chart1.xml><?xml version="1.0" encoding="utf-8"?>
<c:chartSpace xmlns:c="http://schemas.openxmlformats.org/drawingml/2006/chart">
  <c:lang val="en-US"/>
  <c:chart>
    <c:plotArea>
      <c:radarChart>
        <c:radarStyle val="standard"/>
        <c:ser>
          <c:idx val="0"/>
          <c:order val="0"/>
          <c:tx>
            <c:v>合成候选人</c:v>
          </c:tx>
          <c:spPr>
            <a:solidFill xmlns:a="http://schemas.openxmlformats.org/drawingml/2006/main">
              <a:srgbClr val="CFE2FA"/>
            </a:solidFill>
            <a:ln xmlns:a="http://schemas.openxmlformats.org/drawingml/2006/main" w="28575">
              <a:solidFill>
                <a:srgbClr val="1666D3"/>
              </a:solidFill>
              <a:prstDash val="solid"/>
            </a:ln>
          </c:spPr>
          <c:cat>
            <c:strLit>
              <c:ptCount val="5"/>
              <c:pt idx="0">
                <c:v>硬技能</c:v>
              </c:pt>
              <c:pt idx="1">
                <c:v>项目深度</c:v>
              </c:pt>
              <c:pt idx="2">
                <c:v>领域经验</c:v>
              </c:pt>
              <c:pt idx="3">
                <c:v>协作沟通</c:v>
              </c:pt>
              <c:pt idx="4">
                <c:v>成长潜力</c:v>
              </c:pt>
            </c:strLit>
          </c:cat>
          <c:val>
            <c:numLit>
              <c:formatCode>General</c:formatCode>
              <c:ptCount val="5"/>
              <c:pt idx="0">
                <c:v>80</c:v>
              </c:pt>
              <c:pt idx="1">
                <c:v>70</c:v>
              </c:pt>
              <c:pt idx="2">
                <c:v>85</c:v>
              </c:pt>
              <c:pt idx="3">
                <c:v>65</c:v>
              </c:pt>
              <c:pt idx="4">
                <c:v>78</c:v>
              </c:pt>
            </c:numLit>
          </c:val>
        </c:ser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89923df144141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76375"/>
            <a:ext cx="7429500" cy="417195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1670DBF5-743E-42AC-9567-D7A2A38D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0"/>
            <a:ext cx="1428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E7967DD-0843-417F-A561-4891D21C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AGENT INFRA · 初赛方案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8084B1-ECEF-4EA8-B073-73AB077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5" name="cover-cn">
            <a:extLst xmlns:a="http://schemas.openxmlformats.org/drawingml/2006/main">
              <a:ext uri="{FF2B5EF4-FFF2-40B4-BE49-F238E27FC236}">
                <a16:creationId xmlns:a16="http://schemas.microsoft.com/office/drawing/2014/main" id="{0A0B1CAE-4C34-4AA1-9078-615EABFC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高校可信求职协同基座</a:t>
            </a:r>
          </a:p>
        </p:txBody>
      </p:sp>
      <p:sp>
        <p:nvSpPr>
          <p:cNvPr id="6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2A8D71F1-C857-4FE6-B92F-931F7706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让每项匹配和建议，都能回到证据。</a:t>
            </a:r>
          </a:p>
        </p:txBody>
      </p:sp>
      <p:sp>
        <p:nvSpPr>
          <p:cNvPr id="7" name="cover-pill1">
            <a:extLst xmlns:a="http://schemas.openxmlformats.org/drawingml/2006/main">
              <a:ext uri="{FF2B5EF4-FFF2-40B4-BE49-F238E27FC236}">
                <a16:creationId xmlns:a16="http://schemas.microsoft.com/office/drawing/2014/main" id="{028B1BF0-06C6-4808-AD1C-6DE67DCC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371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多 Agent 协同</a:t>
            </a:r>
          </a:p>
        </p:txBody>
      </p:sp>
      <p:sp>
        <p:nvSpPr>
          <p:cNvPr id="8" name="cover-pill2">
            <a:extLst xmlns:a="http://schemas.openxmlformats.org/drawingml/2006/main">
              <a:ext uri="{FF2B5EF4-FFF2-40B4-BE49-F238E27FC236}">
                <a16:creationId xmlns:a16="http://schemas.microsoft.com/office/drawing/2014/main" id="{4543658F-4DFB-42FA-AAE0-4D872E70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33875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全链路审计</a:t>
            </a:r>
          </a:p>
        </p:txBody>
      </p:sp>
      <p:sp>
        <p:nvSpPr>
          <p:cNvPr id="9" name="cover-pill3">
            <a:extLst xmlns:a="http://schemas.openxmlformats.org/drawingml/2006/main">
              <a:ext uri="{FF2B5EF4-FFF2-40B4-BE49-F238E27FC236}">
                <a16:creationId xmlns:a16="http://schemas.microsoft.com/office/drawing/2014/main" id="{CE77EC53-DDF2-4ADE-9526-5F1B8C4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F2ECFF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rPr>
              <a:t>人工可接管</a:t>
            </a:r>
          </a:p>
        </p:txBody>
      </p:sp>
      <p:sp>
        <p:nvSpPr>
          <p:cNvPr id="10" name="cover-foot">
            <a:extLst xmlns:a="http://schemas.openxmlformats.org/drawingml/2006/main">
              <a:ext uri="{FF2B5EF4-FFF2-40B4-BE49-F238E27FC236}">
                <a16:creationId xmlns:a16="http://schemas.microsoft.com/office/drawing/2014/main" id="{773EF9CA-8E66-4DA0-9BCE-A35F90C1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面向高校就业中心与在校大学生</a:t>
            </a:r>
          </a:p>
        </p:txBody>
      </p:sp>
    </p:spTree>
    <p:extLst>
      <p:ext uri="{BB962C8B-B14F-4D97-AF65-F5344CB8AC3E}">
        <p14:creationId xmlns:p14="http://schemas.microsoft.com/office/powerpoint/2010/main" val="333808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2">
            <a:extLst xmlns:a="http://schemas.openxmlformats.org/drawingml/2006/main">
              <a:ext uri="{FF2B5EF4-FFF2-40B4-BE49-F238E27FC236}">
                <a16:creationId xmlns:a16="http://schemas.microsoft.com/office/drawing/2014/main" id="{6094E570-19A3-4E36-8CF0-552BF8D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5DAA9C0-7E24-463F-8D67-DECE0917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高校需要“精准服务”，但个性化辅导难以规模化</a:t>
            </a:r>
          </a:p>
        </p:txBody>
      </p:sp>
      <p:cxnSp>
        <p:nvCxnSpPr>
          <p:cNvPr id="27" name="header-line-2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scale-panel">
            <a:extLst xmlns:a="http://schemas.openxmlformats.org/drawingml/2006/main">
              <a:ext uri="{FF2B5EF4-FFF2-40B4-BE49-F238E27FC236}">
                <a16:creationId xmlns:a16="http://schemas.microsoft.com/office/drawing/2014/main" id="{35B187F5-84D2-41A4-8CDC-E47167D6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3333750" cy="4191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B3B75"/>
          </a:solidFill>
          <a:ln xmlns:a="http://schemas.openxmlformats.org/drawingml/2006/main" w="9525">
            <a:solidFill>
              <a:srgbClr val="0B3B75"/>
            </a:solidFill>
            <a:prstDash val="solid"/>
          </a:ln>
        </p:spPr>
      </p:sp>
      <p:sp>
        <p:nvSpPr>
          <p:cNvPr id="5" name="scale-label">
            <a:extLst xmlns:a="http://schemas.openxmlformats.org/drawingml/2006/main">
              <a:ext uri="{FF2B5EF4-FFF2-40B4-BE49-F238E27FC236}">
                <a16:creationId xmlns:a16="http://schemas.microsoft.com/office/drawing/2014/main" id="{2BE74700-3042-4281-A715-CF954ED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E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E9FF"/>
                </a:solidFill>
                <a:latin typeface="Microsoft YaHei"/>
                <a:ea typeface="Microsoft YaHei"/>
                <a:cs typeface="Microsoft YaHei"/>
              </a:rPr>
              <a:t>2026 届普通高校毕业生</a:t>
            </a:r>
          </a:p>
        </p:txBody>
      </p:sp>
      <p:sp>
        <p:nvSpPr>
          <p:cNvPr id="6" name="scale-number">
            <a:extLst xmlns:a="http://schemas.openxmlformats.org/drawingml/2006/main">
              <a:ext uri="{FF2B5EF4-FFF2-40B4-BE49-F238E27FC236}">
                <a16:creationId xmlns:a16="http://schemas.microsoft.com/office/drawing/2014/main" id="{DC303F5F-A171-4986-A3B3-4A808DB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1,270</a:t>
            </a:r>
          </a:p>
        </p:txBody>
      </p:sp>
      <p:sp>
        <p:nvSpPr>
          <p:cNvPr id="7" name="scale-unit">
            <a:extLst xmlns:a="http://schemas.openxmlformats.org/drawingml/2006/main">
              <a:ext uri="{FF2B5EF4-FFF2-40B4-BE49-F238E27FC236}">
                <a16:creationId xmlns:a16="http://schemas.microsoft.com/office/drawing/2014/main" id="{3FFA957D-F808-44C6-AC66-77537794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万人 · 预计规模</a:t>
            </a:r>
          </a:p>
        </p:txBody>
      </p:sp>
      <p:cxnSp>
        <p:nvCxnSpPr>
          <p:cNvPr id="32" name="scale-rule"/>
          <p:cNvCxnSpPr/>
          <p:nvPr/>
        </p:nvCxnSpPr>
        <p:spPr>
          <a:xfrm xmlns:a="http://schemas.openxmlformats.org/drawingml/2006/main">
            <a:off x="933450" y="4171950"/>
            <a:ext cx="2457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F83AD"/>
            </a:solidFill>
            <a:prstDash val="solid"/>
          </a:ln>
        </p:spPr>
      </p:cxnSp>
      <p:sp>
        <p:nvSpPr>
          <p:cNvPr id="9" name="scale-note">
            <a:extLst xmlns:a="http://schemas.openxmlformats.org/drawingml/2006/main">
              <a:ext uri="{FF2B5EF4-FFF2-40B4-BE49-F238E27FC236}">
                <a16:creationId xmlns:a16="http://schemas.microsoft.com/office/drawing/2014/main" id="{27612CC7-480F-48E5-BA5C-AD04FCB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9FF"/>
                </a:solidFill>
                <a:latin typeface="Microsoft YaHei"/>
                <a:ea typeface="Microsoft YaHei"/>
                <a:cs typeface="Microsoft YaHei"/>
              </a:rPr>
              <a:t>规模扩大之外，政策要求持续强调</a:t>
            </a:r>
          </a:p>
          <a:p xmlns:a="http://schemas.openxmlformats.org/drawingml/2006/main">
            <a:pPr algn="ctr">
              <a:defRPr sz="1350" b="0">
                <a:solidFill>
                  <a:srgbClr val="D9E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9FF"/>
                </a:solidFill>
                <a:latin typeface="Microsoft YaHei"/>
                <a:ea typeface="Microsoft YaHei"/>
                <a:cs typeface="Microsoft YaHei"/>
              </a:rPr>
              <a:t>专业化、精准化就业服务</a:t>
            </a:r>
          </a:p>
        </p:txBody>
      </p:sp>
      <p:sp>
        <p:nvSpPr>
          <p:cNvPr id="10" name="ctx-num-0">
            <a:extLst xmlns:a="http://schemas.openxmlformats.org/drawingml/2006/main">
              <a:ext uri="{FF2B5EF4-FFF2-40B4-BE49-F238E27FC236}">
                <a16:creationId xmlns:a16="http://schemas.microsoft.com/office/drawing/2014/main" id="{40368EBC-531E-4A83-B555-71475C4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859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ctx-title-0">
            <a:extLst xmlns:a="http://schemas.openxmlformats.org/drawingml/2006/main">
              <a:ext uri="{FF2B5EF4-FFF2-40B4-BE49-F238E27FC236}">
                <a16:creationId xmlns:a16="http://schemas.microsoft.com/office/drawing/2014/main" id="{9C0069CA-DA24-454E-88CF-92DB78B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19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材料非结构化</a:t>
            </a:r>
          </a:p>
        </p:txBody>
      </p:sp>
      <p:sp>
        <p:nvSpPr>
          <p:cNvPr id="12" name="ctx-sub-0">
            <a:extLst xmlns:a="http://schemas.openxmlformats.org/drawingml/2006/main">
              <a:ext uri="{FF2B5EF4-FFF2-40B4-BE49-F238E27FC236}">
                <a16:creationId xmlns:a16="http://schemas.microsoft.com/office/drawing/2014/main" id="{87D4EAC0-0ABB-4677-AD8F-45073547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9550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简历、课程、项目、证书格式各异</a:t>
            </a:r>
          </a:p>
        </p:txBody>
      </p:sp>
      <p:cxnSp>
        <p:nvCxnSpPr>
          <p:cNvPr id="37" name="ctx-line-0"/>
          <p:cNvCxnSpPr/>
          <p:nvPr/>
        </p:nvCxnSpPr>
        <p:spPr>
          <a:xfrm xmlns:a="http://schemas.openxmlformats.org/drawingml/2006/main">
            <a:off x="4333875" y="2733675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ctx-num-1">
            <a:extLst xmlns:a="http://schemas.openxmlformats.org/drawingml/2006/main">
              <a:ext uri="{FF2B5EF4-FFF2-40B4-BE49-F238E27FC236}">
                <a16:creationId xmlns:a16="http://schemas.microsoft.com/office/drawing/2014/main" id="{2DF48FCD-3D76-47BD-8B5C-6B1FE8E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ctx-title-1">
            <a:extLst xmlns:a="http://schemas.openxmlformats.org/drawingml/2006/main">
              <a:ext uri="{FF2B5EF4-FFF2-40B4-BE49-F238E27FC236}">
                <a16:creationId xmlns:a16="http://schemas.microsoft.com/office/drawing/2014/main" id="{0B8B6B1D-43A1-48FB-89ED-2766502B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813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岗位快速变化</a:t>
            </a:r>
          </a:p>
        </p:txBody>
      </p:sp>
      <p:sp>
        <p:nvSpPr>
          <p:cNvPr id="16" name="ctx-sub-1">
            <a:extLst xmlns:a="http://schemas.openxmlformats.org/drawingml/2006/main">
              <a:ext uri="{FF2B5EF4-FFF2-40B4-BE49-F238E27FC236}">
                <a16:creationId xmlns:a16="http://schemas.microsoft.com/office/drawing/2014/main" id="{7AAF1E80-1EBA-4B5A-812B-2D7DF763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575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JD 模糊、要求冲突、风险条件混杂</a:t>
            </a:r>
          </a:p>
        </p:txBody>
      </p:sp>
      <p:cxnSp>
        <p:nvCxnSpPr>
          <p:cNvPr id="41" name="ctx-line-1"/>
          <p:cNvCxnSpPr/>
          <p:nvPr/>
        </p:nvCxnSpPr>
        <p:spPr>
          <a:xfrm xmlns:a="http://schemas.openxmlformats.org/drawingml/2006/main">
            <a:off x="4333875" y="409575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ctx-num-2">
            <a:extLst xmlns:a="http://schemas.openxmlformats.org/drawingml/2006/main">
              <a:ext uri="{FF2B5EF4-FFF2-40B4-BE49-F238E27FC236}">
                <a16:creationId xmlns:a16="http://schemas.microsoft.com/office/drawing/2014/main" id="{1C23A6E2-52D1-4937-9C16-E4648B4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100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ctx-title-2">
            <a:extLst xmlns:a="http://schemas.openxmlformats.org/drawingml/2006/main">
              <a:ext uri="{FF2B5EF4-FFF2-40B4-BE49-F238E27FC236}">
                <a16:creationId xmlns:a16="http://schemas.microsoft.com/office/drawing/2014/main" id="{FEACAACF-A10C-4295-8BBF-E45CE58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43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辅导高并发</a:t>
            </a:r>
          </a:p>
        </p:txBody>
      </p:sp>
      <p:sp>
        <p:nvSpPr>
          <p:cNvPr id="20" name="ctx-sub-2">
            <a:extLst xmlns:a="http://schemas.openxmlformats.org/drawingml/2006/main">
              <a:ext uri="{FF2B5EF4-FFF2-40B4-BE49-F238E27FC236}">
                <a16:creationId xmlns:a16="http://schemas.microsoft.com/office/drawing/2014/main" id="{F2CEA066-BDA8-4019-9E9B-DDA6109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96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老师难以逐项核对证据并持续跟进</a:t>
            </a:r>
          </a:p>
        </p:txBody>
      </p:sp>
      <p:sp>
        <p:nvSpPr>
          <p:cNvPr id="21" name="source-pill">
            <a:extLst xmlns:a="http://schemas.openxmlformats.org/drawingml/2006/main">
              <a:ext uri="{FF2B5EF4-FFF2-40B4-BE49-F238E27FC236}">
                <a16:creationId xmlns:a16="http://schemas.microsoft.com/office/drawing/2014/main" id="{82A2DE31-D4A1-42DC-98D2-90F6C4F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72125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真实场景：高校就业服务中心</a:t>
            </a:r>
          </a:p>
        </p:txBody>
      </p:sp>
      <p:sp>
        <p:nvSpPr>
          <p:cNvPr id="22" name="source-hint">
            <a:extLst xmlns:a="http://schemas.openxmlformats.org/drawingml/2006/main">
              <a:ext uri="{FF2B5EF4-FFF2-40B4-BE49-F238E27FC236}">
                <a16:creationId xmlns:a16="http://schemas.microsoft.com/office/drawing/2014/main" id="{0604D90B-0D23-4FB8-B7C4-20BCA15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292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资料来源见演讲者备注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438F3430-0702-45C6-947A-B119F487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4" name="page-2">
            <a:extLst xmlns:a="http://schemas.openxmlformats.org/drawingml/2006/main">
              <a:ext uri="{FF2B5EF4-FFF2-40B4-BE49-F238E27FC236}">
                <a16:creationId xmlns:a16="http://schemas.microsoft.com/office/drawing/2014/main" id="{E02E2617-ACE5-4FAD-ACEA-B4225CB2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9186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3">
            <a:extLst xmlns:a="http://schemas.openxmlformats.org/drawingml/2006/main">
              <a:ext uri="{FF2B5EF4-FFF2-40B4-BE49-F238E27FC236}">
                <a16:creationId xmlns:a16="http://schemas.microsoft.com/office/drawing/2014/main" id="{6C593F61-B9DC-4E80-83C3-727BF5BF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5DC7DA5-273B-48A8-A8D3-B1A586FB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现有工具把三种不同问题混成一个黑盒分数</a:t>
            </a:r>
          </a:p>
        </p:txBody>
      </p:sp>
      <p:cxnSp>
        <p:nvCxnSpPr>
          <p:cNvPr id="29" name="header-line-3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prob-0">
            <a:extLst xmlns:a="http://schemas.openxmlformats.org/drawingml/2006/main">
              <a:ext uri="{FF2B5EF4-FFF2-40B4-BE49-F238E27FC236}">
                <a16:creationId xmlns:a16="http://schemas.microsoft.com/office/drawing/2014/main" id="{951FB684-4565-4503-B406-EDE9ECE3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" name="prob-letter-0">
            <a:extLst xmlns:a="http://schemas.openxmlformats.org/drawingml/2006/main">
              <a:ext uri="{FF2B5EF4-FFF2-40B4-BE49-F238E27FC236}">
                <a16:creationId xmlns:a16="http://schemas.microsoft.com/office/drawing/2014/main" id="{8E56A713-369D-4DB8-B57C-6662063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6D3"/>
          </a:solidFill>
          <a:ln xmlns:a="http://schemas.openxmlformats.org/drawingml/2006/main" w="0">
            <a:solidFill>
              <a:srgbClr val="1666D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175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prob-title-0">
            <a:extLst xmlns:a="http://schemas.openxmlformats.org/drawingml/2006/main">
              <a:ext uri="{FF2B5EF4-FFF2-40B4-BE49-F238E27FC236}">
                <a16:creationId xmlns:a16="http://schemas.microsoft.com/office/drawing/2014/main" id="{1A87F55B-56A0-4E92-950F-5980CDC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4785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简历没写出来</a:t>
            </a:r>
          </a:p>
        </p:txBody>
      </p:sp>
      <p:sp>
        <p:nvSpPr>
          <p:cNvPr id="7" name="prob-sub-0">
            <a:extLst xmlns:a="http://schemas.openxmlformats.org/drawingml/2006/main">
              <a:ext uri="{FF2B5EF4-FFF2-40B4-BE49-F238E27FC236}">
                <a16:creationId xmlns:a16="http://schemas.microsoft.com/office/drawing/2014/main" id="{5E147357-22BB-413F-94F2-B9DA403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材料缺证</a:t>
            </a:r>
          </a:p>
        </p:txBody>
      </p:sp>
      <p:sp>
        <p:nvSpPr>
          <p:cNvPr id="8" name="prob-plus-0">
            <a:extLst xmlns:a="http://schemas.openxmlformats.org/drawingml/2006/main">
              <a:ext uri="{FF2B5EF4-FFF2-40B4-BE49-F238E27FC236}">
                <a16:creationId xmlns:a16="http://schemas.microsoft.com/office/drawing/2014/main" id="{B2D7DA71-EFB2-4312-BC03-79632288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29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7077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9" name="prob-1">
            <a:extLst xmlns:a="http://schemas.openxmlformats.org/drawingml/2006/main">
              <a:ext uri="{FF2B5EF4-FFF2-40B4-BE49-F238E27FC236}">
                <a16:creationId xmlns:a16="http://schemas.microsoft.com/office/drawing/2014/main" id="{0DF4CFF9-BED6-4091-923F-05678DAB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764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FF5D6"/>
            </a:solidFill>
            <a:prstDash val="solid"/>
          </a:ln>
        </p:spPr>
      </p:sp>
      <p:sp>
        <p:nvSpPr>
          <p:cNvPr id="10" name="prob-letter-1">
            <a:extLst xmlns:a="http://schemas.openxmlformats.org/drawingml/2006/main">
              <a:ext uri="{FF2B5EF4-FFF2-40B4-BE49-F238E27FC236}">
                <a16:creationId xmlns:a16="http://schemas.microsoft.com/office/drawing/2014/main" id="{46A26707-B3D0-496E-836C-4403A7F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66900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175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1" name="prob-title-1">
            <a:extLst xmlns:a="http://schemas.openxmlformats.org/drawingml/2006/main">
              <a:ext uri="{FF2B5EF4-FFF2-40B4-BE49-F238E27FC236}">
                <a16:creationId xmlns:a16="http://schemas.microsoft.com/office/drawing/2014/main" id="{61C95E89-C1C3-47AD-9535-5334BC8F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84785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学生确实不会</a:t>
            </a:r>
          </a:p>
        </p:txBody>
      </p:sp>
      <p:sp>
        <p:nvSpPr>
          <p:cNvPr id="12" name="prob-sub-1">
            <a:extLst xmlns:a="http://schemas.openxmlformats.org/drawingml/2006/main">
              <a:ext uri="{FF2B5EF4-FFF2-40B4-BE49-F238E27FC236}">
                <a16:creationId xmlns:a16="http://schemas.microsoft.com/office/drawing/2014/main" id="{67934171-E343-4920-804B-B6EC646A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003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rPr>
              <a:t>能力差距</a:t>
            </a:r>
          </a:p>
        </p:txBody>
      </p:sp>
      <p:sp>
        <p:nvSpPr>
          <p:cNvPr id="13" name="prob-plus-1">
            <a:extLst xmlns:a="http://schemas.openxmlformats.org/drawingml/2006/main">
              <a:ext uri="{FF2B5EF4-FFF2-40B4-BE49-F238E27FC236}">
                <a16:creationId xmlns:a16="http://schemas.microsoft.com/office/drawing/2014/main" id="{A06AB15D-C250-4726-8832-8EB58081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90750"/>
            <a:ext cx="29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7077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4" name="prob-2">
            <a:extLst xmlns:a="http://schemas.openxmlformats.org/drawingml/2006/main">
              <a:ext uri="{FF2B5EF4-FFF2-40B4-BE49-F238E27FC236}">
                <a16:creationId xmlns:a16="http://schemas.microsoft.com/office/drawing/2014/main" id="{F183109C-94CD-460C-BC1E-E7F5137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5" name="prob-letter-2">
            <a:extLst xmlns:a="http://schemas.openxmlformats.org/drawingml/2006/main">
              <a:ext uri="{FF2B5EF4-FFF2-40B4-BE49-F238E27FC236}">
                <a16:creationId xmlns:a16="http://schemas.microsoft.com/office/drawing/2014/main" id="{B3592119-4CA6-4EB8-A473-BE5CA7A2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838"/>
          </a:solidFill>
          <a:ln xmlns:a="http://schemas.openxmlformats.org/drawingml/2006/main" w="0">
            <a:solidFill>
              <a:srgbClr val="C838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175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6" name="prob-title-2">
            <a:extLst xmlns:a="http://schemas.openxmlformats.org/drawingml/2006/main">
              <a:ext uri="{FF2B5EF4-FFF2-40B4-BE49-F238E27FC236}">
                <a16:creationId xmlns:a16="http://schemas.microsoft.com/office/drawing/2014/main" id="{CBD868E5-D882-494F-B57E-347710C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4785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岗位要求不合理</a:t>
            </a:r>
          </a:p>
        </p:txBody>
      </p:sp>
      <p:sp>
        <p:nvSpPr>
          <p:cNvPr id="17" name="prob-sub-2">
            <a:extLst xmlns:a="http://schemas.openxmlformats.org/drawingml/2006/main">
              <a:ext uri="{FF2B5EF4-FFF2-40B4-BE49-F238E27FC236}">
                <a16:creationId xmlns:a16="http://schemas.microsoft.com/office/drawing/2014/main" id="{9C672850-F69C-4121-8D4D-77BFC641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政策风险</a:t>
            </a:r>
          </a:p>
        </p:txBody>
      </p:sp>
      <p:sp>
        <p:nvSpPr>
          <p:cNvPr id="18" name="prob-arrow">
            <a:extLst xmlns:a="http://schemas.openxmlformats.org/drawingml/2006/main">
              <a:ext uri="{FF2B5EF4-FFF2-40B4-BE49-F238E27FC236}">
                <a16:creationId xmlns:a16="http://schemas.microsoft.com/office/drawing/2014/main" id="{3936858B-1BB1-4C04-BD5D-F8C908C7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60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9537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blackbox">
            <a:extLst xmlns:a="http://schemas.openxmlformats.org/drawingml/2006/main">
              <a:ext uri="{FF2B5EF4-FFF2-40B4-BE49-F238E27FC236}">
                <a16:creationId xmlns:a16="http://schemas.microsoft.com/office/drawing/2014/main" id="{7424F7DD-72BA-4838-842B-6AC43A17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76400"/>
            <a:ext cx="1524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20" name="blackbox-label">
            <a:extLst xmlns:a="http://schemas.openxmlformats.org/drawingml/2006/main">
              <a:ext uri="{FF2B5EF4-FFF2-40B4-BE49-F238E27FC236}">
                <a16:creationId xmlns:a16="http://schemas.microsoft.com/office/drawing/2014/main" id="{B287EFFE-A327-4385-9C77-00DF989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14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不可解释的总分</a:t>
            </a:r>
          </a:p>
        </p:txBody>
      </p:sp>
      <p:sp>
        <p:nvSpPr>
          <p:cNvPr id="21" name="principle">
            <a:extLst xmlns:a="http://schemas.openxmlformats.org/drawingml/2006/main">
              <a:ext uri="{FF2B5EF4-FFF2-40B4-BE49-F238E27FC236}">
                <a16:creationId xmlns:a16="http://schemas.microsoft.com/office/drawing/2014/main" id="{920FFA81-504C-43CE-953F-F1FC68CE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085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principle-big">
            <a:extLst xmlns:a="http://schemas.openxmlformats.org/drawingml/2006/main">
              <a:ext uri="{FF2B5EF4-FFF2-40B4-BE49-F238E27FC236}">
                <a16:creationId xmlns:a16="http://schemas.microsoft.com/office/drawing/2014/main" id="{893F6E0E-40F4-4FBF-A692-3EEAC85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14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“没有证据” ≠ “没有能力”</a:t>
            </a:r>
          </a:p>
        </p:txBody>
      </p:sp>
      <p:cxnSp>
        <p:nvCxnSpPr>
          <p:cNvPr id="49" name="principle-divider"/>
          <p:cNvCxnSpPr/>
          <p:nvPr/>
        </p:nvCxnSpPr>
        <p:spPr>
          <a:xfrm xmlns:a="http://schemas.openxmlformats.org/drawingml/2006/main">
            <a:off x="6096000" y="4048125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4" name="principle-small">
            <a:extLst xmlns:a="http://schemas.openxmlformats.org/drawingml/2006/main">
              <a:ext uri="{FF2B5EF4-FFF2-40B4-BE49-F238E27FC236}">
                <a16:creationId xmlns:a16="http://schemas.microsoft.com/office/drawing/2014/main" id="{EC6E0FBA-5399-44AC-ABBB-66F3DD5A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29075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风险条件不能进入评分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匹配结论必须逐项说明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系统不能替企业作录用决定</a:t>
            </a:r>
          </a:p>
        </p:txBody>
      </p:sp>
      <p:sp>
        <p:nvSpPr>
          <p:cNvPr id="25" name="footer-3">
            <a:extLst xmlns:a="http://schemas.openxmlformats.org/drawingml/2006/main">
              <a:ext uri="{FF2B5EF4-FFF2-40B4-BE49-F238E27FC236}">
                <a16:creationId xmlns:a16="http://schemas.microsoft.com/office/drawing/2014/main" id="{2B838038-CABB-4E10-B43D-D4E498B1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7380AB8A-CC14-4743-8269-089CFA4C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9173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-4">
            <a:extLst xmlns:a="http://schemas.openxmlformats.org/drawingml/2006/main">
              <a:ext uri="{FF2B5EF4-FFF2-40B4-BE49-F238E27FC236}">
                <a16:creationId xmlns:a16="http://schemas.microsoft.com/office/drawing/2014/main" id="{E84F9F9D-5D48-4762-9AB5-CD3005B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7CFF922-0288-4BFD-AE7E-9220053B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CampusMatch 把求职建议变成可回放的证据链</a:t>
            </a:r>
          </a:p>
        </p:txBody>
      </p:sp>
      <p:cxnSp>
        <p:nvCxnSpPr>
          <p:cNvPr id="41" name="header-line-4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chain-num-0">
            <a:extLst xmlns:a="http://schemas.openxmlformats.org/drawingml/2006/main">
              <a:ext uri="{FF2B5EF4-FFF2-40B4-BE49-F238E27FC236}">
                <a16:creationId xmlns:a16="http://schemas.microsoft.com/office/drawing/2014/main" id="{3E3B7B24-DB78-42FA-8BA3-43684D60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chain-card-0">
            <a:extLst xmlns:a="http://schemas.openxmlformats.org/drawingml/2006/main">
              <a:ext uri="{FF2B5EF4-FFF2-40B4-BE49-F238E27FC236}">
                <a16:creationId xmlns:a16="http://schemas.microsoft.com/office/drawing/2014/main" id="{021E6BD6-3D81-416F-9EBD-12894348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只读 + 哈希</a:t>
            </a:r>
          </a:p>
        </p:txBody>
      </p:sp>
      <p:sp>
        <p:nvSpPr>
          <p:cNvPr id="6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ADA11DDD-DDBB-48AB-8A07-1CE47C55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81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chain-num-1">
            <a:extLst xmlns:a="http://schemas.openxmlformats.org/drawingml/2006/main">
              <a:ext uri="{FF2B5EF4-FFF2-40B4-BE49-F238E27FC236}">
                <a16:creationId xmlns:a16="http://schemas.microsoft.com/office/drawing/2014/main" id="{1EB9AF4C-7100-43DA-AFB7-F328F691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chain-card-1">
            <a:extLst xmlns:a="http://schemas.openxmlformats.org/drawingml/2006/main">
              <a:ext uri="{FF2B5EF4-FFF2-40B4-BE49-F238E27FC236}">
                <a16:creationId xmlns:a16="http://schemas.microsoft.com/office/drawing/2014/main" id="{3B66C7BB-047E-4733-82AF-3D2C2E2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Markdown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人机共览</a:t>
            </a:r>
          </a:p>
        </p:txBody>
      </p:sp>
      <p:sp>
        <p:nvSpPr>
          <p:cNvPr id="9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37ABFF7A-2B10-4562-A907-FCD98B93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81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chain-num-2">
            <a:extLst xmlns:a="http://schemas.openxmlformats.org/drawingml/2006/main">
              <a:ext uri="{FF2B5EF4-FFF2-40B4-BE49-F238E27FC236}">
                <a16:creationId xmlns:a16="http://schemas.microsoft.com/office/drawing/2014/main" id="{DC89CFF2-6CD6-48FF-88A5-93EC1A1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chain-card-2">
            <a:extLst xmlns:a="http://schemas.openxmlformats.org/drawingml/2006/main">
              <a:ext uri="{FF2B5EF4-FFF2-40B4-BE49-F238E27FC236}">
                <a16:creationId xmlns:a16="http://schemas.microsoft.com/office/drawing/2014/main" id="{6EFB4C2D-962E-4C72-8B52-8D585B2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能力证据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原文锚点</a:t>
            </a:r>
          </a:p>
        </p:txBody>
      </p:sp>
      <p:sp>
        <p:nvSpPr>
          <p:cNvPr id="12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2BD0136F-AE2F-49DE-BB92-E64F93A4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81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chain-num-3">
            <a:extLst xmlns:a="http://schemas.openxmlformats.org/drawingml/2006/main">
              <a:ext uri="{FF2B5EF4-FFF2-40B4-BE49-F238E27FC236}">
                <a16:creationId xmlns:a16="http://schemas.microsoft.com/office/drawing/2014/main" id="{81058B5D-1674-44EB-BD29-5A9E334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chain-card-3">
            <a:extLst xmlns:a="http://schemas.openxmlformats.org/drawingml/2006/main">
              <a:ext uri="{FF2B5EF4-FFF2-40B4-BE49-F238E27FC236}">
                <a16:creationId xmlns:a16="http://schemas.microsoft.com/office/drawing/2014/main" id="{337E175C-D250-4F6C-84E6-4DF0B27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分类 + 风险</a:t>
            </a:r>
          </a:p>
        </p:txBody>
      </p:sp>
      <p:sp>
        <p:nvSpPr>
          <p:cNvPr id="15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452ABA33-A4B8-4852-AB20-0AB960F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81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chain-num-4">
            <a:extLst xmlns:a="http://schemas.openxmlformats.org/drawingml/2006/main">
              <a:ext uri="{FF2B5EF4-FFF2-40B4-BE49-F238E27FC236}">
                <a16:creationId xmlns:a16="http://schemas.microsoft.com/office/drawing/2014/main" id="{0F983F18-2D60-4B29-8911-46834CCA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chain-card-4">
            <a:extLst xmlns:a="http://schemas.openxmlformats.org/drawingml/2006/main">
              <a:ext uri="{FF2B5EF4-FFF2-40B4-BE49-F238E27FC236}">
                <a16:creationId xmlns:a16="http://schemas.microsoft.com/office/drawing/2014/main" id="{CD59702C-4F4A-4630-9486-D656D6A1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匹配矩阵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逐项状态</a:t>
            </a:r>
          </a:p>
        </p:txBody>
      </p:sp>
      <p:sp>
        <p:nvSpPr>
          <p:cNvPr id="18" name="chain-arrow-4">
            <a:extLst xmlns:a="http://schemas.openxmlformats.org/drawingml/2006/main">
              <a:ext uri="{FF2B5EF4-FFF2-40B4-BE49-F238E27FC236}">
                <a16:creationId xmlns:a16="http://schemas.microsoft.com/office/drawing/2014/main" id="{D0D20E57-1FBC-4416-BE0E-747F02BB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81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chain-num-5">
            <a:extLst xmlns:a="http://schemas.openxmlformats.org/drawingml/2006/main">
              <a:ext uri="{FF2B5EF4-FFF2-40B4-BE49-F238E27FC236}">
                <a16:creationId xmlns:a16="http://schemas.microsoft.com/office/drawing/2014/main" id="{9B8E5503-A936-4914-BD4F-B05F56C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0" name="chain-card-5">
            <a:extLst xmlns:a="http://schemas.openxmlformats.org/drawingml/2006/main">
              <a:ext uri="{FF2B5EF4-FFF2-40B4-BE49-F238E27FC236}">
                <a16:creationId xmlns:a16="http://schemas.microsoft.com/office/drawing/2014/main" id="{F14BBE89-2F74-4ACB-B717-A131DD58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求职辅导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只用已证实经历</a:t>
            </a:r>
          </a:p>
        </p:txBody>
      </p:sp>
      <p:sp>
        <p:nvSpPr>
          <p:cNvPr id="21" name="chain-arrow-5">
            <a:extLst xmlns:a="http://schemas.openxmlformats.org/drawingml/2006/main">
              <a:ext uri="{FF2B5EF4-FFF2-40B4-BE49-F238E27FC236}">
                <a16:creationId xmlns:a16="http://schemas.microsoft.com/office/drawing/2014/main" id="{2BBD1F18-B96C-4974-8143-65E7703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81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chain-num-6">
            <a:extLst xmlns:a="http://schemas.openxmlformats.org/drawingml/2006/main">
              <a:ext uri="{FF2B5EF4-FFF2-40B4-BE49-F238E27FC236}">
                <a16:creationId xmlns:a16="http://schemas.microsoft.com/office/drawing/2014/main" id="{20B5A54A-26A7-4A2E-8F0C-CC51452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3" name="chain-card-6">
            <a:extLst xmlns:a="http://schemas.openxmlformats.org/drawingml/2006/main">
              <a:ext uri="{FF2B5EF4-FFF2-40B4-BE49-F238E27FC236}">
                <a16:creationId xmlns:a16="http://schemas.microsoft.com/office/drawing/2014/main" id="{0D923356-1780-4534-8098-EB2654B1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阻断 / 升级</a:t>
            </a:r>
          </a:p>
        </p:txBody>
      </p:sp>
      <p:sp>
        <p:nvSpPr>
          <p:cNvPr id="24" name="chain-arrow-6">
            <a:extLst xmlns:a="http://schemas.openxmlformats.org/drawingml/2006/main">
              <a:ext uri="{FF2B5EF4-FFF2-40B4-BE49-F238E27FC236}">
                <a16:creationId xmlns:a16="http://schemas.microsoft.com/office/drawing/2014/main" id="{CD31872D-67EA-47B2-8F69-E0D37E3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81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chain-num-7">
            <a:extLst xmlns:a="http://schemas.openxmlformats.org/drawingml/2006/main">
              <a:ext uri="{FF2B5EF4-FFF2-40B4-BE49-F238E27FC236}">
                <a16:creationId xmlns:a16="http://schemas.microsoft.com/office/drawing/2014/main" id="{70C8AB43-4626-4084-B6C9-F0D71D71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85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6" name="chain-card-7">
            <a:extLst xmlns:a="http://schemas.openxmlformats.org/drawingml/2006/main">
              <a:ext uri="{FF2B5EF4-FFF2-40B4-BE49-F238E27FC236}">
                <a16:creationId xmlns:a16="http://schemas.microsoft.com/office/drawing/2014/main" id="{A1B8F432-1AA2-4C5D-8BCB-53A4A431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19325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人工批准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导出与留痕</a:t>
            </a:r>
          </a:p>
        </p:txBody>
      </p:sp>
      <p:cxnSp>
        <p:nvCxnSpPr>
          <p:cNvPr id="65" name="chain-rule"/>
          <p:cNvCxnSpPr/>
          <p:nvPr/>
        </p:nvCxnSpPr>
        <p:spPr>
          <a:xfrm xmlns:a="http://schemas.openxmlformats.org/drawingml/2006/main">
            <a:off x="495300" y="382905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8" name="key-title-0">
            <a:extLst xmlns:a="http://schemas.openxmlformats.org/drawingml/2006/main">
              <a:ext uri="{FF2B5EF4-FFF2-40B4-BE49-F238E27FC236}">
                <a16:creationId xmlns:a16="http://schemas.microsoft.com/office/drawing/2014/main" id="{D27B517D-2A34-47DC-BFB2-8794CD5D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9" name="key-sub-0">
            <a:extLst xmlns:a="http://schemas.openxmlformats.org/drawingml/2006/main">
              <a:ext uri="{FF2B5EF4-FFF2-40B4-BE49-F238E27FC236}">
                <a16:creationId xmlns:a16="http://schemas.microsoft.com/office/drawing/2014/main" id="{611BB4C8-B96E-4705-92FE-AC873515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每条结论都有 evidence_id</a:t>
            </a:r>
          </a:p>
        </p:txBody>
      </p:sp>
      <p:sp>
        <p:nvSpPr>
          <p:cNvPr id="30" name="key-title-1">
            <a:extLst xmlns:a="http://schemas.openxmlformats.org/drawingml/2006/main">
              <a:ext uri="{FF2B5EF4-FFF2-40B4-BE49-F238E27FC236}">
                <a16:creationId xmlns:a16="http://schemas.microsoft.com/office/drawing/2014/main" id="{C0DA616B-85B5-4D4E-82BB-5958BD5E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38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31" name="key-sub-1">
            <a:extLst xmlns:a="http://schemas.openxmlformats.org/drawingml/2006/main">
              <a:ext uri="{FF2B5EF4-FFF2-40B4-BE49-F238E27FC236}">
                <a16:creationId xmlns:a16="http://schemas.microsoft.com/office/drawing/2014/main" id="{79AEE0FC-1D8E-4D33-8B36-78DE282D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863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分数与置信度分开展示</a:t>
            </a:r>
          </a:p>
        </p:txBody>
      </p:sp>
      <p:sp>
        <p:nvSpPr>
          <p:cNvPr id="32" name="key-title-2">
            <a:extLst xmlns:a="http://schemas.openxmlformats.org/drawingml/2006/main">
              <a:ext uri="{FF2B5EF4-FFF2-40B4-BE49-F238E27FC236}">
                <a16:creationId xmlns:a16="http://schemas.microsoft.com/office/drawing/2014/main" id="{A93A7E51-B59E-4754-8948-7828D91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可审批</a:t>
            </a:r>
          </a:p>
        </p:txBody>
      </p:sp>
      <p:sp>
        <p:nvSpPr>
          <p:cNvPr id="33" name="key-sub-2">
            <a:extLst xmlns:a="http://schemas.openxmlformats.org/drawingml/2006/main">
              <a:ext uri="{FF2B5EF4-FFF2-40B4-BE49-F238E27FC236}">
                <a16:creationId xmlns:a16="http://schemas.microsoft.com/office/drawing/2014/main" id="{3FE03977-D486-4E4F-86EF-24800F52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863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风险动作必须人确认</a:t>
            </a:r>
          </a:p>
        </p:txBody>
      </p:sp>
      <p:sp>
        <p:nvSpPr>
          <p:cNvPr id="34" name="key-title-3">
            <a:extLst xmlns:a="http://schemas.openxmlformats.org/drawingml/2006/main">
              <a:ext uri="{FF2B5EF4-FFF2-40B4-BE49-F238E27FC236}">
                <a16:creationId xmlns:a16="http://schemas.microsoft.com/office/drawing/2014/main" id="{9D33CCAC-0E47-4650-A48B-7FE4919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38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key-sub-3">
            <a:extLst xmlns:a="http://schemas.openxmlformats.org/drawingml/2006/main">
              <a:ext uri="{FF2B5EF4-FFF2-40B4-BE49-F238E27FC236}">
                <a16:creationId xmlns:a16="http://schemas.microsoft.com/office/drawing/2014/main" id="{0046A6F6-332D-465D-8E63-1854E15F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流程封装为 Skills 与 Schema</a:t>
            </a:r>
          </a:p>
        </p:txBody>
      </p:sp>
      <p:sp>
        <p:nvSpPr>
          <p:cNvPr id="36" name="chain-thesis">
            <a:extLst xmlns:a="http://schemas.openxmlformats.org/drawingml/2006/main">
              <a:ext uri="{FF2B5EF4-FFF2-40B4-BE49-F238E27FC236}">
                <a16:creationId xmlns:a16="http://schemas.microsoft.com/office/drawing/2014/main" id="{296F93AB-2C6E-4713-AD7E-DC6F5200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524500"/>
            <a:ext cx="5572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3B75"/>
          </a:solidFill>
          <a:ln xmlns:a="http://schemas.openxmlformats.org/drawingml/2006/main" w="9525">
            <a:solidFill>
              <a:srgbClr val="0B3B75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9880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关键基础设施：可验证的证据状态，而不是更长的提示词</a:t>
            </a:r>
          </a:p>
        </p:txBody>
      </p:sp>
      <p:sp>
        <p:nvSpPr>
          <p:cNvPr id="37" name="footer-4">
            <a:extLst xmlns:a="http://schemas.openxmlformats.org/drawingml/2006/main">
              <a:ext uri="{FF2B5EF4-FFF2-40B4-BE49-F238E27FC236}">
                <a16:creationId xmlns:a16="http://schemas.microsoft.com/office/drawing/2014/main" id="{74DB73F3-85A8-4698-9FF4-D9297D6E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38" name="page-4">
            <a:extLst xmlns:a="http://schemas.openxmlformats.org/drawingml/2006/main">
              <a:ext uri="{FF2B5EF4-FFF2-40B4-BE49-F238E27FC236}">
                <a16:creationId xmlns:a16="http://schemas.microsoft.com/office/drawing/2014/main" id="{C072A85A-37A9-466D-BC42-5BC9632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459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5">
            <a:extLst xmlns:a="http://schemas.openxmlformats.org/drawingml/2006/main">
              <a:ext uri="{FF2B5EF4-FFF2-40B4-BE49-F238E27FC236}">
                <a16:creationId xmlns:a16="http://schemas.microsoft.com/office/drawing/2014/main" id="{41623B47-48F0-4387-975D-45B42A59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342330D-23A2-4251-BD2A-DB3AFDC4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一条完整任务链覆盖输入、执行、验证和沉淀</a:t>
            </a:r>
          </a:p>
        </p:txBody>
      </p:sp>
      <p:cxnSp>
        <p:nvCxnSpPr>
          <p:cNvPr id="32" name="header-line-5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78A73ECE-837A-4D6F-81BC-74AAE44F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stage-arrow-0">
            <a:extLst xmlns:a="http://schemas.openxmlformats.org/drawingml/2006/main">
              <a:ext uri="{FF2B5EF4-FFF2-40B4-BE49-F238E27FC236}">
                <a16:creationId xmlns:a16="http://schemas.microsoft.com/office/drawing/2014/main" id="{15AE6ADD-8AB5-4692-ADAF-7F363BF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9431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65C6B8F6-F8EC-4091-900F-C062C9DC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规范化</a:t>
            </a:r>
          </a:p>
        </p:txBody>
      </p:sp>
      <p:sp>
        <p:nvSpPr>
          <p:cNvPr id="7" name="stage-arrow-1">
            <a:extLst xmlns:a="http://schemas.openxmlformats.org/drawingml/2006/main">
              <a:ext uri="{FF2B5EF4-FFF2-40B4-BE49-F238E27FC236}">
                <a16:creationId xmlns:a16="http://schemas.microsoft.com/office/drawing/2014/main" id="{F59EDAAC-F5B7-4BCC-AA66-76DB6D10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431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AEFE360E-AA47-4303-A5A3-D7307C8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画像</a:t>
            </a:r>
          </a:p>
        </p:txBody>
      </p:sp>
      <p:sp>
        <p:nvSpPr>
          <p:cNvPr id="9" name="stage-arrow-2">
            <a:extLst xmlns:a="http://schemas.openxmlformats.org/drawingml/2006/main">
              <a:ext uri="{FF2B5EF4-FFF2-40B4-BE49-F238E27FC236}">
                <a16:creationId xmlns:a16="http://schemas.microsoft.com/office/drawing/2014/main" id="{14BB03AF-4965-4A48-B752-006B5CB3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431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stage-3">
            <a:extLst xmlns:a="http://schemas.openxmlformats.org/drawingml/2006/main">
              <a:ext uri="{FF2B5EF4-FFF2-40B4-BE49-F238E27FC236}">
                <a16:creationId xmlns:a16="http://schemas.microsoft.com/office/drawing/2014/main" id="{A84BA5CB-FB3E-4FAE-8AB4-5299D575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岗位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规范化</a:t>
            </a:r>
          </a:p>
        </p:txBody>
      </p:sp>
      <p:sp>
        <p:nvSpPr>
          <p:cNvPr id="11" name="stage-arrow-3">
            <a:extLst xmlns:a="http://schemas.openxmlformats.org/drawingml/2006/main">
              <a:ext uri="{FF2B5EF4-FFF2-40B4-BE49-F238E27FC236}">
                <a16:creationId xmlns:a16="http://schemas.microsoft.com/office/drawing/2014/main" id="{BA905479-BA63-46B1-8B5D-8B9A30BA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431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stage-4">
            <a:extLst xmlns:a="http://schemas.openxmlformats.org/drawingml/2006/main">
              <a:ext uri="{FF2B5EF4-FFF2-40B4-BE49-F238E27FC236}">
                <a16:creationId xmlns:a16="http://schemas.microsoft.com/office/drawing/2014/main" id="{93DE6136-67C6-4E2B-9A6F-EADAE40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13" name="stage-arrow-4">
            <a:extLst xmlns:a="http://schemas.openxmlformats.org/drawingml/2006/main">
              <a:ext uri="{FF2B5EF4-FFF2-40B4-BE49-F238E27FC236}">
                <a16:creationId xmlns:a16="http://schemas.microsoft.com/office/drawing/2014/main" id="{7DE993D0-F710-40CF-B22C-C8DE5688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431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stage-5">
            <a:extLst xmlns:a="http://schemas.openxmlformats.org/drawingml/2006/main">
              <a:ext uri="{FF2B5EF4-FFF2-40B4-BE49-F238E27FC236}">
                <a16:creationId xmlns:a16="http://schemas.microsoft.com/office/drawing/2014/main" id="{CE5DC2AF-8DAF-411F-BF4C-1507FC12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求职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辅导</a:t>
            </a:r>
          </a:p>
        </p:txBody>
      </p:sp>
      <p:sp>
        <p:nvSpPr>
          <p:cNvPr id="15" name="stage-arrow-5">
            <a:extLst xmlns:a="http://schemas.openxmlformats.org/drawingml/2006/main">
              <a:ext uri="{FF2B5EF4-FFF2-40B4-BE49-F238E27FC236}">
                <a16:creationId xmlns:a16="http://schemas.microsoft.com/office/drawing/2014/main" id="{EA961F82-6B5D-4B7D-9DA3-0AC5C153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431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stage-6">
            <a:extLst xmlns:a="http://schemas.openxmlformats.org/drawingml/2006/main">
              <a:ext uri="{FF2B5EF4-FFF2-40B4-BE49-F238E27FC236}">
                <a16:creationId xmlns:a16="http://schemas.microsoft.com/office/drawing/2014/main" id="{8279AAD4-72E7-49AF-BE08-A63D3A36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  <a:p xmlns:a="http://schemas.openxmlformats.org/drawingml/2006/main">
            <a:pPr algn="ctr">
              <a:def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7" name="stage-arrow-6">
            <a:extLst xmlns:a="http://schemas.openxmlformats.org/drawingml/2006/main">
              <a:ext uri="{FF2B5EF4-FFF2-40B4-BE49-F238E27FC236}">
                <a16:creationId xmlns:a16="http://schemas.microsoft.com/office/drawing/2014/main" id="{CF2118B6-0550-414A-A5C6-A07C8F9C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431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54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stage-7">
            <a:extLst xmlns:a="http://schemas.openxmlformats.org/drawingml/2006/main">
              <a:ext uri="{FF2B5EF4-FFF2-40B4-BE49-F238E27FC236}">
                <a16:creationId xmlns:a16="http://schemas.microsoft.com/office/drawing/2014/main" id="{9BEB3E95-48D0-4787-AC68-05EC2134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57350"/>
            <a:ext cx="1104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  <a:p xmlns:a="http://schemas.openxmlformats.org/drawingml/2006/main">
            <a:pPr algn="ctr">
              <a:defRPr sz="13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19" name="state-label">
            <a:extLst xmlns:a="http://schemas.openxmlformats.org/drawingml/2006/main">
              <a:ext uri="{FF2B5EF4-FFF2-40B4-BE49-F238E27FC236}">
                <a16:creationId xmlns:a16="http://schemas.microsoft.com/office/drawing/2014/main" id="{BD80FFBB-A5C8-4554-A56F-B09BF572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主状态机</a:t>
            </a:r>
          </a:p>
        </p:txBody>
      </p:sp>
      <p:sp>
        <p:nvSpPr>
          <p:cNvPr id="20" name="state-code">
            <a:extLst xmlns:a="http://schemas.openxmlformats.org/drawingml/2006/main">
              <a:ext uri="{FF2B5EF4-FFF2-40B4-BE49-F238E27FC236}">
                <a16:creationId xmlns:a16="http://schemas.microsoft.com/office/drawing/2014/main" id="{900ADC89-B9DB-46EE-9E45-7475624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0858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7EEF7"/>
                </a:solidFill>
                <a:latin typeface="Microsoft YaHei"/>
                <a:ea typeface="Microsoft YaHei"/>
                <a:cs typeface="Microsoft YaHei"/>
              </a:rPr>
              <a:t>RECEIVED → CONSENTED → PARSED → PROFILE_GROUNDED → JOBS_NORMALIZED → MATCHED → COACHED → AUDITED → APPROVAL_PENDING → EXPORTED</a:t>
            </a:r>
          </a:p>
        </p:txBody>
      </p:sp>
      <p:sp>
        <p:nvSpPr>
          <p:cNvPr id="21" name="abnormal-label">
            <a:extLst xmlns:a="http://schemas.openxmlformats.org/drawingml/2006/main">
              <a:ext uri="{FF2B5EF4-FFF2-40B4-BE49-F238E27FC236}">
                <a16:creationId xmlns:a16="http://schemas.microsoft.com/office/drawing/2014/main" id="{BF4AA33A-C2C8-4A48-ABC2-42ED045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异常分支</a:t>
            </a:r>
          </a:p>
        </p:txBody>
      </p:sp>
      <p:sp>
        <p:nvSpPr>
          <p:cNvPr id="22" name="bad-0">
            <a:extLst xmlns:a="http://schemas.openxmlformats.org/drawingml/2006/main">
              <a:ext uri="{FF2B5EF4-FFF2-40B4-BE49-F238E27FC236}">
                <a16:creationId xmlns:a16="http://schemas.microsoft.com/office/drawing/2014/main" id="{ABFFD12D-4030-4868-8DB2-1098C5FD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1943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NEEDS_INPUT</a:t>
            </a:r>
          </a:p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缺材料</a:t>
            </a:r>
          </a:p>
        </p:txBody>
      </p:sp>
      <p:sp>
        <p:nvSpPr>
          <p:cNvPr id="23" name="bad-1">
            <a:extLst xmlns:a="http://schemas.openxmlformats.org/drawingml/2006/main">
              <a:ext uri="{FF2B5EF4-FFF2-40B4-BE49-F238E27FC236}">
                <a16:creationId xmlns:a16="http://schemas.microsoft.com/office/drawing/2014/main" id="{E828C125-E8C5-4E34-8516-C285143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24375"/>
            <a:ext cx="1943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RETRYING</a:t>
            </a:r>
          </a:p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工具失败</a:t>
            </a:r>
          </a:p>
        </p:txBody>
      </p:sp>
      <p:sp>
        <p:nvSpPr>
          <p:cNvPr id="24" name="bad-2">
            <a:extLst xmlns:a="http://schemas.openxmlformats.org/drawingml/2006/main">
              <a:ext uri="{FF2B5EF4-FFF2-40B4-BE49-F238E27FC236}">
                <a16:creationId xmlns:a16="http://schemas.microsoft.com/office/drawing/2014/main" id="{36407435-9B4C-4D7C-B561-2FB53000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24375"/>
            <a:ext cx="1943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7B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  <a:p xmlns:a="http://schemas.openxmlformats.org/drawingml/2006/main">
            <a:pPr algn="ctr">
              <a:def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无证据事实</a:t>
            </a:r>
          </a:p>
        </p:txBody>
      </p:sp>
      <p:sp>
        <p:nvSpPr>
          <p:cNvPr id="25" name="bad-3">
            <a:extLst xmlns:a="http://schemas.openxmlformats.org/drawingml/2006/main">
              <a:ext uri="{FF2B5EF4-FFF2-40B4-BE49-F238E27FC236}">
                <a16:creationId xmlns:a16="http://schemas.microsoft.com/office/drawing/2014/main" id="{FB4E0A70-EDA0-43BD-942C-42D4DB3D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24375"/>
            <a:ext cx="1943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7B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ESCALATED</a:t>
            </a:r>
          </a:p>
          <a:p xmlns:a="http://schemas.openxmlformats.org/drawingml/2006/main">
            <a:pPr algn="ctr">
              <a:def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风险条件</a:t>
            </a:r>
          </a:p>
        </p:txBody>
      </p:sp>
      <p:sp>
        <p:nvSpPr>
          <p:cNvPr id="26" name="bad-4">
            <a:extLst xmlns:a="http://schemas.openxmlformats.org/drawingml/2006/main">
              <a:ext uri="{FF2B5EF4-FFF2-40B4-BE49-F238E27FC236}">
                <a16:creationId xmlns:a16="http://schemas.microsoft.com/office/drawing/2014/main" id="{AC2C8691-61D8-4738-85BE-DD65AE63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24375"/>
            <a:ext cx="1943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DEGRADED</a:t>
            </a:r>
          </a:p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服务降级</a:t>
            </a:r>
          </a:p>
        </p:txBody>
      </p:sp>
      <p:sp>
        <p:nvSpPr>
          <p:cNvPr id="27" name="human-takeover">
            <a:extLst xmlns:a="http://schemas.openxmlformats.org/drawingml/2006/main">
              <a:ext uri="{FF2B5EF4-FFF2-40B4-BE49-F238E27FC236}">
                <a16:creationId xmlns:a16="http://schemas.microsoft.com/office/drawing/2014/main" id="{03C85FD2-745B-4EEF-9681-C0D02EC8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任意异常均可转人工；导出永远需要审批。</a:t>
            </a:r>
          </a:p>
        </p:txBody>
      </p:sp>
      <p:sp>
        <p:nvSpPr>
          <p:cNvPr id="28" name="footer-5">
            <a:extLst xmlns:a="http://schemas.openxmlformats.org/drawingml/2006/main">
              <a:ext uri="{FF2B5EF4-FFF2-40B4-BE49-F238E27FC236}">
                <a16:creationId xmlns:a16="http://schemas.microsoft.com/office/drawing/2014/main" id="{249ACB59-1CF4-4770-987E-531A0275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9" name="page-5">
            <a:extLst xmlns:a="http://schemas.openxmlformats.org/drawingml/2006/main">
              <a:ext uri="{FF2B5EF4-FFF2-40B4-BE49-F238E27FC236}">
                <a16:creationId xmlns:a16="http://schemas.microsoft.com/office/drawing/2014/main" id="{85439CC9-667D-48BA-9E49-762FB73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8367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F4656730-E34E-4966-956D-9A213993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3874C4B-3201-4A83-9E8D-5E9754F4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AgentTeams 让六类 Agent 透明协作</a:t>
            </a:r>
          </a:p>
        </p:txBody>
      </p:sp>
      <p:cxnSp>
        <p:nvCxnSpPr>
          <p:cNvPr id="30" name="header-line-6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human-panel">
            <a:extLst xmlns:a="http://schemas.openxmlformats.org/drawingml/2006/main">
              <a:ext uri="{FF2B5EF4-FFF2-40B4-BE49-F238E27FC236}">
                <a16:creationId xmlns:a16="http://schemas.microsoft.com/office/drawing/2014/main" id="{22D013D0-7179-495A-A4F2-76571B1F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1619250" cy="2571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human-title">
            <a:extLst xmlns:a="http://schemas.openxmlformats.org/drawingml/2006/main">
              <a:ext uri="{FF2B5EF4-FFF2-40B4-BE49-F238E27FC236}">
                <a16:creationId xmlns:a16="http://schemas.microsoft.com/office/drawing/2014/main" id="{021F9B63-8C4E-47EC-A03D-195835B1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人类参与者</a:t>
            </a:r>
          </a:p>
        </p:txBody>
      </p:sp>
      <p:sp>
        <p:nvSpPr>
          <p:cNvPr id="6" name="human-body">
            <a:extLst xmlns:a="http://schemas.openxmlformats.org/drawingml/2006/main">
              <a:ext uri="{FF2B5EF4-FFF2-40B4-BE49-F238E27FC236}">
                <a16:creationId xmlns:a16="http://schemas.microsoft.com/office/drawing/2014/main" id="{EAA7873B-E245-48DF-AF7F-7B5ECDD4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就业老师</a:t>
            </a:r>
          </a:p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评审者</a:t>
            </a:r>
          </a:p>
        </p:txBody>
      </p:sp>
      <p:sp>
        <p:nvSpPr>
          <p:cNvPr id="7" name="human-approve">
            <a:extLst xmlns:a="http://schemas.openxmlformats.org/drawingml/2006/main">
              <a:ext uri="{FF2B5EF4-FFF2-40B4-BE49-F238E27FC236}">
                <a16:creationId xmlns:a16="http://schemas.microsoft.com/office/drawing/2014/main" id="{4D01F286-7038-4087-B366-3F60FE24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76675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观察 · 纠正 · 批准</a:t>
            </a:r>
          </a:p>
        </p:txBody>
      </p:sp>
      <p:sp>
        <p:nvSpPr>
          <p:cNvPr id="8" name="h2m-arrow">
            <a:extLst xmlns:a="http://schemas.openxmlformats.org/drawingml/2006/main">
              <a:ext uri="{FF2B5EF4-FFF2-40B4-BE49-F238E27FC236}">
                <a16:creationId xmlns:a16="http://schemas.microsoft.com/office/drawing/2014/main" id="{09C899F1-E660-41BE-96F6-2F8D5CD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622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636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9" name="manager-panel">
            <a:extLst xmlns:a="http://schemas.openxmlformats.org/drawingml/2006/main">
              <a:ext uri="{FF2B5EF4-FFF2-40B4-BE49-F238E27FC236}">
                <a16:creationId xmlns:a16="http://schemas.microsoft.com/office/drawing/2014/main" id="{17C096E9-A6CF-4AB5-844E-B782ACF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781175"/>
            <a:ext cx="2476500" cy="2724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B3B75"/>
          </a:solidFill>
          <a:ln xmlns:a="http://schemas.openxmlformats.org/drawingml/2006/main" w="9525">
            <a:solidFill>
              <a:srgbClr val="0B3B75"/>
            </a:solidFill>
            <a:prstDash val="solid"/>
          </a:ln>
        </p:spPr>
      </p:sp>
      <p:sp>
        <p:nvSpPr>
          <p:cNvPr id="10" name="manager-label">
            <a:extLst xmlns:a="http://schemas.openxmlformats.org/drawingml/2006/main">
              <a:ext uri="{FF2B5EF4-FFF2-40B4-BE49-F238E27FC236}">
                <a16:creationId xmlns:a16="http://schemas.microsoft.com/office/drawing/2014/main" id="{C33FFB17-6A28-4DB3-AAB3-6C6B66C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669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BD4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BD4F3"/>
                </a:solidFill>
                <a:latin typeface="Microsoft YaHei"/>
                <a:ea typeface="Microsoft YaHei"/>
                <a:cs typeface="Microsoft YaHei"/>
              </a:rPr>
              <a:t>MANAGER</a:t>
            </a:r>
          </a:p>
        </p:txBody>
      </p:sp>
      <p:sp>
        <p:nvSpPr>
          <p:cNvPr id="11" name="manager-title">
            <a:extLst xmlns:a="http://schemas.openxmlformats.org/drawingml/2006/main">
              <a:ext uri="{FF2B5EF4-FFF2-40B4-BE49-F238E27FC236}">
                <a16:creationId xmlns:a16="http://schemas.microsoft.com/office/drawing/2014/main" id="{26227E6E-4B09-4A41-8152-5142957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669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516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Career Navigator</a:t>
            </a:r>
          </a:p>
        </p:txBody>
      </p:sp>
      <p:sp>
        <p:nvSpPr>
          <p:cNvPr id="12" name="manager-body">
            <a:extLst xmlns:a="http://schemas.openxmlformats.org/drawingml/2006/main">
              <a:ext uri="{FF2B5EF4-FFF2-40B4-BE49-F238E27FC236}">
                <a16:creationId xmlns:a16="http://schemas.microsoft.com/office/drawing/2014/main" id="{F5E65DC9-A6F2-4E2A-BB81-28813E3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71825"/>
            <a:ext cx="1619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rPr>
              <a:t>目标拆解</a:t>
            </a:r>
          </a:p>
          <a:p xmlns:a="http://schemas.openxmlformats.org/drawingml/2006/main">
            <a:pPr algn="ctr">
              <a:def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rPr>
              <a:t>状态传递</a:t>
            </a:r>
          </a:p>
          <a:p xmlns:a="http://schemas.openxmlformats.org/drawingml/2006/main">
            <a:pPr algn="ctr">
              <a:def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rPr>
              <a:t>失败重试</a:t>
            </a:r>
          </a:p>
          <a:p xmlns:a="http://schemas.openxmlformats.org/drawingml/2006/main">
            <a:pPr algn="ctr">
              <a:def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1ECFA"/>
                </a:solidFill>
                <a:latin typeface="Microsoft YaHei"/>
                <a:ea typeface="Microsoft YaHei"/>
                <a:cs typeface="Microsoft YaHei"/>
              </a:rPr>
              <a:t>结果汇总</a:t>
            </a:r>
          </a:p>
        </p:txBody>
      </p:sp>
      <p:sp>
        <p:nvSpPr>
          <p:cNvPr id="13" name="m2w-arrow">
            <a:extLst xmlns:a="http://schemas.openxmlformats.org/drawingml/2006/main">
              <a:ext uri="{FF2B5EF4-FFF2-40B4-BE49-F238E27FC236}">
                <a16:creationId xmlns:a16="http://schemas.microsoft.com/office/drawing/2014/main" id="{C5273C71-C9E9-454E-879A-BC86DDE3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908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worker-0">
            <a:extLst xmlns:a="http://schemas.openxmlformats.org/drawingml/2006/main">
              <a:ext uri="{FF2B5EF4-FFF2-40B4-BE49-F238E27FC236}">
                <a16:creationId xmlns:a16="http://schemas.microsoft.com/office/drawing/2014/main" id="{0570E524-F733-4236-BABD-88DA8B4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85925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Profile Agent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画像 + 证据</a:t>
            </a:r>
          </a:p>
        </p:txBody>
      </p:sp>
      <p:sp>
        <p:nvSpPr>
          <p:cNvPr id="15" name="worker-1">
            <a:extLst xmlns:a="http://schemas.openxmlformats.org/drawingml/2006/main">
              <a:ext uri="{FF2B5EF4-FFF2-40B4-BE49-F238E27FC236}">
                <a16:creationId xmlns:a16="http://schemas.microsoft.com/office/drawing/2014/main" id="{D2C30A61-6C9B-4838-8B9C-C229627D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85925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Job Agent</a:t>
            </a:r>
          </a:p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JD 分类 + 风险</a:t>
            </a:r>
          </a:p>
        </p:txBody>
      </p:sp>
      <p:sp>
        <p:nvSpPr>
          <p:cNvPr id="16" name="worker-2">
            <a:extLst xmlns:a="http://schemas.openxmlformats.org/drawingml/2006/main">
              <a:ext uri="{FF2B5EF4-FFF2-40B4-BE49-F238E27FC236}">
                <a16:creationId xmlns:a16="http://schemas.microsoft.com/office/drawing/2014/main" id="{AABA2766-339C-4C1D-A7C3-DCBB9E42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85925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0">
            <a:solidFill>
              <a:srgbClr val="F2EC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rPr>
              <a:t>Match Agent</a:t>
            </a:r>
          </a:p>
          <a:p xmlns:a="http://schemas.openxmlformats.org/drawingml/2006/main">
            <a:pPr algn="ctr">
              <a:defRPr sz="13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rPr>
              <a:t>逐项匹配</a:t>
            </a:r>
          </a:p>
        </p:txBody>
      </p:sp>
      <p:sp>
        <p:nvSpPr>
          <p:cNvPr id="17" name="worker-3">
            <a:extLst xmlns:a="http://schemas.openxmlformats.org/drawingml/2006/main">
              <a:ext uri="{FF2B5EF4-FFF2-40B4-BE49-F238E27FC236}">
                <a16:creationId xmlns:a16="http://schemas.microsoft.com/office/drawing/2014/main" id="{5466891B-2F07-4576-BAFA-0D798C67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0">
            <a:solidFill>
              <a:srgbClr val="FFF5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rPr>
              <a:t>Coach Agent</a:t>
            </a:r>
          </a:p>
          <a:p xmlns:a="http://schemas.openxmlformats.org/drawingml/2006/main">
            <a:pPr algn="ctr">
              <a:defRPr sz="1350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rPr>
              <a:t>辅导 + 面试</a:t>
            </a:r>
          </a:p>
        </p:txBody>
      </p:sp>
      <p:sp>
        <p:nvSpPr>
          <p:cNvPr id="18" name="worker-4">
            <a:extLst xmlns:a="http://schemas.openxmlformats.org/drawingml/2006/main">
              <a:ext uri="{FF2B5EF4-FFF2-40B4-BE49-F238E27FC236}">
                <a16:creationId xmlns:a16="http://schemas.microsoft.com/office/drawing/2014/main" id="{09526F5A-4095-4983-9E4A-E6792F7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Audit Agent</a:t>
            </a:r>
          </a:p>
          <a:p xmlns:a="http://schemas.openxmlformats.org/drawingml/2006/main">
            <a:pPr algn="ctr">
              <a:def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PASS / BLOCK</a:t>
            </a:r>
          </a:p>
        </p:txBody>
      </p:sp>
      <p:sp>
        <p:nvSpPr>
          <p:cNvPr id="19" name="worker-note">
            <a:extLst xmlns:a="http://schemas.openxmlformats.org/drawingml/2006/main">
              <a:ext uri="{FF2B5EF4-FFF2-40B4-BE49-F238E27FC236}">
                <a16:creationId xmlns:a16="http://schemas.microsoft.com/office/drawing/2014/main" id="{0A36D456-CEFE-4BDA-ADB1-2B5AEEE6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62475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 Worker 只负责单一能力，并提交结构化输出</a:t>
            </a:r>
          </a:p>
        </p:txBody>
      </p:sp>
      <p:sp>
        <p:nvSpPr>
          <p:cNvPr id="20" name="infra-strip">
            <a:extLst xmlns:a="http://schemas.openxmlformats.org/drawingml/2006/main">
              <a:ext uri="{FF2B5EF4-FFF2-40B4-BE49-F238E27FC236}">
                <a16:creationId xmlns:a16="http://schemas.microsoft.com/office/drawing/2014/main" id="{D305935F-5C71-4F0A-B6B5-3D2E0E92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1076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infra-0">
            <a:extLst xmlns:a="http://schemas.openxmlformats.org/drawingml/2006/main">
              <a:ext uri="{FF2B5EF4-FFF2-40B4-BE49-F238E27FC236}">
                <a16:creationId xmlns:a16="http://schemas.microsoft.com/office/drawing/2014/main" id="{2F331177-1A5D-4167-9F2A-6E2B8090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86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22" name="infra-1">
            <a:extLst xmlns:a="http://schemas.openxmlformats.org/drawingml/2006/main">
              <a:ext uri="{FF2B5EF4-FFF2-40B4-BE49-F238E27FC236}">
                <a16:creationId xmlns:a16="http://schemas.microsoft.com/office/drawing/2014/main" id="{B2DB97D9-8256-4337-AF59-BB06104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86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MCP / 工具</a:t>
            </a:r>
          </a:p>
        </p:txBody>
      </p:sp>
      <p:sp>
        <p:nvSpPr>
          <p:cNvPr id="23" name="infra-2">
            <a:extLst xmlns:a="http://schemas.openxmlformats.org/drawingml/2006/main">
              <a:ext uri="{FF2B5EF4-FFF2-40B4-BE49-F238E27FC236}">
                <a16:creationId xmlns:a16="http://schemas.microsoft.com/office/drawing/2014/main" id="{6A2A3BDD-002A-4D83-A807-8CFC955B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86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共享文件</a:t>
            </a:r>
          </a:p>
        </p:txBody>
      </p:sp>
      <p:sp>
        <p:nvSpPr>
          <p:cNvPr id="24" name="infra-3">
            <a:extLst xmlns:a="http://schemas.openxmlformats.org/drawingml/2006/main">
              <a:ext uri="{FF2B5EF4-FFF2-40B4-BE49-F238E27FC236}">
                <a16:creationId xmlns:a16="http://schemas.microsoft.com/office/drawing/2014/main" id="{F8EA2667-CB0A-4B93-91B3-8F7EABD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86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Trace / 日志</a:t>
            </a:r>
          </a:p>
        </p:txBody>
      </p:sp>
      <p:sp>
        <p:nvSpPr>
          <p:cNvPr id="25" name="infra-4">
            <a:extLst xmlns:a="http://schemas.openxmlformats.org/drawingml/2006/main">
              <a:ext uri="{FF2B5EF4-FFF2-40B4-BE49-F238E27FC236}">
                <a16:creationId xmlns:a16="http://schemas.microsoft.com/office/drawing/2014/main" id="{FF0AD12E-C9A3-4EE9-BCD5-27C78A9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486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Human-in-the-loop</a:t>
            </a:r>
          </a:p>
        </p:txBody>
      </p: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27FDDE0D-F4D0-4D21-8D89-5C2416A0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7" name="page-6">
            <a:extLst xmlns:a="http://schemas.openxmlformats.org/drawingml/2006/main">
              <a:ext uri="{FF2B5EF4-FFF2-40B4-BE49-F238E27FC236}">
                <a16:creationId xmlns:a16="http://schemas.microsoft.com/office/drawing/2014/main" id="{BBC60679-3B5B-483A-AD25-8BC5307D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4771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7">
            <a:extLst xmlns:a="http://schemas.openxmlformats.org/drawingml/2006/main">
              <a:ext uri="{FF2B5EF4-FFF2-40B4-BE49-F238E27FC236}">
                <a16:creationId xmlns:a16="http://schemas.microsoft.com/office/drawing/2014/main" id="{FF1297FE-A106-4686-BB72-FACDD6FC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DC06C22-7A91-4997-A11E-706E021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每个 Agent 都有明确的自主边界</a:t>
            </a:r>
          </a:p>
        </p:txBody>
      </p:sp>
      <p:cxnSp>
        <p:nvCxnSpPr>
          <p:cNvPr id="27" name="header-line-7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th-0">
            <a:extLst xmlns:a="http://schemas.openxmlformats.org/drawingml/2006/main">
              <a:ext uri="{FF2B5EF4-FFF2-40B4-BE49-F238E27FC236}">
                <a16:creationId xmlns:a16="http://schemas.microsoft.com/office/drawing/2014/main" id="{DFB3BB8A-BDA4-4F81-96D8-A21336EA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5" name="th-1">
            <a:extLst xmlns:a="http://schemas.openxmlformats.org/drawingml/2006/main">
              <a:ext uri="{FF2B5EF4-FFF2-40B4-BE49-F238E27FC236}">
                <a16:creationId xmlns:a16="http://schemas.microsoft.com/office/drawing/2014/main" id="{72A04638-C607-4632-B3F3-C920412E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6210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主要输出</a:t>
            </a:r>
          </a:p>
        </p:txBody>
      </p:sp>
      <p:sp>
        <p:nvSpPr>
          <p:cNvPr id="6" name="th-2">
            <a:extLst xmlns:a="http://schemas.openxmlformats.org/drawingml/2006/main">
              <a:ext uri="{FF2B5EF4-FFF2-40B4-BE49-F238E27FC236}">
                <a16:creationId xmlns:a16="http://schemas.microsoft.com/office/drawing/2014/main" id="{206A2D61-83BC-43C8-978E-82311CF4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62100"/>
            <a:ext cx="528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7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不可越过的边界</a:t>
            </a:r>
          </a:p>
        </p:txBody>
      </p:sp>
      <p:sp>
        <p:nvSpPr>
          <p:cNvPr id="7" name="td-0-0">
            <a:extLst xmlns:a="http://schemas.openxmlformats.org/drawingml/2006/main">
              <a:ext uri="{FF2B5EF4-FFF2-40B4-BE49-F238E27FC236}">
                <a16:creationId xmlns:a16="http://schemas.microsoft.com/office/drawing/2014/main" id="{FC1B841B-049C-4836-88F2-7D15A3E2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8" name="td-0-1">
            <a:extLst xmlns:a="http://schemas.openxmlformats.org/drawingml/2006/main">
              <a:ext uri="{FF2B5EF4-FFF2-40B4-BE49-F238E27FC236}">
                <a16:creationId xmlns:a16="http://schemas.microsoft.com/office/drawing/2014/main" id="{1E18A52C-36B8-4CF9-8AE8-CF98C48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3286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学生画像 + 证据</a:t>
            </a:r>
          </a:p>
        </p:txBody>
      </p:sp>
      <p:sp>
        <p:nvSpPr>
          <p:cNvPr id="9" name="td-0-2">
            <a:extLst xmlns:a="http://schemas.openxmlformats.org/drawingml/2006/main">
              <a:ext uri="{FF2B5EF4-FFF2-40B4-BE49-F238E27FC236}">
                <a16:creationId xmlns:a16="http://schemas.microsoft.com/office/drawing/2014/main" id="{83A8B1B6-98BD-486A-B04E-47F5402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76450"/>
            <a:ext cx="5286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不推断无证据能力</a:t>
            </a:r>
          </a:p>
        </p:txBody>
      </p:sp>
      <p:sp>
        <p:nvSpPr>
          <p:cNvPr id="10" name="td-1-0">
            <a:extLst xmlns:a="http://schemas.openxmlformats.org/drawingml/2006/main">
              <a:ext uri="{FF2B5EF4-FFF2-40B4-BE49-F238E27FC236}">
                <a16:creationId xmlns:a16="http://schemas.microsoft.com/office/drawing/2014/main" id="{60A96432-421F-4675-8161-0152CD93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Job</a:t>
            </a:r>
          </a:p>
        </p:txBody>
      </p:sp>
      <p:sp>
        <p:nvSpPr>
          <p:cNvPr id="11" name="td-1-1">
            <a:extLst xmlns:a="http://schemas.openxmlformats.org/drawingml/2006/main">
              <a:ext uri="{FF2B5EF4-FFF2-40B4-BE49-F238E27FC236}">
                <a16:creationId xmlns:a16="http://schemas.microsoft.com/office/drawing/2014/main" id="{ED7A8F30-DD76-4B07-A763-49D902E8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3286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规范化要求 + 风险</a:t>
            </a:r>
          </a:p>
        </p:txBody>
      </p:sp>
      <p:sp>
        <p:nvSpPr>
          <p:cNvPr id="12" name="td-1-2">
            <a:extLst xmlns:a="http://schemas.openxmlformats.org/drawingml/2006/main">
              <a:ext uri="{FF2B5EF4-FFF2-40B4-BE49-F238E27FC236}">
                <a16:creationId xmlns:a16="http://schemas.microsoft.com/office/drawing/2014/main" id="{097EA444-04E8-4032-9015-FABCD05C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81300"/>
            <a:ext cx="5286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风险条件不计分</a:t>
            </a:r>
          </a:p>
        </p:txBody>
      </p:sp>
      <p:sp>
        <p:nvSpPr>
          <p:cNvPr id="13" name="td-2-0">
            <a:extLst xmlns:a="http://schemas.openxmlformats.org/drawingml/2006/main">
              <a:ext uri="{FF2B5EF4-FFF2-40B4-BE49-F238E27FC236}">
                <a16:creationId xmlns:a16="http://schemas.microsoft.com/office/drawing/2014/main" id="{EDCA6FB8-C457-4957-A6D8-DD6F45C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Match</a:t>
            </a:r>
          </a:p>
        </p:txBody>
      </p:sp>
      <p:sp>
        <p:nvSpPr>
          <p:cNvPr id="14" name="td-2-1">
            <a:extLst xmlns:a="http://schemas.openxmlformats.org/drawingml/2006/main">
              <a:ext uri="{FF2B5EF4-FFF2-40B4-BE49-F238E27FC236}">
                <a16:creationId xmlns:a16="http://schemas.microsoft.com/office/drawing/2014/main" id="{D9CC237C-28B0-4D2D-8DBF-724A10C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86150"/>
            <a:ext cx="3286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逐项状态 + 置信度</a:t>
            </a:r>
          </a:p>
        </p:txBody>
      </p:sp>
      <p:sp>
        <p:nvSpPr>
          <p:cNvPr id="15" name="td-2-2">
            <a:extLst xmlns:a="http://schemas.openxmlformats.org/drawingml/2006/main">
              <a:ext uri="{FF2B5EF4-FFF2-40B4-BE49-F238E27FC236}">
                <a16:creationId xmlns:a16="http://schemas.microsoft.com/office/drawing/2014/main" id="{67B446A1-489F-4C93-9859-E76EAB2C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86150"/>
            <a:ext cx="5286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不作录用决定</a:t>
            </a:r>
          </a:p>
        </p:txBody>
      </p:sp>
      <p:sp>
        <p:nvSpPr>
          <p:cNvPr id="16" name="td-3-0">
            <a:extLst xmlns:a="http://schemas.openxmlformats.org/drawingml/2006/main">
              <a:ext uri="{FF2B5EF4-FFF2-40B4-BE49-F238E27FC236}">
                <a16:creationId xmlns:a16="http://schemas.microsoft.com/office/drawing/2014/main" id="{096A55EF-09B9-4300-AF8C-F253089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Coach</a:t>
            </a:r>
          </a:p>
        </p:txBody>
      </p:sp>
      <p:sp>
        <p:nvSpPr>
          <p:cNvPr id="17" name="td-3-1">
            <a:extLst xmlns:a="http://schemas.openxmlformats.org/drawingml/2006/main">
              <a:ext uri="{FF2B5EF4-FFF2-40B4-BE49-F238E27FC236}">
                <a16:creationId xmlns:a16="http://schemas.microsoft.com/office/drawing/2014/main" id="{FAEDDA45-77F7-4070-A961-F3D16546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91000"/>
            <a:ext cx="3286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建议 + 模拟面试</a:t>
            </a:r>
          </a:p>
        </p:txBody>
      </p:sp>
      <p:sp>
        <p:nvSpPr>
          <p:cNvPr id="18" name="td-3-2">
            <a:extLst xmlns:a="http://schemas.openxmlformats.org/drawingml/2006/main">
              <a:ext uri="{FF2B5EF4-FFF2-40B4-BE49-F238E27FC236}">
                <a16:creationId xmlns:a16="http://schemas.microsoft.com/office/drawing/2014/main" id="{B86AD12C-EAFC-4066-9CCA-379C2BB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91000"/>
            <a:ext cx="5286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不虚构经历</a:t>
            </a:r>
          </a:p>
        </p:txBody>
      </p:sp>
      <p:sp>
        <p:nvSpPr>
          <p:cNvPr id="19" name="td-4-0">
            <a:extLst xmlns:a="http://schemas.openxmlformats.org/drawingml/2006/main">
              <a:ext uri="{FF2B5EF4-FFF2-40B4-BE49-F238E27FC236}">
                <a16:creationId xmlns:a16="http://schemas.microsoft.com/office/drawing/2014/main" id="{46794C99-EE42-41E6-9E40-ADCBB25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20" name="td-4-1">
            <a:extLst xmlns:a="http://schemas.openxmlformats.org/drawingml/2006/main">
              <a:ext uri="{FF2B5EF4-FFF2-40B4-BE49-F238E27FC236}">
                <a16:creationId xmlns:a16="http://schemas.microsoft.com/office/drawing/2014/main" id="{0874702F-F100-48BB-895A-6E1C1644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95850"/>
            <a:ext cx="3286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PASS / BLOCK / ESCALATE</a:t>
            </a:r>
          </a:p>
        </p:txBody>
      </p:sp>
      <p:sp>
        <p:nvSpPr>
          <p:cNvPr id="21" name="td-4-2">
            <a:extLst xmlns:a="http://schemas.openxmlformats.org/drawingml/2006/main">
              <a:ext uri="{FF2B5EF4-FFF2-40B4-BE49-F238E27FC236}">
                <a16:creationId xmlns:a16="http://schemas.microsoft.com/office/drawing/2014/main" id="{25AC5B88-E417-4F83-8109-3CEB0DF3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95850"/>
            <a:ext cx="5286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42875" tIns="7620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不自行创造证据</a:t>
            </a:r>
          </a:p>
        </p:txBody>
      </p:sp>
      <p:sp>
        <p:nvSpPr>
          <p:cNvPr id="22" name="boundary-pill">
            <a:extLst xmlns:a="http://schemas.openxmlformats.org/drawingml/2006/main">
              <a:ext uri="{FF2B5EF4-FFF2-40B4-BE49-F238E27FC236}">
                <a16:creationId xmlns:a16="http://schemas.microsoft.com/office/drawing/2014/main" id="{4E6FC0BD-57E2-4414-BE32-4B0F0B4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762625"/>
            <a:ext cx="4476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Manager 可重试流程，但不能覆盖 Worker 的安全拒绝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52FBA454-1874-48BF-A5D1-A9B0AC72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4" name="page-7">
            <a:extLst xmlns:a="http://schemas.openxmlformats.org/drawingml/2006/main">
              <a:ext uri="{FF2B5EF4-FFF2-40B4-BE49-F238E27FC236}">
                <a16:creationId xmlns:a16="http://schemas.microsoft.com/office/drawing/2014/main" id="{5B34AA78-0D03-4033-B347-7C7321A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7045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v-panel-0">
            <a:extLst xmlns:a="http://schemas.openxmlformats.org/drawingml/2006/main">
              <a:ext uri="{FF2B5EF4-FFF2-40B4-BE49-F238E27FC236}">
                <a16:creationId xmlns:a16="http://schemas.microsoft.com/office/drawing/2014/main" id="{32242803-FF36-4721-A544-15B067C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3238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2" name="ev-title-0">
            <a:extLst xmlns:a="http://schemas.openxmlformats.org/drawingml/2006/main">
              <a:ext uri="{FF2B5EF4-FFF2-40B4-BE49-F238E27FC236}">
                <a16:creationId xmlns:a16="http://schemas.microsoft.com/office/drawing/2014/main" id="{9F1B8164-87C6-4FCB-BBA9-E0823106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01 原始文件</a:t>
            </a:r>
          </a:p>
        </p:txBody>
      </p:sp>
      <p:sp>
        <p:nvSpPr>
          <p:cNvPr id="3" name="ev-body-0">
            <a:extLst xmlns:a="http://schemas.openxmlformats.org/drawingml/2006/main">
              <a:ext uri="{FF2B5EF4-FFF2-40B4-BE49-F238E27FC236}">
                <a16:creationId xmlns:a16="http://schemas.microsoft.com/office/drawing/2014/main" id="{23F2D4BC-0C6F-443C-8589-8EBD8A87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只读保留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SHA-256 哈希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访问授权</a:t>
            </a:r>
          </a:p>
        </p:txBody>
      </p:sp>
      <p:sp>
        <p:nvSpPr>
          <p:cNvPr id="4" name="ev-arrow-0">
            <a:extLst xmlns:a="http://schemas.openxmlformats.org/drawingml/2006/main">
              <a:ext uri="{FF2B5EF4-FFF2-40B4-BE49-F238E27FC236}">
                <a16:creationId xmlns:a16="http://schemas.microsoft.com/office/drawing/2014/main" id="{6B11C15C-1BDC-4E7A-BDAB-EB9F4600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00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63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" name="ev-panel-1">
            <a:extLst xmlns:a="http://schemas.openxmlformats.org/drawingml/2006/main">
              <a:ext uri="{FF2B5EF4-FFF2-40B4-BE49-F238E27FC236}">
                <a16:creationId xmlns:a16="http://schemas.microsoft.com/office/drawing/2014/main" id="{ABEE0AC2-CFE8-4D28-8A3B-C3570552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3238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ev-title-1">
            <a:extLst xmlns:a="http://schemas.openxmlformats.org/drawingml/2006/main">
              <a:ext uri="{FF2B5EF4-FFF2-40B4-BE49-F238E27FC236}">
                <a16:creationId xmlns:a16="http://schemas.microsoft.com/office/drawing/2014/main" id="{03252118-BA7F-4521-A805-D862CEE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02 行号化 Markdown</a:t>
            </a:r>
          </a:p>
        </p:txBody>
      </p:sp>
      <p:sp>
        <p:nvSpPr>
          <p:cNvPr id="7" name="ev-body-1">
            <a:extLst xmlns:a="http://schemas.openxmlformats.org/drawingml/2006/main">
              <a:ext uri="{FF2B5EF4-FFF2-40B4-BE49-F238E27FC236}">
                <a16:creationId xmlns:a16="http://schemas.microsoft.com/office/drawing/2014/main" id="{31094793-78E3-447E-9F21-41D6FD73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学生与 AI 共览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段落 / 区块锚点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可人工纠正</a:t>
            </a:r>
          </a:p>
        </p:txBody>
      </p:sp>
      <p:sp>
        <p:nvSpPr>
          <p:cNvPr id="8" name="ev-arrow-1">
            <a:extLst xmlns:a="http://schemas.openxmlformats.org/drawingml/2006/main">
              <a:ext uri="{FF2B5EF4-FFF2-40B4-BE49-F238E27FC236}">
                <a16:creationId xmlns:a16="http://schemas.microsoft.com/office/drawing/2014/main" id="{FA44BD2A-1346-44F8-B667-218B2728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00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63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ev-panel-2">
            <a:extLst xmlns:a="http://schemas.openxmlformats.org/drawingml/2006/main">
              <a:ext uri="{FF2B5EF4-FFF2-40B4-BE49-F238E27FC236}">
                <a16:creationId xmlns:a16="http://schemas.microsoft.com/office/drawing/2014/main" id="{E33D1D57-2223-4B89-987C-251762B4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238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F2ECFF"/>
            </a:solidFill>
            <a:prstDash val="solid"/>
          </a:ln>
        </p:spPr>
      </p:sp>
      <p:sp>
        <p:nvSpPr>
          <p:cNvPr id="10" name="ev-title-2">
            <a:extLst xmlns:a="http://schemas.openxmlformats.org/drawingml/2006/main">
              <a:ext uri="{FF2B5EF4-FFF2-40B4-BE49-F238E27FC236}">
                <a16:creationId xmlns:a16="http://schemas.microsoft.com/office/drawing/2014/main" id="{258C46B7-FBC9-4443-B5DA-77AC9B96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8117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rPr>
              <a:t>03 证据 JSON</a:t>
            </a:r>
          </a:p>
        </p:txBody>
      </p:sp>
      <p:sp>
        <p:nvSpPr>
          <p:cNvPr id="11" name="ev-body-2">
            <a:extLst xmlns:a="http://schemas.openxmlformats.org/drawingml/2006/main">
              <a:ext uri="{FF2B5EF4-FFF2-40B4-BE49-F238E27FC236}">
                <a16:creationId xmlns:a16="http://schemas.microsoft.com/office/drawing/2014/main" id="{CD716CAC-0622-4BD8-AFF0-7C39EDB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claim + evidence_id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source_quote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confidence + confirmed</a:t>
            </a:r>
          </a:p>
        </p:txBody>
      </p:sp>
      <p:sp>
        <p:nvSpPr>
          <p:cNvPr id="12" name="ev-example-label">
            <a:extLst xmlns:a="http://schemas.openxmlformats.org/drawingml/2006/main">
              <a:ext uri="{FF2B5EF4-FFF2-40B4-BE49-F238E27FC236}">
                <a16:creationId xmlns:a16="http://schemas.microsoft.com/office/drawing/2014/main" id="{6471B457-DBC7-496B-AD11-DC549131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证据对象（合成示例）</a:t>
            </a:r>
          </a:p>
        </p:txBody>
      </p:sp>
      <p:sp>
        <p:nvSpPr>
          <p:cNvPr id="13" name="ev-code">
            <a:extLst xmlns:a="http://schemas.openxmlformats.org/drawingml/2006/main">
              <a:ext uri="{FF2B5EF4-FFF2-40B4-BE49-F238E27FC236}">
                <a16:creationId xmlns:a16="http://schemas.microsoft.com/office/drawing/2014/main" id="{6B3E25DA-AE30-475E-AF8E-38C4B31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7096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  <p:txBody>
          <a:bodyPr xmlns:a="http://schemas.openxmlformats.org/drawingml/2006/main" wrap="square" lIns="209550" tIns="171450" rIns="2095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EF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6"/>
                </a:solidFill>
                <a:latin typeface="Consolas"/>
                <a:ea typeface="Consolas"/>
                <a:cs typeface="Consolas"/>
              </a:rPr>
              <a:t>claim: 具备 Python 项目经验</a:t>
            </a:r>
          </a:p>
          <a:p xmlns:a="http://schemas.openxmlformats.org/drawingml/2006/main">
            <a:pPr algn="l">
              <a:defRPr sz="1350" b="0">
                <a:solidFill>
                  <a:srgbClr val="E8EEF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6"/>
                </a:solidFill>
                <a:latin typeface="Consolas"/>
                <a:ea typeface="Consolas"/>
                <a:cs typeface="Consolas"/>
              </a:rPr>
              <a:t>evidence: resume:block-12</a:t>
            </a:r>
          </a:p>
          <a:p xmlns:a="http://schemas.openxmlformats.org/drawingml/2006/main">
            <a:pPr algn="l">
              <a:defRPr sz="1350" b="0">
                <a:solidFill>
                  <a:srgbClr val="E8EEF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6"/>
                </a:solidFill>
                <a:latin typeface="Consolas"/>
                <a:ea typeface="Consolas"/>
                <a:cs typeface="Consolas"/>
              </a:rPr>
              <a:t>source: “使用 Python 完成校园数据分析项目”</a:t>
            </a:r>
          </a:p>
          <a:p xmlns:a="http://schemas.openxmlformats.org/drawingml/2006/main">
            <a:pPr algn="l">
              <a:defRPr sz="1350" b="0">
                <a:solidFill>
                  <a:srgbClr val="E8EEF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6"/>
                </a:solidFill>
                <a:latin typeface="Consolas"/>
                <a:ea typeface="Consolas"/>
                <a:cs typeface="Consolas"/>
              </a:rPr>
              <a:t>confidence: 0.91    confirmed: true</a:t>
            </a:r>
          </a:p>
        </p:txBody>
      </p:sp>
      <p:sp>
        <p:nvSpPr>
          <p:cNvPr id="14" name="ev-rule">
            <a:extLst xmlns:a="http://schemas.openxmlformats.org/drawingml/2006/main">
              <a:ext uri="{FF2B5EF4-FFF2-40B4-BE49-F238E27FC236}">
                <a16:creationId xmlns:a16="http://schemas.microsoft.com/office/drawing/2014/main" id="{EF529C9D-BCF8-41F8-A7A4-CC5C643F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95775"/>
            <a:ext cx="34004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8F7F0"/>
            </a:solidFill>
            <a:prstDash val="solid"/>
          </a:ln>
        </p:spPr>
      </p:sp>
      <p:sp>
        <p:nvSpPr>
          <p:cNvPr id="15" name="ev-rule-title">
            <a:extLst xmlns:a="http://schemas.openxmlformats.org/drawingml/2006/main">
              <a:ext uri="{FF2B5EF4-FFF2-40B4-BE49-F238E27FC236}">
                <a16:creationId xmlns:a16="http://schemas.microsoft.com/office/drawing/2014/main" id="{CB86824F-31BA-4249-82C4-237D926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95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可导出条件</a:t>
            </a:r>
          </a:p>
        </p:txBody>
      </p:sp>
      <p:sp>
        <p:nvSpPr>
          <p:cNvPr id="16" name="ev-rule-body">
            <a:extLst xmlns:a="http://schemas.openxmlformats.org/drawingml/2006/main">
              <a:ext uri="{FF2B5EF4-FFF2-40B4-BE49-F238E27FC236}">
                <a16:creationId xmlns:a16="http://schemas.microsoft.com/office/drawing/2014/main" id="{C2B8044B-8C60-479F-AB90-1B887D71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933950"/>
            <a:ext cx="2705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01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重要结论有 evidence_id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原文可定位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确认状态明确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Audit 检查通过</a:t>
            </a:r>
          </a:p>
        </p:txBody>
      </p:sp>
      <p:sp>
        <p:nvSpPr>
          <p:cNvPr id="17" name="ev-header-band">
            <a:extLst xmlns:a="http://schemas.openxmlformats.org/drawingml/2006/main">
              <a:ext uri="{FF2B5EF4-FFF2-40B4-BE49-F238E27FC236}">
                <a16:creationId xmlns:a16="http://schemas.microsoft.com/office/drawing/2014/main" id="{FBF58C8C-3756-433A-A308-5852B284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kicker-8">
            <a:extLst xmlns:a="http://schemas.openxmlformats.org/drawingml/2006/main">
              <a:ext uri="{FF2B5EF4-FFF2-40B4-BE49-F238E27FC236}">
                <a16:creationId xmlns:a16="http://schemas.microsoft.com/office/drawing/2014/main" id="{7E1F1F9B-5102-461B-9C9A-AC262B4F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19" name="title-8">
            <a:extLst xmlns:a="http://schemas.openxmlformats.org/drawingml/2006/main">
              <a:ext uri="{FF2B5EF4-FFF2-40B4-BE49-F238E27FC236}">
                <a16:creationId xmlns:a16="http://schemas.microsoft.com/office/drawing/2014/main" id="{D53A29B9-B308-48B5-9200-01DA35E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三层证据链，让每项能力回到原文</a:t>
            </a:r>
          </a:p>
        </p:txBody>
      </p:sp>
      <p:cxnSp>
        <p:nvCxnSpPr>
          <p:cNvPr id="42" name="header-line-8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1" name="footer-8">
            <a:extLst xmlns:a="http://schemas.openxmlformats.org/drawingml/2006/main">
              <a:ext uri="{FF2B5EF4-FFF2-40B4-BE49-F238E27FC236}">
                <a16:creationId xmlns:a16="http://schemas.microsoft.com/office/drawing/2014/main" id="{E8F617D8-B1CB-47C1-88F1-C228CB89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2" name="page-8">
            <a:extLst xmlns:a="http://schemas.openxmlformats.org/drawingml/2006/main">
              <a:ext uri="{FF2B5EF4-FFF2-40B4-BE49-F238E27FC236}">
                <a16:creationId xmlns:a16="http://schemas.microsoft.com/office/drawing/2014/main" id="{45EFA5DA-4668-421E-B81B-FA86B85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3153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-9">
            <a:extLst xmlns:a="http://schemas.openxmlformats.org/drawingml/2006/main">
              <a:ext uri="{FF2B5EF4-FFF2-40B4-BE49-F238E27FC236}">
                <a16:creationId xmlns:a16="http://schemas.microsoft.com/office/drawing/2014/main" id="{BEF755DE-7FC3-46E8-B1A9-E485A2A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60BB934-1FF7-47DE-946D-49A741A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匹配度与证据置信度分开展示</a:t>
            </a:r>
          </a:p>
        </p:txBody>
      </p:sp>
      <p:cxnSp>
        <p:nvCxnSpPr>
          <p:cNvPr id="37" name="header-line-9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score-panel">
            <a:extLst xmlns:a="http://schemas.openxmlformats.org/drawingml/2006/main">
              <a:ext uri="{FF2B5EF4-FFF2-40B4-BE49-F238E27FC236}">
                <a16:creationId xmlns:a16="http://schemas.microsoft.com/office/drawing/2014/main" id="{A2FCF5CC-67FE-4FE7-A4C7-51848B7D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714625" cy="43624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score-title">
            <a:extLst xmlns:a="http://schemas.openxmlformats.org/drawingml/2006/main">
              <a:ext uri="{FF2B5EF4-FFF2-40B4-BE49-F238E27FC236}">
                <a16:creationId xmlns:a16="http://schemas.microsoft.com/office/drawing/2014/main" id="{664A0D13-DD50-4646-A4C2-49680374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岗位匹配度</a:t>
            </a:r>
          </a:p>
        </p:txBody>
      </p:sp>
      <p:sp>
        <p:nvSpPr>
          <p:cNvPr id="6" name="score-outer">
            <a:extLst xmlns:a="http://schemas.openxmlformats.org/drawingml/2006/main">
              <a:ext uri="{FF2B5EF4-FFF2-40B4-BE49-F238E27FC236}">
                <a16:creationId xmlns:a16="http://schemas.microsoft.com/office/drawing/2014/main" id="{2305290B-47AA-4D9F-A60A-7FF3293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6D3"/>
          </a:solidFill>
          <a:ln xmlns:a="http://schemas.openxmlformats.org/drawingml/2006/main" w="0">
            <a:solidFill>
              <a:srgbClr val="1666D3"/>
            </a:solidFill>
            <a:prstDash val="solid"/>
          </a:ln>
        </p:spPr>
      </p:sp>
      <p:sp>
        <p:nvSpPr>
          <p:cNvPr id="7" name="score-inner">
            <a:extLst xmlns:a="http://schemas.openxmlformats.org/drawingml/2006/main">
              <a:ext uri="{FF2B5EF4-FFF2-40B4-BE49-F238E27FC236}">
                <a16:creationId xmlns:a16="http://schemas.microsoft.com/office/drawing/2014/main" id="{527CA6A1-3D69-4D64-9163-44C44CC9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812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core-num">
            <a:extLst xmlns:a="http://schemas.openxmlformats.org/drawingml/2006/main">
              <a:ext uri="{FF2B5EF4-FFF2-40B4-BE49-F238E27FC236}">
                <a16:creationId xmlns:a16="http://schemas.microsoft.com/office/drawing/2014/main" id="{96DAE796-99A8-4B4D-9BB8-F10F635B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76</a:t>
            </a:r>
          </a:p>
        </p:txBody>
      </p:sp>
      <p:sp>
        <p:nvSpPr>
          <p:cNvPr id="9" name="score-unit">
            <a:extLst xmlns:a="http://schemas.openxmlformats.org/drawingml/2006/main">
              <a:ext uri="{FF2B5EF4-FFF2-40B4-BE49-F238E27FC236}">
                <a16:creationId xmlns:a16="http://schemas.microsoft.com/office/drawing/2014/main" id="{B495AB04-A2B4-4E0F-8C32-05715BE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/ 100</a:t>
            </a:r>
          </a:p>
        </p:txBody>
      </p:sp>
      <p:sp>
        <p:nvSpPr>
          <p:cNvPr id="10" name="confidence-label">
            <a:extLst xmlns:a="http://schemas.openxmlformats.org/drawingml/2006/main">
              <a:ext uri="{FF2B5EF4-FFF2-40B4-BE49-F238E27FC236}">
                <a16:creationId xmlns:a16="http://schemas.microsoft.com/office/drawing/2014/main" id="{7838CC5A-2A75-4A83-B874-A79BCF62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证据置信度 82%</a:t>
            </a:r>
          </a:p>
        </p:txBody>
      </p:sp>
      <p:sp>
        <p:nvSpPr>
          <p:cNvPr id="11" name="conf-bg">
            <a:extLst xmlns:a="http://schemas.openxmlformats.org/drawingml/2006/main">
              <a:ext uri="{FF2B5EF4-FFF2-40B4-BE49-F238E27FC236}">
                <a16:creationId xmlns:a16="http://schemas.microsoft.com/office/drawing/2014/main" id="{8AF4A868-7591-4B47-952C-A9E8B76D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20669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2" name="conf-fill">
            <a:extLst xmlns:a="http://schemas.openxmlformats.org/drawingml/2006/main">
              <a:ext uri="{FF2B5EF4-FFF2-40B4-BE49-F238E27FC236}">
                <a16:creationId xmlns:a16="http://schemas.microsoft.com/office/drawing/2014/main" id="{FAEE291A-9EC0-42A8-93C2-54A70248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16954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16865B"/>
            </a:solidFill>
            <a:prstDash val="solid"/>
          </a:ln>
        </p:spPr>
      </p:sp>
      <p:sp>
        <p:nvSpPr>
          <p:cNvPr id="13" name="score-note">
            <a:extLst xmlns:a="http://schemas.openxmlformats.org/drawingml/2006/main">
              <a:ext uri="{FF2B5EF4-FFF2-40B4-BE49-F238E27FC236}">
                <a16:creationId xmlns:a16="http://schemas.microsoft.com/office/drawing/2014/main" id="{85F96D50-A0B1-4510-82C1-00ED2E9F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38750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匹配 ≠ 录用概率</a:t>
            </a:r>
          </a:p>
        </p:txBody>
      </p:sp>
      <p:sp>
        <p:nvSpPr>
          <p:cNvPr id="14" name="radar-panel">
            <a:extLst xmlns:a="http://schemas.openxmlformats.org/drawingml/2006/main">
              <a:ext uri="{FF2B5EF4-FFF2-40B4-BE49-F238E27FC236}">
                <a16:creationId xmlns:a16="http://schemas.microsoft.com/office/drawing/2014/main" id="{4874527A-1E7C-4B8F-825B-D85C263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3857625" cy="43624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radar-title">
            <a:extLst xmlns:a="http://schemas.openxmlformats.org/drawingml/2006/main">
              <a:ext uri="{FF2B5EF4-FFF2-40B4-BE49-F238E27FC236}">
                <a16:creationId xmlns:a16="http://schemas.microsoft.com/office/drawing/2014/main" id="{825816E7-8DBE-4871-B342-375E736F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7240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五维证据画像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3676650" y="2133600"/>
          <a:ext xmlns:a="http://schemas.openxmlformats.org/drawingml/2006/main" cx="33528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be4e47758d4b7a"/>
          </a:graphicData>
        </a:graphic>
      </p:graphicFrame>
      <p:sp>
        <p:nvSpPr>
          <p:cNvPr id="17" name="radar-note">
            <a:extLst xmlns:a="http://schemas.openxmlformats.org/drawingml/2006/main">
              <a:ext uri="{FF2B5EF4-FFF2-40B4-BE49-F238E27FC236}">
                <a16:creationId xmlns:a16="http://schemas.microsoft.com/office/drawing/2014/main" id="{28BE2759-EE99-4A68-A24E-EA328B9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340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基于已确认材料</a:t>
            </a:r>
          </a:p>
        </p:txBody>
      </p:sp>
      <p:sp>
        <p:nvSpPr>
          <p:cNvPr id="18" name="matrix-panel">
            <a:extLst xmlns:a="http://schemas.openxmlformats.org/drawingml/2006/main">
              <a:ext uri="{FF2B5EF4-FFF2-40B4-BE49-F238E27FC236}">
                <a16:creationId xmlns:a16="http://schemas.microsoft.com/office/drawing/2014/main" id="{1C2F6671-05A5-4782-A259-7204B55B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24000"/>
            <a:ext cx="3848100" cy="43624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matrix-title">
            <a:extLst xmlns:a="http://schemas.openxmlformats.org/drawingml/2006/main">
              <a:ext uri="{FF2B5EF4-FFF2-40B4-BE49-F238E27FC236}">
                <a16:creationId xmlns:a16="http://schemas.microsoft.com/office/drawing/2014/main" id="{DBCB6D8D-27CB-429E-B706-CB311CA2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24025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要求证据矩阵</a:t>
            </a:r>
          </a:p>
        </p:txBody>
      </p:sp>
      <p:sp>
        <p:nvSpPr>
          <p:cNvPr id="20" name="req-name-0">
            <a:extLst xmlns:a="http://schemas.openxmlformats.org/drawingml/2006/main">
              <a:ext uri="{FF2B5EF4-FFF2-40B4-BE49-F238E27FC236}">
                <a16:creationId xmlns:a16="http://schemas.microsoft.com/office/drawing/2014/main" id="{9C349E27-4CF7-42BC-81B6-90C50DB2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669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Python 项目</a:t>
            </a:r>
          </a:p>
        </p:txBody>
      </p:sp>
      <p:sp>
        <p:nvSpPr>
          <p:cNvPr id="21" name="req-state-0">
            <a:extLst xmlns:a="http://schemas.openxmlformats.org/drawingml/2006/main">
              <a:ext uri="{FF2B5EF4-FFF2-40B4-BE49-F238E27FC236}">
                <a16:creationId xmlns:a16="http://schemas.microsoft.com/office/drawing/2014/main" id="{C16FC05B-9FC0-4464-AF0A-27356F4B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333625"/>
            <a:ext cx="13620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符合</a:t>
            </a:r>
          </a:p>
        </p:txBody>
      </p:sp>
      <p:cxnSp>
        <p:nvCxnSpPr>
          <p:cNvPr id="56" name="req-line-0"/>
          <p:cNvCxnSpPr/>
          <p:nvPr/>
        </p:nvCxnSpPr>
        <p:spPr>
          <a:xfrm xmlns:a="http://schemas.openxmlformats.org/drawingml/2006/main">
            <a:off x="7800975" y="2838450"/>
            <a:ext cx="31527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3" name="req-name-1">
            <a:extLst xmlns:a="http://schemas.openxmlformats.org/drawingml/2006/main">
              <a:ext uri="{FF2B5EF4-FFF2-40B4-BE49-F238E27FC236}">
                <a16:creationId xmlns:a16="http://schemas.microsoft.com/office/drawing/2014/main" id="{E26F8B01-6F45-4134-B9E0-5E2668FE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527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SQL 实践</a:t>
            </a:r>
          </a:p>
        </p:txBody>
      </p:sp>
      <p:sp>
        <p:nvSpPr>
          <p:cNvPr id="24" name="req-state-1">
            <a:extLst xmlns:a="http://schemas.openxmlformats.org/drawingml/2006/main">
              <a:ext uri="{FF2B5EF4-FFF2-40B4-BE49-F238E27FC236}">
                <a16:creationId xmlns:a16="http://schemas.microsoft.com/office/drawing/2014/main" id="{C03DE9C1-68FB-4169-8DA7-4EA57079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019425"/>
            <a:ext cx="13620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0">
            <a:solidFill>
              <a:srgbClr val="FFF5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rPr>
              <a:t>部分符合</a:t>
            </a:r>
          </a:p>
        </p:txBody>
      </p:sp>
      <p:cxnSp>
        <p:nvCxnSpPr>
          <p:cNvPr id="59" name="req-line-1"/>
          <p:cNvCxnSpPr/>
          <p:nvPr/>
        </p:nvCxnSpPr>
        <p:spPr>
          <a:xfrm xmlns:a="http://schemas.openxmlformats.org/drawingml/2006/main">
            <a:off x="7800975" y="3524250"/>
            <a:ext cx="31527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6" name="req-name-2">
            <a:extLst xmlns:a="http://schemas.openxmlformats.org/drawingml/2006/main">
              <a:ext uri="{FF2B5EF4-FFF2-40B4-BE49-F238E27FC236}">
                <a16:creationId xmlns:a16="http://schemas.microsoft.com/office/drawing/2014/main" id="{93C43003-3ACC-4599-84FB-62E1E83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385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云部署</a:t>
            </a:r>
          </a:p>
        </p:txBody>
      </p:sp>
      <p:sp>
        <p:nvSpPr>
          <p:cNvPr id="27" name="req-state-2">
            <a:extLst xmlns:a="http://schemas.openxmlformats.org/drawingml/2006/main">
              <a:ext uri="{FF2B5EF4-FFF2-40B4-BE49-F238E27FC236}">
                <a16:creationId xmlns:a16="http://schemas.microsoft.com/office/drawing/2014/main" id="{82DAD9D8-DBFC-49DF-AE99-FD63B688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705225"/>
            <a:ext cx="13620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缺少证据</a:t>
            </a:r>
          </a:p>
        </p:txBody>
      </p:sp>
      <p:cxnSp>
        <p:nvCxnSpPr>
          <p:cNvPr id="62" name="req-line-2"/>
          <p:cNvCxnSpPr/>
          <p:nvPr/>
        </p:nvCxnSpPr>
        <p:spPr>
          <a:xfrm xmlns:a="http://schemas.openxmlformats.org/drawingml/2006/main">
            <a:off x="7800975" y="4210050"/>
            <a:ext cx="31527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9" name="req-name-3">
            <a:extLst xmlns:a="http://schemas.openxmlformats.org/drawingml/2006/main">
              <a:ext uri="{FF2B5EF4-FFF2-40B4-BE49-F238E27FC236}">
                <a16:creationId xmlns:a16="http://schemas.microsoft.com/office/drawing/2014/main" id="{DEA65442-8C08-4087-A492-5D967917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243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限男性</a:t>
            </a:r>
          </a:p>
        </p:txBody>
      </p:sp>
      <p:sp>
        <p:nvSpPr>
          <p:cNvPr id="30" name="req-state-3">
            <a:extLst xmlns:a="http://schemas.openxmlformats.org/drawingml/2006/main">
              <a:ext uri="{FF2B5EF4-FFF2-40B4-BE49-F238E27FC236}">
                <a16:creationId xmlns:a16="http://schemas.microsoft.com/office/drawing/2014/main" id="{0C6E14CA-2E69-4804-9FF4-BB96AE6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91025"/>
            <a:ext cx="13620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风险排除</a:t>
            </a:r>
          </a:p>
        </p:txBody>
      </p:sp>
      <p:sp>
        <p:nvSpPr>
          <p:cNvPr id="31" name="state-legend">
            <a:extLst xmlns:a="http://schemas.openxmlformats.org/drawingml/2006/main">
              <a:ext uri="{FF2B5EF4-FFF2-40B4-BE49-F238E27FC236}">
                <a16:creationId xmlns:a16="http://schemas.microsoft.com/office/drawing/2014/main" id="{4133CC8F-A415-431C-8706-C42E0D93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197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状态：符合 / 部分符合 / 缺证 / 冲突 / 风险排除</a:t>
            </a:r>
          </a:p>
        </p:txBody>
      </p:sp>
      <p:sp>
        <p:nvSpPr>
          <p:cNvPr id="32" name="synthetic-note">
            <a:extLst xmlns:a="http://schemas.openxmlformats.org/drawingml/2006/main">
              <a:ext uri="{FF2B5EF4-FFF2-40B4-BE49-F238E27FC236}">
                <a16:creationId xmlns:a16="http://schemas.microsoft.com/office/drawing/2014/main" id="{999CB6CA-8C68-4594-8651-BCD245D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674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合成演示数据，不代表录用概率</a:t>
            </a:r>
          </a:p>
        </p:txBody>
      </p:sp>
      <p:sp>
        <p:nvSpPr>
          <p:cNvPr id="33" name="footer-9">
            <a:extLst xmlns:a="http://schemas.openxmlformats.org/drawingml/2006/main">
              <a:ext uri="{FF2B5EF4-FFF2-40B4-BE49-F238E27FC236}">
                <a16:creationId xmlns:a16="http://schemas.microsoft.com/office/drawing/2014/main" id="{EBE37E2B-8B04-4BA8-8404-F082E5C5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自主协同｜合成演示数据</a:t>
            </a:r>
          </a:p>
        </p:txBody>
      </p:sp>
      <p:sp>
        <p:nvSpPr>
          <p:cNvPr id="34" name="page-9">
            <a:extLst xmlns:a="http://schemas.openxmlformats.org/drawingml/2006/main">
              <a:ext uri="{FF2B5EF4-FFF2-40B4-BE49-F238E27FC236}">
                <a16:creationId xmlns:a16="http://schemas.microsoft.com/office/drawing/2014/main" id="{A8990A7D-E925-4F55-8375-2C744FF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8771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10">
            <a:extLst xmlns:a="http://schemas.openxmlformats.org/drawingml/2006/main">
              <a:ext uri="{FF2B5EF4-FFF2-40B4-BE49-F238E27FC236}">
                <a16:creationId xmlns:a16="http://schemas.microsoft.com/office/drawing/2014/main" id="{59D419DA-087D-45E5-A102-52171D31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4D68778-42D2-4555-B7E7-5AB33663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Audit Agent 在导出前设置两道门</a:t>
            </a:r>
          </a:p>
        </p:txBody>
      </p:sp>
      <p:cxnSp>
        <p:nvCxnSpPr>
          <p:cNvPr id="32" name="header-line-10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pre-audit">
            <a:extLst xmlns:a="http://schemas.openxmlformats.org/drawingml/2006/main">
              <a:ext uri="{FF2B5EF4-FFF2-40B4-BE49-F238E27FC236}">
                <a16:creationId xmlns:a16="http://schemas.microsoft.com/office/drawing/2014/main" id="{5E5817A4-E645-4EF7-BA09-08DDF566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857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" name="pre-num">
            <a:extLst xmlns:a="http://schemas.openxmlformats.org/drawingml/2006/main">
              <a:ext uri="{FF2B5EF4-FFF2-40B4-BE49-F238E27FC236}">
                <a16:creationId xmlns:a16="http://schemas.microsoft.com/office/drawing/2014/main" id="{364D2ADE-016B-48F3-85F3-C3D20FB3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re-title">
            <a:extLst xmlns:a="http://schemas.openxmlformats.org/drawingml/2006/main">
              <a:ext uri="{FF2B5EF4-FFF2-40B4-BE49-F238E27FC236}">
                <a16:creationId xmlns:a16="http://schemas.microsoft.com/office/drawing/2014/main" id="{9D121E3D-FEA2-4A8F-80F9-4E7BDD0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前置审查</a:t>
            </a:r>
          </a:p>
        </p:txBody>
      </p:sp>
      <p:sp>
        <p:nvSpPr>
          <p:cNvPr id="7" name="pre-body">
            <a:extLst xmlns:a="http://schemas.openxmlformats.org/drawingml/2006/main">
              <a:ext uri="{FF2B5EF4-FFF2-40B4-BE49-F238E27FC236}">
                <a16:creationId xmlns:a16="http://schemas.microsoft.com/office/drawing/2014/main" id="{2F40ABBF-87EB-4D25-BD6B-4576916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授权与目标</a:t>
            </a:r>
          </a:p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最小化收集</a:t>
            </a:r>
          </a:p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JD 公平条件</a:t>
            </a:r>
          </a:p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8" name="audit-arrow1">
            <a:extLst xmlns:a="http://schemas.openxmlformats.org/drawingml/2006/main">
              <a:ext uri="{FF2B5EF4-FFF2-40B4-BE49-F238E27FC236}">
                <a16:creationId xmlns:a16="http://schemas.microsoft.com/office/drawing/2014/main" id="{018349F9-23C2-42FA-82D9-2495D8C4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288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work-stage">
            <a:extLst xmlns:a="http://schemas.openxmlformats.org/drawingml/2006/main">
              <a:ext uri="{FF2B5EF4-FFF2-40B4-BE49-F238E27FC236}">
                <a16:creationId xmlns:a16="http://schemas.microsoft.com/office/drawing/2014/main" id="{40A770B7-FFCA-4240-ADE0-340DE99C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71625"/>
            <a:ext cx="2857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work-num">
            <a:extLst xmlns:a="http://schemas.openxmlformats.org/drawingml/2006/main">
              <a:ext uri="{FF2B5EF4-FFF2-40B4-BE49-F238E27FC236}">
                <a16:creationId xmlns:a16="http://schemas.microsoft.com/office/drawing/2014/main" id="{991F16BA-D3F8-4058-9976-D32B2F18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work-title">
            <a:extLst xmlns:a="http://schemas.openxmlformats.org/drawingml/2006/main">
              <a:ext uri="{FF2B5EF4-FFF2-40B4-BE49-F238E27FC236}">
                <a16:creationId xmlns:a16="http://schemas.microsoft.com/office/drawing/2014/main" id="{8B9B089A-E970-4ECF-8E7C-9DB4C9F7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 协同执行</a:t>
            </a:r>
          </a:p>
        </p:txBody>
      </p:sp>
      <p:sp>
        <p:nvSpPr>
          <p:cNvPr id="12" name="work-body">
            <a:extLst xmlns:a="http://schemas.openxmlformats.org/drawingml/2006/main">
              <a:ext uri="{FF2B5EF4-FFF2-40B4-BE49-F238E27FC236}">
                <a16:creationId xmlns:a16="http://schemas.microsoft.com/office/drawing/2014/main" id="{DD34B59E-9A0B-4B1E-B4A7-39354DBD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画像 → 解析 → 匹配</a:t>
            </a:r>
          </a:p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→ 辅导 → 结果汇总</a:t>
            </a:r>
          </a:p>
        </p:txBody>
      </p:sp>
      <p:sp>
        <p:nvSpPr>
          <p:cNvPr id="13" name="audit-arrow2">
            <a:extLst xmlns:a="http://schemas.openxmlformats.org/drawingml/2006/main">
              <a:ext uri="{FF2B5EF4-FFF2-40B4-BE49-F238E27FC236}">
                <a16:creationId xmlns:a16="http://schemas.microsoft.com/office/drawing/2014/main" id="{C62FACDB-BAF9-4890-9B8F-D920445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288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post-audit">
            <a:extLst xmlns:a="http://schemas.openxmlformats.org/drawingml/2006/main">
              <a:ext uri="{FF2B5EF4-FFF2-40B4-BE49-F238E27FC236}">
                <a16:creationId xmlns:a16="http://schemas.microsoft.com/office/drawing/2014/main" id="{7CFBB4E7-4038-40C8-8538-2B8FCE50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71625"/>
            <a:ext cx="3886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5" name="post-num">
            <a:extLst xmlns:a="http://schemas.openxmlformats.org/drawingml/2006/main">
              <a:ext uri="{FF2B5EF4-FFF2-40B4-BE49-F238E27FC236}">
                <a16:creationId xmlns:a16="http://schemas.microsoft.com/office/drawing/2014/main" id="{52A82060-D204-44DC-BF6A-3DD6003A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ost-title">
            <a:extLst xmlns:a="http://schemas.openxmlformats.org/drawingml/2006/main">
              <a:ext uri="{FF2B5EF4-FFF2-40B4-BE49-F238E27FC236}">
                <a16:creationId xmlns:a16="http://schemas.microsoft.com/office/drawing/2014/main" id="{E5558DBD-6DB0-4F29-8841-8C13D156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后置审查 + 人工批准</a:t>
            </a:r>
          </a:p>
        </p:txBody>
      </p:sp>
      <p:sp>
        <p:nvSpPr>
          <p:cNvPr id="17" name="post-body">
            <a:extLst xmlns:a="http://schemas.openxmlformats.org/drawingml/2006/main">
              <a:ext uri="{FF2B5EF4-FFF2-40B4-BE49-F238E27FC236}">
                <a16:creationId xmlns:a16="http://schemas.microsoft.com/office/drawing/2014/main" id="{58DA9848-D6FD-4CBE-92A7-37F83478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384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经历真实性 · 证据覆盖 · 隐私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内容安全 · Trace 完整性</a:t>
            </a:r>
          </a:p>
        </p:txBody>
      </p:sp>
      <p:sp>
        <p:nvSpPr>
          <p:cNvPr id="18" name="case-label">
            <a:extLst xmlns:a="http://schemas.openxmlformats.org/drawingml/2006/main">
              <a:ext uri="{FF2B5EF4-FFF2-40B4-BE49-F238E27FC236}">
                <a16:creationId xmlns:a16="http://schemas.microsoft.com/office/drawing/2014/main" id="{4FA1244A-1E2C-4DCD-9F68-D8F2C18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演示案例：无证据量化被阻断</a:t>
            </a:r>
          </a:p>
        </p:txBody>
      </p:sp>
      <p:sp>
        <p:nvSpPr>
          <p:cNvPr id="19" name="bad-claim">
            <a:extLst xmlns:a="http://schemas.openxmlformats.org/drawingml/2006/main">
              <a:ext uri="{FF2B5EF4-FFF2-40B4-BE49-F238E27FC236}">
                <a16:creationId xmlns:a16="http://schemas.microsoft.com/office/drawing/2014/main" id="{60D12448-91FD-4E73-A855-851D5342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43375"/>
            <a:ext cx="2781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0">
            <a:solidFill>
              <a:srgbClr val="FFF5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rPr>
              <a:t>Coach 输出</a:t>
            </a:r>
          </a:p>
          <a:p xmlns:a="http://schemas.openxmlformats.org/drawingml/2006/main">
            <a:pPr algn="ctr">
              <a:defRPr sz="1425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7800"/>
                </a:solidFill>
                <a:latin typeface="Microsoft YaHei"/>
                <a:ea typeface="Microsoft YaHei"/>
                <a:cs typeface="Microsoft YaHei"/>
              </a:rPr>
              <a:t>“将处理效率提升 30%”</a:t>
            </a:r>
          </a:p>
        </p:txBody>
      </p:sp>
      <p:sp>
        <p:nvSpPr>
          <p:cNvPr id="20" name="case-arrow1">
            <a:extLst xmlns:a="http://schemas.openxmlformats.org/drawingml/2006/main">
              <a:ext uri="{FF2B5EF4-FFF2-40B4-BE49-F238E27FC236}">
                <a16:creationId xmlns:a16="http://schemas.microsoft.com/office/drawing/2014/main" id="{09BB73A2-CEE6-4966-AF65-90315CC1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481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blocked">
            <a:extLst xmlns:a="http://schemas.openxmlformats.org/drawingml/2006/main">
              <a:ext uri="{FF2B5EF4-FFF2-40B4-BE49-F238E27FC236}">
                <a16:creationId xmlns:a16="http://schemas.microsoft.com/office/drawing/2014/main" id="{35E3D892-D130-4636-BAFB-C1FF88B4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43375"/>
            <a:ext cx="2343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C83838"/>
          </a:solidFill>
          <a:ln xmlns:a="http://schemas.openxmlformats.org/drawingml/2006/main" w="0">
            <a:solidFill>
              <a:srgbClr val="C838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材料中没有证据</a:t>
            </a:r>
          </a:p>
        </p:txBody>
      </p:sp>
      <p:sp>
        <p:nvSpPr>
          <p:cNvPr id="22" name="case-arrow2">
            <a:extLst xmlns:a="http://schemas.openxmlformats.org/drawingml/2006/main">
              <a:ext uri="{FF2B5EF4-FFF2-40B4-BE49-F238E27FC236}">
                <a16:creationId xmlns:a16="http://schemas.microsoft.com/office/drawing/2014/main" id="{0E817351-EA41-46B7-96D1-6DA3D59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481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fix">
            <a:extLst xmlns:a="http://schemas.openxmlformats.org/drawingml/2006/main">
              <a:ext uri="{FF2B5EF4-FFF2-40B4-BE49-F238E27FC236}">
                <a16:creationId xmlns:a16="http://schemas.microsoft.com/office/drawing/2014/main" id="{4CA8EC74-6143-4DBE-97E8-8390EF1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3375"/>
            <a:ext cx="2343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删除数字 / 补充证据</a:t>
            </a:r>
          </a:p>
          <a:p xmlns:a="http://schemas.openxmlformats.org/drawingml/2006/main">
            <a:pPr algn="ctr">
              <a:defRPr sz="142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4" name="case-arrow3">
            <a:extLst xmlns:a="http://schemas.openxmlformats.org/drawingml/2006/main">
              <a:ext uri="{FF2B5EF4-FFF2-40B4-BE49-F238E27FC236}">
                <a16:creationId xmlns:a16="http://schemas.microsoft.com/office/drawing/2014/main" id="{E7636814-8AD6-4732-84E0-80191122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481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passed">
            <a:extLst xmlns:a="http://schemas.openxmlformats.org/drawingml/2006/main">
              <a:ext uri="{FF2B5EF4-FFF2-40B4-BE49-F238E27FC236}">
                <a16:creationId xmlns:a16="http://schemas.microsoft.com/office/drawing/2014/main" id="{532C9E08-5532-4DA0-BF90-41DE8C8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1619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16865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允许导出</a:t>
            </a:r>
          </a:p>
        </p:txBody>
      </p:sp>
      <p:sp>
        <p:nvSpPr>
          <p:cNvPr id="26" name="audit-bottom">
            <a:extLst xmlns:a="http://schemas.openxmlformats.org/drawingml/2006/main">
              <a:ext uri="{FF2B5EF4-FFF2-40B4-BE49-F238E27FC236}">
                <a16:creationId xmlns:a16="http://schemas.microsoft.com/office/drawing/2014/main" id="{2AF4C7DC-205E-4FA4-97CF-701526C5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562600"/>
            <a:ext cx="866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安全规则：隐私最小化 · 禁止违法内容 · 不基于敏感属性排序 · 高风险信号转人工</a:t>
            </a:r>
          </a:p>
        </p:txBody>
      </p:sp>
      <p:sp>
        <p:nvSpPr>
          <p:cNvPr id="27" name="law-hint">
            <a:extLst xmlns:a="http://schemas.openxmlformats.org/drawingml/2006/main">
              <a:ext uri="{FF2B5EF4-FFF2-40B4-BE49-F238E27FC236}">
                <a16:creationId xmlns:a16="http://schemas.microsoft.com/office/drawing/2014/main" id="{3C911BB6-7492-4C9E-A8B7-32C5CE2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943600"/>
            <a:ext cx="1685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法规来源见备注</a:t>
            </a:r>
          </a:p>
        </p:txBody>
      </p:sp>
      <p:sp>
        <p:nvSpPr>
          <p:cNvPr id="28" name="footer-10">
            <a:extLst xmlns:a="http://schemas.openxmlformats.org/drawingml/2006/main">
              <a:ext uri="{FF2B5EF4-FFF2-40B4-BE49-F238E27FC236}">
                <a16:creationId xmlns:a16="http://schemas.microsoft.com/office/drawing/2014/main" id="{A737F96D-48D3-4ED3-9400-E74B615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9" name="page-10">
            <a:extLst xmlns:a="http://schemas.openxmlformats.org/drawingml/2006/main">
              <a:ext uri="{FF2B5EF4-FFF2-40B4-BE49-F238E27FC236}">
                <a16:creationId xmlns:a16="http://schemas.microsoft.com/office/drawing/2014/main" id="{A642D932-4EC5-407B-8F7E-438A23A3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3332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1">
            <a:extLst xmlns:a="http://schemas.openxmlformats.org/drawingml/2006/main">
              <a:ext uri="{FF2B5EF4-FFF2-40B4-BE49-F238E27FC236}">
                <a16:creationId xmlns:a16="http://schemas.microsoft.com/office/drawing/2014/main" id="{A54353AE-4165-4CD5-8672-7E20F4F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8A82C31-6158-41BB-8CA0-9DA82895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Skills 把专家流程沉淀为可复用能力</a:t>
            </a:r>
          </a:p>
        </p:txBody>
      </p:sp>
      <p:cxnSp>
        <p:nvCxnSpPr>
          <p:cNvPr id="22" name="header-line-11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skill-group-0">
            <a:extLst xmlns:a="http://schemas.openxmlformats.org/drawingml/2006/main">
              <a:ext uri="{FF2B5EF4-FFF2-40B4-BE49-F238E27FC236}">
                <a16:creationId xmlns:a16="http://schemas.microsoft.com/office/drawing/2014/main" id="{99471229-3CD2-42DC-A157-FBE172C4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257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" name="skill-label-0">
            <a:extLst xmlns:a="http://schemas.openxmlformats.org/drawingml/2006/main">
              <a:ext uri="{FF2B5EF4-FFF2-40B4-BE49-F238E27FC236}">
                <a16:creationId xmlns:a16="http://schemas.microsoft.com/office/drawing/2014/main" id="{3836B8EE-C097-4FE5-9B1D-661EA7A5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66D3"/>
          </a:solidFill>
          <a:ln xmlns:a="http://schemas.openxmlformats.org/drawingml/2006/main" w="0">
            <a:solidFill>
              <a:srgbClr val="1666D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299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6" name="skill-list-0">
            <a:extLst xmlns:a="http://schemas.openxmlformats.org/drawingml/2006/main">
              <a:ext uri="{FF2B5EF4-FFF2-40B4-BE49-F238E27FC236}">
                <a16:creationId xmlns:a16="http://schemas.microsoft.com/office/drawing/2014/main" id="{81FDC63A-14B7-4DE5-8BC5-816A6910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371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document_to_markdown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evidence_extractor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privacy_minimizer</a:t>
            </a:r>
          </a:p>
        </p:txBody>
      </p:sp>
      <p:sp>
        <p:nvSpPr>
          <p:cNvPr id="7" name="skill-group-1">
            <a:extLst xmlns:a="http://schemas.openxmlformats.org/drawingml/2006/main">
              <a:ext uri="{FF2B5EF4-FFF2-40B4-BE49-F238E27FC236}">
                <a16:creationId xmlns:a16="http://schemas.microsoft.com/office/drawing/2014/main" id="{E3902FB2-4163-409A-806B-B7E63C54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257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F2ECFF"/>
            </a:solidFill>
            <a:prstDash val="solid"/>
          </a:ln>
        </p:spPr>
      </p:sp>
      <p:sp>
        <p:nvSpPr>
          <p:cNvPr id="8" name="skill-label-1">
            <a:extLst xmlns:a="http://schemas.openxmlformats.org/drawingml/2006/main">
              <a:ext uri="{FF2B5EF4-FFF2-40B4-BE49-F238E27FC236}">
                <a16:creationId xmlns:a16="http://schemas.microsoft.com/office/drawing/2014/main" id="{97742401-78AC-482F-AEA4-50FB2544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716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7047B8"/>
          </a:solidFill>
          <a:ln xmlns:a="http://schemas.openxmlformats.org/drawingml/2006/main" w="0">
            <a:solidFill>
              <a:srgbClr val="7047B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299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岗位</a:t>
            </a:r>
          </a:p>
        </p:txBody>
      </p:sp>
      <p:sp>
        <p:nvSpPr>
          <p:cNvPr id="9" name="skill-list-1">
            <a:extLst xmlns:a="http://schemas.openxmlformats.org/drawingml/2006/main">
              <a:ext uri="{FF2B5EF4-FFF2-40B4-BE49-F238E27FC236}">
                <a16:creationId xmlns:a16="http://schemas.microsoft.com/office/drawing/2014/main" id="{45899716-35C9-41A5-9E01-59F262EA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19275"/>
            <a:ext cx="371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jd_normalizer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fairness_scanner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requirement_classifier</a:t>
            </a:r>
          </a:p>
        </p:txBody>
      </p:sp>
      <p:sp>
        <p:nvSpPr>
          <p:cNvPr id="10" name="skill-group-2">
            <a:extLst xmlns:a="http://schemas.openxmlformats.org/drawingml/2006/main">
              <a:ext uri="{FF2B5EF4-FFF2-40B4-BE49-F238E27FC236}">
                <a16:creationId xmlns:a16="http://schemas.microsoft.com/office/drawing/2014/main" id="{E3D94A83-EE98-45BC-BF61-F55678D2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257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FF5D6"/>
            </a:solidFill>
            <a:prstDash val="solid"/>
          </a:ln>
        </p:spPr>
      </p:sp>
      <p:sp>
        <p:nvSpPr>
          <p:cNvPr id="11" name="skill-label-2">
            <a:extLst xmlns:a="http://schemas.openxmlformats.org/drawingml/2006/main">
              <a:ext uri="{FF2B5EF4-FFF2-40B4-BE49-F238E27FC236}">
                <a16:creationId xmlns:a16="http://schemas.microsoft.com/office/drawing/2014/main" id="{0B0CBA47-9F3C-407C-AF2C-A7165BD1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299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2" name="skill-list-2">
            <a:extLst xmlns:a="http://schemas.openxmlformats.org/drawingml/2006/main">
              <a:ext uri="{FF2B5EF4-FFF2-40B4-BE49-F238E27FC236}">
                <a16:creationId xmlns:a16="http://schemas.microsoft.com/office/drawing/2014/main" id="{2E0BC0B2-0F8E-4572-9F58-A907C44F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33825"/>
            <a:ext cx="371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evidence_matcher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score_explainer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gap_plan_builder</a:t>
            </a:r>
          </a:p>
        </p:txBody>
      </p:sp>
      <p:sp>
        <p:nvSpPr>
          <p:cNvPr id="13" name="skill-group-3">
            <a:extLst xmlns:a="http://schemas.openxmlformats.org/drawingml/2006/main">
              <a:ext uri="{FF2B5EF4-FFF2-40B4-BE49-F238E27FC236}">
                <a16:creationId xmlns:a16="http://schemas.microsoft.com/office/drawing/2014/main" id="{4A09F0C9-362F-4221-A432-988D575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95700"/>
            <a:ext cx="5257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8F7F0"/>
            </a:solidFill>
            <a:prstDash val="solid"/>
          </a:ln>
        </p:spPr>
      </p:sp>
      <p:sp>
        <p:nvSpPr>
          <p:cNvPr id="14" name="skill-label-3">
            <a:extLst xmlns:a="http://schemas.openxmlformats.org/drawingml/2006/main">
              <a:ext uri="{FF2B5EF4-FFF2-40B4-BE49-F238E27FC236}">
                <a16:creationId xmlns:a16="http://schemas.microsoft.com/office/drawing/2014/main" id="{08AC33BC-95A5-45C3-9A38-ACFDC70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16865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299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15" name="skill-list-3">
            <a:extLst xmlns:a="http://schemas.openxmlformats.org/drawingml/2006/main">
              <a:ext uri="{FF2B5EF4-FFF2-40B4-BE49-F238E27FC236}">
                <a16:creationId xmlns:a16="http://schemas.microsoft.com/office/drawing/2014/main" id="{4790014F-A971-4495-9D71-AC6E18E5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33825"/>
            <a:ext cx="371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claim_auditor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report_exporter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sls_trace_query</a:t>
            </a:r>
          </a:p>
        </p:txBody>
      </p:sp>
      <p:cxnSp>
        <p:nvCxnSpPr>
          <p:cNvPr id="35" name="skills-rule"/>
          <p:cNvCxnSpPr/>
          <p:nvPr/>
        </p:nvCxnSpPr>
        <p:spPr>
          <a:xfrm xmlns:a="http://schemas.openxmlformats.org/drawingml/2006/main">
            <a:off x="495300" y="582930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7" name="skills-thesis">
            <a:extLst xmlns:a="http://schemas.openxmlformats.org/drawingml/2006/main">
              <a:ext uri="{FF2B5EF4-FFF2-40B4-BE49-F238E27FC236}">
                <a16:creationId xmlns:a16="http://schemas.microsoft.com/office/drawing/2014/main" id="{C86AFEC0-26DC-4087-BF9F-453F964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325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Skill 定义输入、输出、失败处理与安全边界；MCP / 等价契约连接文件、岗位、知识库和日志。</a:t>
            </a:r>
          </a:p>
        </p:txBody>
      </p:sp>
      <p:sp>
        <p:nvSpPr>
          <p:cNvPr id="18" name="footer-11">
            <a:extLst xmlns:a="http://schemas.openxmlformats.org/drawingml/2006/main">
              <a:ext uri="{FF2B5EF4-FFF2-40B4-BE49-F238E27FC236}">
                <a16:creationId xmlns:a16="http://schemas.microsoft.com/office/drawing/2014/main" id="{F272335B-272E-41A9-86C2-B17C8B6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19" name="page-11">
            <a:extLst xmlns:a="http://schemas.openxmlformats.org/drawingml/2006/main">
              <a:ext uri="{FF2B5EF4-FFF2-40B4-BE49-F238E27FC236}">
                <a16:creationId xmlns:a16="http://schemas.microsoft.com/office/drawing/2014/main" id="{90C612CB-A63D-42E2-93E3-80244E6E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74006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12">
            <a:extLst xmlns:a="http://schemas.openxmlformats.org/drawingml/2006/main">
              <a:ext uri="{FF2B5EF4-FFF2-40B4-BE49-F238E27FC236}">
                <a16:creationId xmlns:a16="http://schemas.microsoft.com/office/drawing/2014/main" id="{1A9B7DDF-820D-495D-83F2-FB65467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38C582F-44CD-48F9-962F-9F1D92C5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固定异常分支，验证系统真正可控</a:t>
            </a:r>
          </a:p>
        </p:txBody>
      </p:sp>
      <p:cxnSp>
        <p:nvCxnSpPr>
          <p:cNvPr id="35" name="header-line-12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demo-n-0">
            <a:extLst xmlns:a="http://schemas.openxmlformats.org/drawingml/2006/main">
              <a:ext uri="{FF2B5EF4-FFF2-40B4-BE49-F238E27FC236}">
                <a16:creationId xmlns:a16="http://schemas.microsoft.com/office/drawing/2014/main" id="{14A1CC9E-8E15-41EA-965D-3EE3B0D7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6D3"/>
          </a:solidFill>
          <a:ln xmlns:a="http://schemas.openxmlformats.org/drawingml/2006/main" w="0">
            <a:solidFill>
              <a:srgbClr val="1666D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81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demo-box-0">
            <a:extLst xmlns:a="http://schemas.openxmlformats.org/drawingml/2006/main">
              <a:ext uri="{FF2B5EF4-FFF2-40B4-BE49-F238E27FC236}">
                <a16:creationId xmlns:a16="http://schemas.microsoft.com/office/drawing/2014/main" id="{620204AF-70E9-41B0-8CB6-72AA87B1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1295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合成简历 + JD</a:t>
            </a:r>
          </a:p>
        </p:txBody>
      </p:sp>
      <p:sp>
        <p:nvSpPr>
          <p:cNvPr id="6" name="demo-arrow-0">
            <a:extLst xmlns:a="http://schemas.openxmlformats.org/drawingml/2006/main">
              <a:ext uri="{FF2B5EF4-FFF2-40B4-BE49-F238E27FC236}">
                <a16:creationId xmlns:a16="http://schemas.microsoft.com/office/drawing/2014/main" id="{A0C6891D-9624-4914-95D6-2D6626D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61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demo-n-1">
            <a:extLst xmlns:a="http://schemas.openxmlformats.org/drawingml/2006/main">
              <a:ext uri="{FF2B5EF4-FFF2-40B4-BE49-F238E27FC236}">
                <a16:creationId xmlns:a16="http://schemas.microsoft.com/office/drawing/2014/main" id="{D53027B2-D667-4B5D-9E93-F91C573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57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6D3"/>
          </a:solidFill>
          <a:ln xmlns:a="http://schemas.openxmlformats.org/drawingml/2006/main" w="0">
            <a:solidFill>
              <a:srgbClr val="1666D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81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demo-box-1">
            <a:extLst xmlns:a="http://schemas.openxmlformats.org/drawingml/2006/main">
              <a:ext uri="{FF2B5EF4-FFF2-40B4-BE49-F238E27FC236}">
                <a16:creationId xmlns:a16="http://schemas.microsoft.com/office/drawing/2014/main" id="{4E8DDA24-0D2B-4A5F-A1DA-B9AD30E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28850"/>
            <a:ext cx="1295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证据画像</a:t>
            </a:r>
          </a:p>
        </p:txBody>
      </p:sp>
      <p:sp>
        <p:nvSpPr>
          <p:cNvPr id="9" name="demo-arrow-1">
            <a:extLst xmlns:a="http://schemas.openxmlformats.org/drawingml/2006/main">
              <a:ext uri="{FF2B5EF4-FFF2-40B4-BE49-F238E27FC236}">
                <a16:creationId xmlns:a16="http://schemas.microsoft.com/office/drawing/2014/main" id="{37EB3C68-A425-4E2D-89BB-9D63215E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574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61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demo-n-2">
            <a:extLst xmlns:a="http://schemas.openxmlformats.org/drawingml/2006/main">
              <a:ext uri="{FF2B5EF4-FFF2-40B4-BE49-F238E27FC236}">
                <a16:creationId xmlns:a16="http://schemas.microsoft.com/office/drawing/2014/main" id="{A5F728C4-910E-4D18-A5FA-7FB651BD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57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6D3"/>
          </a:solidFill>
          <a:ln xmlns:a="http://schemas.openxmlformats.org/drawingml/2006/main" w="0">
            <a:solidFill>
              <a:srgbClr val="1666D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81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demo-box-2">
            <a:extLst xmlns:a="http://schemas.openxmlformats.org/drawingml/2006/main">
              <a:ext uri="{FF2B5EF4-FFF2-40B4-BE49-F238E27FC236}">
                <a16:creationId xmlns:a16="http://schemas.microsoft.com/office/drawing/2014/main" id="{C5D6DD06-6361-450A-96DF-73A3198E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28850"/>
            <a:ext cx="1295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匹配可视化</a:t>
            </a:r>
          </a:p>
        </p:txBody>
      </p:sp>
      <p:sp>
        <p:nvSpPr>
          <p:cNvPr id="12" name="demo-arrow-2">
            <a:extLst xmlns:a="http://schemas.openxmlformats.org/drawingml/2006/main">
              <a:ext uri="{FF2B5EF4-FFF2-40B4-BE49-F238E27FC236}">
                <a16:creationId xmlns:a16="http://schemas.microsoft.com/office/drawing/2014/main" id="{543833CD-B382-4160-BC7D-A33438E7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4574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61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demo-n-3">
            <a:extLst xmlns:a="http://schemas.openxmlformats.org/drawingml/2006/main">
              <a:ext uri="{FF2B5EF4-FFF2-40B4-BE49-F238E27FC236}">
                <a16:creationId xmlns:a16="http://schemas.microsoft.com/office/drawing/2014/main" id="{1E59BC9F-93C4-487F-A907-6203380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57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6D3"/>
          </a:solidFill>
          <a:ln xmlns:a="http://schemas.openxmlformats.org/drawingml/2006/main" w="0">
            <a:solidFill>
              <a:srgbClr val="1666D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81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demo-box-3">
            <a:extLst xmlns:a="http://schemas.openxmlformats.org/drawingml/2006/main">
              <a:ext uri="{FF2B5EF4-FFF2-40B4-BE49-F238E27FC236}">
                <a16:creationId xmlns:a16="http://schemas.microsoft.com/office/drawing/2014/main" id="{F643479B-1109-4D63-BB13-887BA56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28850"/>
            <a:ext cx="1295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Coach 生成建议</a:t>
            </a:r>
          </a:p>
        </p:txBody>
      </p:sp>
      <p:sp>
        <p:nvSpPr>
          <p:cNvPr id="15" name="demo-arrow-3">
            <a:extLst xmlns:a="http://schemas.openxmlformats.org/drawingml/2006/main">
              <a:ext uri="{FF2B5EF4-FFF2-40B4-BE49-F238E27FC236}">
                <a16:creationId xmlns:a16="http://schemas.microsoft.com/office/drawing/2014/main" id="{A4682CCF-4851-48EF-803B-9896138B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574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61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demo-n-4">
            <a:extLst xmlns:a="http://schemas.openxmlformats.org/drawingml/2006/main">
              <a:ext uri="{FF2B5EF4-FFF2-40B4-BE49-F238E27FC236}">
                <a16:creationId xmlns:a16="http://schemas.microsoft.com/office/drawing/2014/main" id="{4DCB3FBD-8890-4276-9EB8-D36C0D7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57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838"/>
          </a:solidFill>
          <a:ln xmlns:a="http://schemas.openxmlformats.org/drawingml/2006/main" w="0">
            <a:solidFill>
              <a:srgbClr val="C8383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81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demo-box-4">
            <a:extLst xmlns:a="http://schemas.openxmlformats.org/drawingml/2006/main">
              <a:ext uri="{FF2B5EF4-FFF2-40B4-BE49-F238E27FC236}">
                <a16:creationId xmlns:a16="http://schemas.microsoft.com/office/drawing/2014/main" id="{83F15E70-ED21-4345-80F2-73402305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28850"/>
            <a:ext cx="1295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Audit 阻断</a:t>
            </a:r>
          </a:p>
        </p:txBody>
      </p:sp>
      <p:sp>
        <p:nvSpPr>
          <p:cNvPr id="18" name="demo-arrow-4">
            <a:extLst xmlns:a="http://schemas.openxmlformats.org/drawingml/2006/main">
              <a:ext uri="{FF2B5EF4-FFF2-40B4-BE49-F238E27FC236}">
                <a16:creationId xmlns:a16="http://schemas.microsoft.com/office/drawing/2014/main" id="{53CE5216-CA0F-4AE1-A6B6-1020B8F2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574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61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demo-n-5">
            <a:extLst xmlns:a="http://schemas.openxmlformats.org/drawingml/2006/main">
              <a:ext uri="{FF2B5EF4-FFF2-40B4-BE49-F238E27FC236}">
                <a16:creationId xmlns:a16="http://schemas.microsoft.com/office/drawing/2014/main" id="{C27C6D87-2E20-4289-B8A4-31C43EE2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16865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81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0" name="demo-box-5">
            <a:extLst xmlns:a="http://schemas.openxmlformats.org/drawingml/2006/main">
              <a:ext uri="{FF2B5EF4-FFF2-40B4-BE49-F238E27FC236}">
                <a16:creationId xmlns:a16="http://schemas.microsoft.com/office/drawing/2014/main" id="{844251AB-2EF3-4497-8A84-D05EDA2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1295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人工修复批准</a:t>
            </a:r>
          </a:p>
        </p:txBody>
      </p:sp>
      <p:sp>
        <p:nvSpPr>
          <p:cNvPr id="21" name="demo-arrow-5">
            <a:extLst xmlns:a="http://schemas.openxmlformats.org/drawingml/2006/main">
              <a:ext uri="{FF2B5EF4-FFF2-40B4-BE49-F238E27FC236}">
                <a16:creationId xmlns:a16="http://schemas.microsoft.com/office/drawing/2014/main" id="{52198B4E-5253-4B14-A88C-67B30B22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574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61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demo-n-6">
            <a:extLst xmlns:a="http://schemas.openxmlformats.org/drawingml/2006/main">
              <a:ext uri="{FF2B5EF4-FFF2-40B4-BE49-F238E27FC236}">
                <a16:creationId xmlns:a16="http://schemas.microsoft.com/office/drawing/2014/main" id="{D6434F4E-4BEE-4B21-994E-6FC4F45A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657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16865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81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3" name="demo-box-6">
            <a:extLst xmlns:a="http://schemas.openxmlformats.org/drawingml/2006/main">
              <a:ext uri="{FF2B5EF4-FFF2-40B4-BE49-F238E27FC236}">
                <a16:creationId xmlns:a16="http://schemas.microsoft.com/office/drawing/2014/main" id="{1B066B55-536B-4CF9-98A7-757BEC42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28850"/>
            <a:ext cx="1295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报告 + Trace</a:t>
            </a:r>
          </a:p>
        </p:txBody>
      </p:sp>
      <p:sp>
        <p:nvSpPr>
          <p:cNvPr id="24" name="demo-exception">
            <a:extLst xmlns:a="http://schemas.openxmlformats.org/drawingml/2006/main">
              <a:ext uri="{FF2B5EF4-FFF2-40B4-BE49-F238E27FC236}">
                <a16:creationId xmlns:a16="http://schemas.microsoft.com/office/drawing/2014/main" id="{39D67DD7-FA93-476A-BE2E-6EF06DEB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08585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demo-ex-title">
            <a:extLst xmlns:a="http://schemas.openxmlformats.org/drawingml/2006/main">
              <a:ext uri="{FF2B5EF4-FFF2-40B4-BE49-F238E27FC236}">
                <a16:creationId xmlns:a16="http://schemas.microsoft.com/office/drawing/2014/main" id="{A520B2CC-3045-48FA-BD4A-EB249D27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固定异常：建议中出现材料未支持的“提升 30%”</a:t>
            </a:r>
          </a:p>
        </p:txBody>
      </p:sp>
      <p:sp>
        <p:nvSpPr>
          <p:cNvPr id="26" name="demo-ex-body">
            <a:extLst xmlns:a="http://schemas.openxmlformats.org/drawingml/2006/main">
              <a:ext uri="{FF2B5EF4-FFF2-40B4-BE49-F238E27FC236}">
                <a16:creationId xmlns:a16="http://schemas.microsoft.com/office/drawing/2014/main" id="{4583109C-3E2E-4739-A723-B8D04F9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38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Audit → BLOCK → 回传 evidence_gap → Coach 删除无证据数字 → 用户确认 → PASS</a:t>
            </a:r>
          </a:p>
        </p:txBody>
      </p:sp>
      <p:sp>
        <p:nvSpPr>
          <p:cNvPr id="27" name="offline">
            <a:extLst xmlns:a="http://schemas.openxmlformats.org/drawingml/2006/main">
              <a:ext uri="{FF2B5EF4-FFF2-40B4-BE49-F238E27FC236}">
                <a16:creationId xmlns:a16="http://schemas.microsoft.com/office/drawing/2014/main" id="{F76D54C4-7A26-49AF-A8F6-21481AC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2428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3B75"/>
          </a:solidFill>
          <a:ln xmlns:a="http://schemas.openxmlformats.org/drawingml/2006/main" w="0">
            <a:solidFill>
              <a:srgbClr val="0B3B7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离线确定性模式</a:t>
            </a:r>
          </a:p>
        </p:txBody>
      </p:sp>
      <p:sp>
        <p:nvSpPr>
          <p:cNvPr id="28" name="offline-desc">
            <a:extLst xmlns:a="http://schemas.openxmlformats.org/drawingml/2006/main">
              <a:ext uri="{FF2B5EF4-FFF2-40B4-BE49-F238E27FC236}">
                <a16:creationId xmlns:a16="http://schemas.microsoft.com/office/drawing/2014/main" id="{3CD74C9D-38CF-4EB3-9C17-942BA6E0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3911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保证评审现场可复现</a:t>
            </a:r>
          </a:p>
        </p:txBody>
      </p:sp>
      <p:sp>
        <p:nvSpPr>
          <p:cNvPr id="29" name="online">
            <a:extLst xmlns:a="http://schemas.openxmlformats.org/drawingml/2006/main">
              <a:ext uri="{FF2B5EF4-FFF2-40B4-BE49-F238E27FC236}">
                <a16:creationId xmlns:a16="http://schemas.microsoft.com/office/drawing/2014/main" id="{770427FA-8071-4152-BCA9-9503FE3A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2590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1666D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在线 AgentTeams 模式</a:t>
            </a:r>
          </a:p>
        </p:txBody>
      </p:sp>
      <p:sp>
        <p:nvSpPr>
          <p:cNvPr id="30" name="online-desc">
            <a:extLst xmlns:a="http://schemas.openxmlformats.org/drawingml/2006/main">
              <a:ext uri="{FF2B5EF4-FFF2-40B4-BE49-F238E27FC236}">
                <a16:creationId xmlns:a16="http://schemas.microsoft.com/office/drawing/2014/main" id="{1BBA2675-50BE-4D0A-981A-6BC45638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911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展示真实协作、重试与追踪</a:t>
            </a:r>
          </a:p>
        </p:txBody>
      </p:sp>
      <p:sp>
        <p:nvSpPr>
          <p:cNvPr id="31" name="footer-12">
            <a:extLst xmlns:a="http://schemas.openxmlformats.org/drawingml/2006/main">
              <a:ext uri="{FF2B5EF4-FFF2-40B4-BE49-F238E27FC236}">
                <a16:creationId xmlns:a16="http://schemas.microsoft.com/office/drawing/2014/main" id="{0180D700-C9A6-49FE-BA53-BA443FF1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32" name="page-12">
            <a:extLst xmlns:a="http://schemas.openxmlformats.org/drawingml/2006/main">
              <a:ext uri="{FF2B5EF4-FFF2-40B4-BE49-F238E27FC236}">
                <a16:creationId xmlns:a16="http://schemas.microsoft.com/office/drawing/2014/main" id="{61B51EBC-C83C-41C8-9D72-A15D649C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78961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89E2F4E1-9AE0-426D-B9DE-897EBCA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1EB5C7F7-0B8B-4124-A144-C2D98588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用固定数据集验证可靠性，而不是只录成功视频</a:t>
            </a:r>
          </a:p>
        </p:txBody>
      </p:sp>
      <p:cxnSp>
        <p:nvCxnSpPr>
          <p:cNvPr id="28" name="header-line-13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target-disclaimer">
            <a:extLst xmlns:a="http://schemas.openxmlformats.org/drawingml/2006/main">
              <a:ext uri="{FF2B5EF4-FFF2-40B4-BE49-F238E27FC236}">
                <a16:creationId xmlns:a16="http://schemas.microsoft.com/office/drawing/2014/main" id="{9C279EC4-4C81-4451-9D44-52961E9E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2571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复赛验收目标｜尚未实测</a:t>
            </a:r>
          </a:p>
        </p:txBody>
      </p:sp>
      <p:sp>
        <p:nvSpPr>
          <p:cNvPr id="5" name="metric-0">
            <a:extLst xmlns:a="http://schemas.openxmlformats.org/drawingml/2006/main">
              <a:ext uri="{FF2B5EF4-FFF2-40B4-BE49-F238E27FC236}">
                <a16:creationId xmlns:a16="http://schemas.microsoft.com/office/drawing/2014/main" id="{22D01F08-0F70-423A-BE1D-925BE9F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metric-num-0">
            <a:extLst xmlns:a="http://schemas.openxmlformats.org/drawingml/2006/main">
              <a:ext uri="{FF2B5EF4-FFF2-40B4-BE49-F238E27FC236}">
                <a16:creationId xmlns:a16="http://schemas.microsoft.com/office/drawing/2014/main" id="{7F97A311-1E37-4825-9979-DF451EE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3009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7DD772E1-3539-4392-9935-1243543F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重要结论证据覆盖率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AAF07F70-07D0-4AB3-AF2A-87CB545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8120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metric-num-1">
            <a:extLst xmlns:a="http://schemas.openxmlformats.org/drawingml/2006/main">
              <a:ext uri="{FF2B5EF4-FFF2-40B4-BE49-F238E27FC236}">
                <a16:creationId xmlns:a16="http://schemas.microsoft.com/office/drawing/2014/main" id="{6133667A-B18E-4482-86E7-9D44657E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3009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47EEF2-7B53-4F15-B92C-1E0FA440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虚构经历放行率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8BEF2AA4-94FE-4083-8271-9AEB5DE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8120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metric-num-2">
            <a:extLst xmlns:a="http://schemas.openxmlformats.org/drawingml/2006/main">
              <a:ext uri="{FF2B5EF4-FFF2-40B4-BE49-F238E27FC236}">
                <a16:creationId xmlns:a16="http://schemas.microsoft.com/office/drawing/2014/main" id="{6C9A36EA-A955-461B-8659-C9EA926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71700"/>
            <a:ext cx="3009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3838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1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795E0CF-AE7E-4C8E-91A5-3D5D8F6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歧视条件进入评分率</a:t>
            </a:r>
          </a:p>
        </p:txBody>
      </p:sp>
      <p:sp>
        <p:nvSpPr>
          <p:cNvPr id="14" name="metric-3">
            <a:extLst xmlns:a="http://schemas.openxmlformats.org/drawingml/2006/main">
              <a:ext uri="{FF2B5EF4-FFF2-40B4-BE49-F238E27FC236}">
                <a16:creationId xmlns:a16="http://schemas.microsoft.com/office/drawing/2014/main" id="{5FDFDB80-1955-41CF-8140-768AF662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metric-num-3">
            <a:extLst xmlns:a="http://schemas.openxmlformats.org/drawingml/2006/main">
              <a:ext uri="{FF2B5EF4-FFF2-40B4-BE49-F238E27FC236}">
                <a16:creationId xmlns:a16="http://schemas.microsoft.com/office/drawing/2014/main" id="{D876DB57-FE73-4301-87AA-43C4FA4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3009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≥90%</a:t>
            </a:r>
          </a:p>
        </p:txBody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4C3CAB3-EC96-47FF-97DF-88D730AA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完整任务成功率</a:t>
            </a:r>
          </a:p>
        </p:txBody>
      </p:sp>
      <p:sp>
        <p:nvSpPr>
          <p:cNvPr id="17" name="metric-4">
            <a:extLst xmlns:a="http://schemas.openxmlformats.org/drawingml/2006/main">
              <a:ext uri="{FF2B5EF4-FFF2-40B4-BE49-F238E27FC236}">
                <a16:creationId xmlns:a16="http://schemas.microsoft.com/office/drawing/2014/main" id="{DE3CC01A-B84F-4C15-952D-928124E4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metric-num-4">
            <a:extLst xmlns:a="http://schemas.openxmlformats.org/drawingml/2006/main">
              <a:ext uri="{FF2B5EF4-FFF2-40B4-BE49-F238E27FC236}">
                <a16:creationId xmlns:a16="http://schemas.microsoft.com/office/drawing/2014/main" id="{0D66E191-760E-45A6-8C73-87A64567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3009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≥95%</a:t>
            </a:r>
          </a:p>
        </p:txBody>
      </p:sp>
      <p:sp>
        <p:nvSpPr>
          <p:cNvPr id="19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4383D30C-604F-45BD-AB13-672FC45F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0535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Tool 调用成功率</a:t>
            </a:r>
          </a:p>
        </p:txBody>
      </p:sp>
      <p:sp>
        <p:nvSpPr>
          <p:cNvPr id="20" name="metric-5">
            <a:extLst xmlns:a="http://schemas.openxmlformats.org/drawingml/2006/main">
              <a:ext uri="{FF2B5EF4-FFF2-40B4-BE49-F238E27FC236}">
                <a16:creationId xmlns:a16="http://schemas.microsoft.com/office/drawing/2014/main" id="{001540AE-F3F0-46CD-9240-7C66384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metric-num-5">
            <a:extLst xmlns:a="http://schemas.openxmlformats.org/drawingml/2006/main">
              <a:ext uri="{FF2B5EF4-FFF2-40B4-BE49-F238E27FC236}">
                <a16:creationId xmlns:a16="http://schemas.microsoft.com/office/drawing/2014/main" id="{836970F1-E064-4654-91E6-26DF1F3C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09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2" name="metric-label-5">
            <a:extLst xmlns:a="http://schemas.openxmlformats.org/drawingml/2006/main">
              <a:ext uri="{FF2B5EF4-FFF2-40B4-BE49-F238E27FC236}">
                <a16:creationId xmlns:a16="http://schemas.microsoft.com/office/drawing/2014/main" id="{CBCF9F00-ABB4-4F84-95BC-2379E359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导出审批覆盖率</a:t>
            </a:r>
          </a:p>
        </p:txBody>
      </p:sp>
      <p:sp>
        <p:nvSpPr>
          <p:cNvPr id="23" name="metric-method">
            <a:extLst xmlns:a="http://schemas.openxmlformats.org/drawingml/2006/main">
              <a:ext uri="{FF2B5EF4-FFF2-40B4-BE49-F238E27FC236}">
                <a16:creationId xmlns:a16="http://schemas.microsoft.com/office/drawing/2014/main" id="{85878B90-CA1B-41E0-9813-3E8A3AD9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固定合成数据集 + 正常用例 + 缺证用例 + 工具失败用例 + 歧视条件用例 + 危机信号用例</a:t>
            </a:r>
          </a:p>
        </p:txBody>
      </p:sp>
      <p:sp>
        <p:nvSpPr>
          <p:cNvPr id="24" name="footer-13">
            <a:extLst xmlns:a="http://schemas.openxmlformats.org/drawingml/2006/main">
              <a:ext uri="{FF2B5EF4-FFF2-40B4-BE49-F238E27FC236}">
                <a16:creationId xmlns:a16="http://schemas.microsoft.com/office/drawing/2014/main" id="{AB63AD46-CA0F-4032-BF3D-831B5AFE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自主协同｜目标值，尚未实测</a:t>
            </a:r>
          </a:p>
        </p:txBody>
      </p:sp>
      <p:sp>
        <p:nvSpPr>
          <p:cNvPr id="25" name="page-13">
            <a:extLst xmlns:a="http://schemas.openxmlformats.org/drawingml/2006/main">
              <a:ext uri="{FF2B5EF4-FFF2-40B4-BE49-F238E27FC236}">
                <a16:creationId xmlns:a16="http://schemas.microsoft.com/office/drawing/2014/main" id="{153AB684-7C2F-4832-8AA2-1F43255C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934794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14">
            <a:extLst xmlns:a="http://schemas.openxmlformats.org/drawingml/2006/main">
              <a:ext uri="{FF2B5EF4-FFF2-40B4-BE49-F238E27FC236}">
                <a16:creationId xmlns:a16="http://schemas.microsoft.com/office/drawing/2014/main" id="{7C307FBE-BA64-4FF3-ADC9-8411DAE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CAMPUSMATCH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7224152-FEDB-4AB3-9A61-53CA461A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从高校场景出发，开放一套可信求职 Agent Infra</a:t>
            </a:r>
          </a:p>
        </p:txBody>
      </p:sp>
      <p:cxnSp>
        <p:nvCxnSpPr>
          <p:cNvPr id="29" name="header-line-14"/>
          <p:cNvCxnSpPr/>
          <p:nvPr/>
        </p:nvCxnSpPr>
        <p:spPr>
          <a:xfrm xmlns:a="http://schemas.openxmlformats.org/drawingml/2006/main">
            <a:off x="495300" y="12192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out-num-0">
            <a:extLst xmlns:a="http://schemas.openxmlformats.org/drawingml/2006/main">
              <a:ext uri="{FF2B5EF4-FFF2-40B4-BE49-F238E27FC236}">
                <a16:creationId xmlns:a16="http://schemas.microsoft.com/office/drawing/2014/main" id="{D1016212-01F0-4151-8108-A97064F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out-0">
            <a:extLst xmlns:a="http://schemas.openxmlformats.org/drawingml/2006/main">
              <a:ext uri="{FF2B5EF4-FFF2-40B4-BE49-F238E27FC236}">
                <a16:creationId xmlns:a16="http://schemas.microsoft.com/office/drawing/2014/main" id="{9C517DEF-8D1E-4BEA-B10D-1876C31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out-title-0">
            <a:extLst xmlns:a="http://schemas.openxmlformats.org/drawingml/2006/main">
              <a:ext uri="{FF2B5EF4-FFF2-40B4-BE49-F238E27FC236}">
                <a16:creationId xmlns:a16="http://schemas.microsoft.com/office/drawing/2014/main" id="{E6F460D2-8036-47B9-A374-5DAF5738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7" name="out-body-0">
            <a:extLst xmlns:a="http://schemas.openxmlformats.org/drawingml/2006/main">
              <a:ext uri="{FF2B5EF4-FFF2-40B4-BE49-F238E27FC236}">
                <a16:creationId xmlns:a16="http://schemas.microsoft.com/office/drawing/2014/main" id="{4CB05975-D845-4635-A677-65F13D4A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六类 Agent 的职责、输入、输出与边界</a:t>
            </a:r>
          </a:p>
        </p:txBody>
      </p:sp>
      <p:sp>
        <p:nvSpPr>
          <p:cNvPr id="8" name="out-num-1">
            <a:extLst xmlns:a="http://schemas.openxmlformats.org/drawingml/2006/main">
              <a:ext uri="{FF2B5EF4-FFF2-40B4-BE49-F238E27FC236}">
                <a16:creationId xmlns:a16="http://schemas.microsoft.com/office/drawing/2014/main" id="{49140809-CC9B-4CD9-8BB8-AE786800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85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out-1">
            <a:extLst xmlns:a="http://schemas.openxmlformats.org/drawingml/2006/main">
              <a:ext uri="{FF2B5EF4-FFF2-40B4-BE49-F238E27FC236}">
                <a16:creationId xmlns:a16="http://schemas.microsoft.com/office/drawing/2014/main" id="{8E2064E9-EEA5-4419-92BE-466C96EF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669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out-title-1">
            <a:extLst xmlns:a="http://schemas.openxmlformats.org/drawingml/2006/main">
              <a:ext uri="{FF2B5EF4-FFF2-40B4-BE49-F238E27FC236}">
                <a16:creationId xmlns:a16="http://schemas.microsoft.com/office/drawing/2014/main" id="{E339FBFC-D0FE-43E0-8619-CF67FFEB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11" name="out-body-1">
            <a:extLst xmlns:a="http://schemas.openxmlformats.org/drawingml/2006/main">
              <a:ext uri="{FF2B5EF4-FFF2-40B4-BE49-F238E27FC236}">
                <a16:creationId xmlns:a16="http://schemas.microsoft.com/office/drawing/2014/main" id="{8EF2BBC5-EAF6-4445-A590-850C204F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527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证据抽取、匹配、审计和导出流程</a:t>
            </a:r>
          </a:p>
        </p:txBody>
      </p:sp>
      <p:sp>
        <p:nvSpPr>
          <p:cNvPr id="12" name="out-num-2">
            <a:extLst xmlns:a="http://schemas.openxmlformats.org/drawingml/2006/main">
              <a:ext uri="{FF2B5EF4-FFF2-40B4-BE49-F238E27FC236}">
                <a16:creationId xmlns:a16="http://schemas.microsoft.com/office/drawing/2014/main" id="{629D1333-B4E2-4EDC-9227-194504F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85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out-2">
            <a:extLst xmlns:a="http://schemas.openxmlformats.org/drawingml/2006/main">
              <a:ext uri="{FF2B5EF4-FFF2-40B4-BE49-F238E27FC236}">
                <a16:creationId xmlns:a16="http://schemas.microsoft.com/office/drawing/2014/main" id="{9B047B67-96C7-49F0-9DEE-5C4E636A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669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out-title-2">
            <a:extLst xmlns:a="http://schemas.openxmlformats.org/drawingml/2006/main">
              <a:ext uri="{FF2B5EF4-FFF2-40B4-BE49-F238E27FC236}">
                <a16:creationId xmlns:a16="http://schemas.microsoft.com/office/drawing/2014/main" id="{0F08E44B-C4CC-4463-9E5A-4CF6F01B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Schemas</a:t>
            </a:r>
          </a:p>
        </p:txBody>
      </p:sp>
      <p:sp>
        <p:nvSpPr>
          <p:cNvPr id="15" name="out-body-2">
            <a:extLst xmlns:a="http://schemas.openxmlformats.org/drawingml/2006/main">
              <a:ext uri="{FF2B5EF4-FFF2-40B4-BE49-F238E27FC236}">
                <a16:creationId xmlns:a16="http://schemas.microsoft.com/office/drawing/2014/main" id="{7E832283-7BC7-4602-BDBF-5E041935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任务信封、证据对象、匹配矩阵与 Trace</a:t>
            </a:r>
          </a:p>
        </p:txBody>
      </p:sp>
      <p:sp>
        <p:nvSpPr>
          <p:cNvPr id="16" name="out-num-3">
            <a:extLst xmlns:a="http://schemas.openxmlformats.org/drawingml/2006/main">
              <a:ext uri="{FF2B5EF4-FFF2-40B4-BE49-F238E27FC236}">
                <a16:creationId xmlns:a16="http://schemas.microsoft.com/office/drawing/2014/main" id="{467270FF-B258-4081-85CA-3ED33A2E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85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out-3">
            <a:extLst xmlns:a="http://schemas.openxmlformats.org/drawingml/2006/main">
              <a:ext uri="{FF2B5EF4-FFF2-40B4-BE49-F238E27FC236}">
                <a16:creationId xmlns:a16="http://schemas.microsoft.com/office/drawing/2014/main" id="{BFEE7D00-81CE-4A4B-B44F-F58C53B6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669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out-title-3">
            <a:extLst xmlns:a="http://schemas.openxmlformats.org/drawingml/2006/main">
              <a:ext uri="{FF2B5EF4-FFF2-40B4-BE49-F238E27FC236}">
                <a16:creationId xmlns:a16="http://schemas.microsoft.com/office/drawing/2014/main" id="{F98690FD-3099-4FBB-ACB8-6FF31752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3B75"/>
                </a:solidFill>
                <a:latin typeface="Microsoft YaHei"/>
                <a:ea typeface="Microsoft YaHei"/>
                <a:cs typeface="Microsoft YaHei"/>
              </a:rPr>
              <a:t>Eval</a:t>
            </a:r>
          </a:p>
        </p:txBody>
      </p:sp>
      <p:sp>
        <p:nvSpPr>
          <p:cNvPr id="19" name="out-body-3">
            <a:extLst xmlns:a="http://schemas.openxmlformats.org/drawingml/2006/main">
              <a:ext uri="{FF2B5EF4-FFF2-40B4-BE49-F238E27FC236}">
                <a16:creationId xmlns:a16="http://schemas.microsoft.com/office/drawing/2014/main" id="{B99F97C7-D3F7-4627-9924-28E5C65F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合成数据、测试用例、适配器与回放样例</a:t>
            </a:r>
          </a:p>
        </p:txBody>
      </p:sp>
      <p:sp>
        <p:nvSpPr>
          <p:cNvPr id="20" name="close-statement">
            <a:extLst xmlns:a="http://schemas.openxmlformats.org/drawingml/2006/main">
              <a:ext uri="{FF2B5EF4-FFF2-40B4-BE49-F238E27FC236}">
                <a16:creationId xmlns:a16="http://schemas.microsoft.com/office/drawing/2014/main" id="{7DE2797D-2973-4BF1-943C-DDCE81F7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975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不替学生编造经历，不替企业自动淘汰；</a:t>
            </a:r>
          </a:p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让每一次匹配都有证据，让每一次自动化都能被人接管。</a:t>
            </a:r>
          </a:p>
        </p:txBody>
      </p:sp>
      <p:sp>
        <p:nvSpPr>
          <p:cNvPr id="21" name="close-scope1">
            <a:extLst xmlns:a="http://schemas.openxmlformats.org/drawingml/2006/main">
              <a:ext uri="{FF2B5EF4-FFF2-40B4-BE49-F238E27FC236}">
                <a16:creationId xmlns:a16="http://schemas.microsoft.com/office/drawing/2014/main" id="{D9FCF8E6-21CC-4603-BDC6-DAE6D753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3405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66D3"/>
                </a:solidFill>
                <a:latin typeface="Microsoft YaHei"/>
                <a:ea typeface="Microsoft YaHei"/>
                <a:cs typeface="Microsoft YaHei"/>
              </a:rPr>
              <a:t>高校就业中心</a:t>
            </a:r>
          </a:p>
        </p:txBody>
      </p:sp>
      <p:sp>
        <p:nvSpPr>
          <p:cNvPr id="22" name="close-scope2">
            <a:extLst xmlns:a="http://schemas.openxmlformats.org/drawingml/2006/main">
              <a:ext uri="{FF2B5EF4-FFF2-40B4-BE49-F238E27FC236}">
                <a16:creationId xmlns:a16="http://schemas.microsoft.com/office/drawing/2014/main" id="{33987CA6-86B0-4936-8D18-D8807154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3405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F2ECFF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047B8"/>
                </a:solidFill>
                <a:latin typeface="Microsoft YaHei"/>
                <a:ea typeface="Microsoft YaHei"/>
                <a:cs typeface="Microsoft YaHei"/>
              </a:rPr>
              <a:t>职业培训</a:t>
            </a:r>
          </a:p>
        </p:txBody>
      </p:sp>
      <p:sp>
        <p:nvSpPr>
          <p:cNvPr id="23" name="close-scope3">
            <a:extLst xmlns:a="http://schemas.openxmlformats.org/drawingml/2006/main">
              <a:ext uri="{FF2B5EF4-FFF2-40B4-BE49-F238E27FC236}">
                <a16:creationId xmlns:a16="http://schemas.microsoft.com/office/drawing/2014/main" id="{9D5719C9-F22A-44A6-ADE8-855A29C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3405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8F7F0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65B"/>
                </a:solidFill>
                <a:latin typeface="Microsoft YaHei"/>
                <a:ea typeface="Microsoft YaHei"/>
                <a:cs typeface="Microsoft YaHei"/>
              </a:rPr>
              <a:t>校招平台</a:t>
            </a:r>
          </a:p>
        </p:txBody>
      </p:sp>
      <p:sp>
        <p:nvSpPr>
          <p:cNvPr id="24" name="close-scope4">
            <a:extLst xmlns:a="http://schemas.openxmlformats.org/drawingml/2006/main">
              <a:ext uri="{FF2B5EF4-FFF2-40B4-BE49-F238E27FC236}">
                <a16:creationId xmlns:a16="http://schemas.microsoft.com/office/drawing/2014/main" id="{698C21C0-56B5-4C34-8394-074F113B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3B75"/>
          </a:solidFill>
          <a:ln xmlns:a="http://schemas.openxmlformats.org/drawingml/2006/main" w="9525">
            <a:solidFill>
              <a:srgbClr val="0B3B75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可信求职 Infra</a:t>
            </a:r>
          </a:p>
        </p:txBody>
      </p:sp>
      <p:sp>
        <p:nvSpPr>
          <p:cNvPr id="25" name="footer-14">
            <a:extLst xmlns:a="http://schemas.openxmlformats.org/drawingml/2006/main">
              <a:ext uri="{FF2B5EF4-FFF2-40B4-BE49-F238E27FC236}">
                <a16:creationId xmlns:a16="http://schemas.microsoft.com/office/drawing/2014/main" id="{9789C085-78BF-49A8-8CD1-58961E3E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复杂任务多 Agent 自主协同｜初赛方案</a:t>
            </a:r>
          </a:p>
        </p:txBody>
      </p:sp>
      <p:sp>
        <p:nvSpPr>
          <p:cNvPr id="26" name="page-14">
            <a:extLst xmlns:a="http://schemas.openxmlformats.org/drawingml/2006/main">
              <a:ext uri="{FF2B5EF4-FFF2-40B4-BE49-F238E27FC236}">
                <a16:creationId xmlns:a16="http://schemas.microsoft.com/office/drawing/2014/main" id="{0C847598-5A7C-4008-B765-306DC8A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10817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2026-08-14T03:05:12.7880000Z</dcterms:created>
  <dcterms:modified xsi:type="dcterms:W3CDTF">2026-08-14T03:05:12.7880000Z</dcterms:modified>
</coreProperties>
</file>