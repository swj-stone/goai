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96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radarChart>
        <c:radarStyle val="marker"/>
        <c:varyColors val="1"/>
        <c:ser>
          <c:idx val="0"/>
          <c:order val="0"/>
          <c:tx>
            <c:v>合成候选人</c:v>
          </c:tx>
          <c:spPr>
            <a:ln w="28575">
              <a:solidFill>
                <a:srgbClr val="1666D3"/>
              </a:solidFill>
              <a:prstDash val="solid"/>
            </a:ln>
          </c:spPr>
          <c:cat>
            <c:strLit>
              <c:ptCount val="5"/>
              <c:pt idx="0">
                <c:v>硬技能</c:v>
              </c:pt>
              <c:pt idx="1">
                <c:v>项目深度</c:v>
              </c:pt>
              <c:pt idx="2">
                <c:v>领域经验</c:v>
              </c:pt>
              <c:pt idx="3">
                <c:v>协作沟通</c:v>
              </c:pt>
              <c:pt idx="4">
                <c:v>成长潜力</c:v>
              </c:pt>
            </c:strLit>
          </c:cat>
          <c:val>
            <c:numLit>
              <c:formatCode>General</c:formatCode>
              <c:ptCount val="5"/>
              <c:pt idx="0">
                <c:v>80</c:v>
              </c:pt>
              <c:pt idx="1">
                <c:v>70</c:v>
              </c:pt>
              <c:pt idx="2">
                <c:v>85</c:v>
              </c:pt>
              <c:pt idx="3">
                <c:v>65</c:v>
              </c:pt>
              <c:pt idx="4">
                <c:v>78</c:v>
              </c:pt>
            </c:numLit>
          </c:val>
          <c:extLst>
            <c:ext xmlns:c16="http://schemas.microsoft.com/office/drawing/2014/chart" uri="{C3380CC4-5D6E-409C-BE32-E72D297353CC}">
              <c16:uniqueId val="{00000000-E296-409B-A35A-4B01BCCB74B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rad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0"/>
        <c:axPos val="l"/>
        <c:majorGridlines>
          <c:spPr>
            <a:ln w="9525">
              <a:solidFill>
                <a:srgbClr val="D0D5DD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zh-CN"/>
          </a:p>
        </c:txPr>
        <c:crossAx val="48650112"/>
        <c:crosses val="autoZero"/>
        <c:crossBetween val="between"/>
        <c:majorUnit val="20"/>
      </c:valAx>
    </c:plotArea>
    <c:plotVisOnly val="1"/>
    <c:dispBlanksAs val="zero"/>
    <c:showDLblsOverMax val="1"/>
  </c:chart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CampusMatch 不是替学生包装经历的聊天机器人，而是一套面向高校就业服务的多 Agent 基础设施。它连接学生材料、岗位要求、匹配理由、辅导建议和审计记录，让每项结论都能回到证据。</a:t>
            </a:r>
          </a:p>
          <a:p>
            <a:endParaRPr/>
          </a:p>
          <a:p>
            <a:r>
              <a:t>[Sources]</a:t>
            </a:r>
          </a:p>
          <a:p>
            <a:r>
              <a:t>- Cover visual generated with OpenAI image generation for this deck; no external asset URL.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场景不是虚构的。高校就业中心需要在短时间内处理大量学生材料和岗位，同时还要提供个性化服务。问题不是缺一个聊天框，而是缺一套可复核、可协作、可规模化的任务系统。</a:t>
            </a:r>
          </a:p>
          <a:p>
            <a:endParaRPr/>
          </a:p>
          <a:p>
            <a:r>
              <a:t>[Sources]</a:t>
            </a:r>
          </a:p>
          <a:p>
            <a:r>
              <a:t>- https://www.moe.gov.cn/jyb_xwfb/s5147/202606/t20260615_1440719.html</a:t>
            </a:r>
          </a:p>
          <a:p>
            <a:r>
              <a:t>- https://hudong.moe.gov.cn/jyb_xxgk/moe_1777/moe_1779/202604/t20260403_1432954.html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一个黑盒分数无法区分缺证、能力差距和岗位风险，也无法告诉就业老师该如何介入。这正是我们选择证据链作为基础设施核心的原因。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系统从原始材料开始，保留哈希和引用；所有结构化结论、匹配与辅导建议都带着证据走到审计与人工批准。这样每一步都可回放、可质疑、可重做。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任务不是一次问答，而是一条可恢复状态机。每个 Agent 都读写标准任务信封；工具失败会重试，缺材料会向用户提问，高风险条件和无证据事实会进入阻断或人工升级。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Manager 只做目标、编排和汇总，五个 Worker 各自负责单一能力。大文件通过引用共享，不在对话中重复复制；Worker 不持有真实凭据，外部调用经网关治理。人可以进入协作空间观察、纠正和批准。</a:t>
            </a:r>
          </a:p>
          <a:p>
            <a:endParaRPr/>
          </a:p>
          <a:p>
            <a:r>
              <a:t>[Sources]</a:t>
            </a:r>
          </a:p>
          <a:p>
            <a:r>
              <a:t>- https://github.com/agentscope-ai/AgentTeams</a:t>
            </a:r>
          </a:p>
          <a:p>
            <a:r>
              <a:t>- https://hiclaw.io/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把安全规则写在角色边界里，而不是只依赖一段总提示词。特别是 Audit 的 BLOCK 不能被 Manager 静默绕过；如果要继续，只能补证、删改或进入人工审批。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Markdown 便于学生和 AI 共同查看，但原始文件仍只读保留并计算哈希。每项结构化能力都关联区块、原文和确认状态；任何结论都能追到原文，而不是只追到模型回答。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本页使用当前可执行合成案例：岗位匹配度 77、证据覆盖度 85。逐项状态来自真实 Demo 输出；“女性优先”被标记为 POLICY_EXCLUDED，不参与评分。匹配分不代表录用概率，缺少证据不等于缺少能力。</a:t>
            </a:r>
          </a:p>
          <a:p>
            <a:endParaRPr/>
          </a:p>
          <a:p>
            <a:r>
              <a:t>[Sources]</a:t>
            </a:r>
          </a:p>
          <a:p>
            <a:r>
              <a:t>- Internal verification: show/19-Demo实机验收记录.md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Audit 不只是最后一遍敏感词过滤。前置审查处理授权、隐私和岗位公平；后置审查处理事实、证据、内容安全和 Trace。演示中，Coach 写出材料没有支撑的“提升 30%”，系统必须 BLOCK，直到删除或补证并由用户确认。</a:t>
            </a:r>
          </a:p>
          <a:p>
            <a:endParaRPr/>
          </a:p>
          <a:p>
            <a:r>
              <a:t>[Sources]</a:t>
            </a:r>
          </a:p>
          <a:p>
            <a:r>
              <a:t>- https://www.npc.gov.cn/WZWSREL25wYy9jMi9jMzA4MzQvMjAyMTA4L3QyMDIxMDgyMF8zMTMwODguaHRtbD9yZWY9aW1i</a:t>
            </a:r>
          </a:p>
          <a:p>
            <a:r>
              <a:t>- https://app.www.gov.cn/govdata/gov/202408/29/518774/article.html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Skill 不是工具名清单，而是可复用的专家流程：定义输入、输出、失败处理和安全边界。MCP 或等价契约负责连接文件、岗位、知识库和日志。日志侧可接入阿里云 SLS 查询 Skill，便于复赛展示可观测性。</a:t>
            </a:r>
          </a:p>
          <a:p>
            <a:endParaRPr/>
          </a:p>
          <a:p>
            <a:r>
              <a:t>[Sources]</a:t>
            </a:r>
          </a:p>
          <a:p>
            <a:r>
              <a:t>- https://skills.aliyun.com/skills</a:t>
            </a:r>
          </a:p>
          <a:p>
            <a:r>
              <a:t>- https://skills.aliyun.com/skills/alibabacloud-sls-query</a:t>
            </a:r>
          </a:p>
          <a:p>
            <a:r>
              <a:t>- https://opentelemetry.io/docs/specs/semconv/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两条演示路径均已验证：浏览器确定性链路便于非技术评委复现；HiClaw Team 链路由 Career Navigator 委派 Profile、Job、Match、Coach、Audit 五阶段执行。Audit 在未人工批准时返回 BLOCK + APPROVAL_REQUIRED，证明人工门没有被绕过。</a:t>
            </a:r>
          </a:p>
          <a:p>
            <a:endParaRPr/>
          </a:p>
          <a:p>
            <a:r>
              <a:t>[Sources]</a:t>
            </a:r>
          </a:p>
          <a:p>
            <a:r>
              <a:t>- Internal verification: demo/README.md</a:t>
            </a:r>
          </a:p>
          <a:p>
            <a:r>
              <a:t>- Internal verification: show/19-Demo实机验收记录.md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本页只列 2026-08-14 本地实测：50 项自动化测试通过；浏览器控制台 0 错误；风险性别条件 0 次进入评分；六个 Worker MCP 全部健康；真实 Team 的五个专业阶段全部完成；最终业务状态 READY。77/85 是合成案例输出，不代表招聘效果。</a:t>
            </a:r>
          </a:p>
          <a:p>
            <a:endParaRPr/>
          </a:p>
          <a:p>
            <a:r>
              <a:t>[Sources]</a:t>
            </a:r>
          </a:p>
          <a:p>
            <a:r>
              <a:t>- Internal verification: show/19-Demo实机验收记录.md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CampusMatch 从高校就业服务这个真实场景出发，开放 Agent Identity、Skills、Schema、合成数据、评测用例、工具适配器和 Trace 示例。它不替学生编造经历，也不替企业自动淘汰，让每次匹配都有证据，让每次自动化都能被人接管。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rcRect t="112" b="112"/>
          <a:stretch>
            <a:fillRect/>
          </a:stretch>
        </p:blipFill>
        <p:spPr>
          <a:xfrm>
            <a:off x="4762500" y="1476375"/>
            <a:ext cx="7429500" cy="4171950"/>
          </a:xfrm>
          <a:prstGeom prst="rect">
            <a:avLst/>
          </a:prstGeom>
        </p:spPr>
      </p:pic>
      <p:sp>
        <p:nvSpPr>
          <p:cNvPr id="2" name="cover-overlay">
            <a:extLst>
              <a:ext uri="{FF2B5EF4-FFF2-40B4-BE49-F238E27FC236}">
                <a16:creationId xmlns:a16="http://schemas.microsoft.com/office/drawing/2014/main" id="{1670DBF5-743E-42AC-9567-D7A2A38DB9ED}"/>
              </a:ext>
            </a:extLst>
          </p:cNvPr>
          <p:cNvSpPr>
            <a:spLocks noGrp="1"/>
          </p:cNvSpPr>
          <p:nvPr/>
        </p:nvSpPr>
        <p:spPr>
          <a:xfrm>
            <a:off x="4857750" y="0"/>
            <a:ext cx="1428750" cy="6858000"/>
          </a:xfrm>
          <a:prstGeom prst="rect">
            <a:avLst/>
          </a:prstGeom>
          <a:ln w="0">
            <a:noFill/>
            <a:prstDash val="solid"/>
          </a:ln>
        </p:spPr>
      </p:sp>
      <p:sp>
        <p:nvSpPr>
          <p:cNvPr id="3" name="cover-kicker">
            <a:extLst>
              <a:ext uri="{FF2B5EF4-FFF2-40B4-BE49-F238E27FC236}">
                <a16:creationId xmlns:a16="http://schemas.microsoft.com/office/drawing/2014/main" id="{9E7967DD-0843-417F-A561-4891D21C9149}"/>
              </a:ext>
            </a:extLst>
          </p:cNvPr>
          <p:cNvSpPr>
            <a:spLocks noGrp="1"/>
          </p:cNvSpPr>
          <p:nvPr/>
        </p:nvSpPr>
        <p:spPr>
          <a:xfrm>
            <a:off x="571500" y="628650"/>
            <a:ext cx="400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AGENT INFRA · 初赛方案</a:t>
            </a:r>
          </a:p>
        </p:txBody>
      </p:sp>
      <p:sp>
        <p:nvSpPr>
          <p:cNvPr id="4" name="cover-title">
            <a:extLst>
              <a:ext uri="{FF2B5EF4-FFF2-40B4-BE49-F238E27FC236}">
                <a16:creationId xmlns:a16="http://schemas.microsoft.com/office/drawing/2014/main" id="{B58084B1-ECEF-4EA8-B073-73AB077EB258}"/>
              </a:ext>
            </a:extLst>
          </p:cNvPr>
          <p:cNvSpPr>
            <a:spLocks noGrp="1"/>
          </p:cNvSpPr>
          <p:nvPr/>
        </p:nvSpPr>
        <p:spPr>
          <a:xfrm>
            <a:off x="571500" y="1504950"/>
            <a:ext cx="4762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40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CampusMatch</a:t>
            </a:r>
          </a:p>
        </p:txBody>
      </p:sp>
      <p:sp>
        <p:nvSpPr>
          <p:cNvPr id="5" name="cover-cn">
            <a:extLst>
              <a:ext uri="{FF2B5EF4-FFF2-40B4-BE49-F238E27FC236}">
                <a16:creationId xmlns:a16="http://schemas.microsoft.com/office/drawing/2014/main" id="{0A0B1CAE-4C34-4AA1-9078-615EABFC9A81}"/>
              </a:ext>
            </a:extLst>
          </p:cNvPr>
          <p:cNvSpPr>
            <a:spLocks noGrp="1"/>
          </p:cNvSpPr>
          <p:nvPr/>
        </p:nvSpPr>
        <p:spPr>
          <a:xfrm>
            <a:off x="571500" y="2447925"/>
            <a:ext cx="4476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100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rPr>
              <a:t>高校可信求职协同基座</a:t>
            </a:r>
          </a:p>
        </p:txBody>
      </p:sp>
      <p:sp>
        <p:nvSpPr>
          <p:cNvPr id="6" name="cover-thesis">
            <a:extLst>
              <a:ext uri="{FF2B5EF4-FFF2-40B4-BE49-F238E27FC236}">
                <a16:creationId xmlns:a16="http://schemas.microsoft.com/office/drawing/2014/main" id="{2A8D71F1-C857-4FE6-B92F-931F77068D16}"/>
              </a:ext>
            </a:extLst>
          </p:cNvPr>
          <p:cNvSpPr>
            <a:spLocks noGrp="1"/>
          </p:cNvSpPr>
          <p:nvPr/>
        </p:nvSpPr>
        <p:spPr>
          <a:xfrm>
            <a:off x="571500" y="3295650"/>
            <a:ext cx="42862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让每项匹配和建议，都能回到证据。</a:t>
            </a:r>
          </a:p>
        </p:txBody>
      </p:sp>
      <p:sp>
        <p:nvSpPr>
          <p:cNvPr id="7" name="cover-pill1">
            <a:extLst>
              <a:ext uri="{FF2B5EF4-FFF2-40B4-BE49-F238E27FC236}">
                <a16:creationId xmlns:a16="http://schemas.microsoft.com/office/drawing/2014/main" id="{028B1BF0-06C6-4808-AD1C-6DE67DCC70E1}"/>
              </a:ext>
            </a:extLst>
          </p:cNvPr>
          <p:cNvSpPr>
            <a:spLocks noGrp="1"/>
          </p:cNvSpPr>
          <p:nvPr/>
        </p:nvSpPr>
        <p:spPr>
          <a:xfrm>
            <a:off x="571500" y="4333875"/>
            <a:ext cx="1371600" cy="323850"/>
          </a:xfrm>
          <a:prstGeom prst="roundRect">
            <a:avLst>
              <a:gd name="adj" fmla="val 35294"/>
            </a:avLst>
          </a:prstGeom>
          <a:solidFill>
            <a:srgbClr val="EAF2FF"/>
          </a:solidFill>
          <a:ln w="9525">
            <a:solidFill>
              <a:srgbClr val="EAF2FF"/>
            </a:solidFill>
            <a:prstDash val="solid"/>
          </a:ln>
        </p:spPr>
        <p:txBody>
          <a:bodyPr wrap="square" lIns="66675" tIns="38100" rIns="66675" bIns="38100" anchor="ctr">
            <a:normAutofit/>
          </a:bodyPr>
          <a:lstStyle/>
          <a:p>
            <a:pPr algn="ctr">
              <a:buNone/>
              <a:defRPr sz="10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多 Agent 协同</a:t>
            </a:r>
          </a:p>
        </p:txBody>
      </p:sp>
      <p:sp>
        <p:nvSpPr>
          <p:cNvPr id="8" name="cover-pill2">
            <a:extLst>
              <a:ext uri="{FF2B5EF4-FFF2-40B4-BE49-F238E27FC236}">
                <a16:creationId xmlns:a16="http://schemas.microsoft.com/office/drawing/2014/main" id="{4543658F-4DFB-42FA-AAE0-4D872E70D914}"/>
              </a:ext>
            </a:extLst>
          </p:cNvPr>
          <p:cNvSpPr>
            <a:spLocks noGrp="1"/>
          </p:cNvSpPr>
          <p:nvPr/>
        </p:nvSpPr>
        <p:spPr>
          <a:xfrm>
            <a:off x="2057400" y="4333875"/>
            <a:ext cx="1257300" cy="323850"/>
          </a:xfrm>
          <a:prstGeom prst="roundRect">
            <a:avLst>
              <a:gd name="adj" fmla="val 35294"/>
            </a:avLst>
          </a:prstGeom>
          <a:solidFill>
            <a:srgbClr val="E8F7F0"/>
          </a:solidFill>
          <a:ln w="9525">
            <a:solidFill>
              <a:srgbClr val="E8F7F0"/>
            </a:solidFill>
            <a:prstDash val="solid"/>
          </a:ln>
        </p:spPr>
        <p:txBody>
          <a:bodyPr wrap="square" lIns="66675" tIns="38100" rIns="66675" bIns="38100" anchor="ctr">
            <a:normAutofit/>
          </a:bodyPr>
          <a:lstStyle/>
          <a:p>
            <a:pPr algn="ctr">
              <a:buNone/>
              <a:defRPr sz="105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rPr>
              <a:t>全链路审计</a:t>
            </a:r>
          </a:p>
        </p:txBody>
      </p:sp>
      <p:sp>
        <p:nvSpPr>
          <p:cNvPr id="9" name="cover-pill3">
            <a:extLst>
              <a:ext uri="{FF2B5EF4-FFF2-40B4-BE49-F238E27FC236}">
                <a16:creationId xmlns:a16="http://schemas.microsoft.com/office/drawing/2014/main" id="{CE77EC53-DDF2-4ADE-9526-5F1B8C4B242C}"/>
              </a:ext>
            </a:extLst>
          </p:cNvPr>
          <p:cNvSpPr>
            <a:spLocks noGrp="1"/>
          </p:cNvSpPr>
          <p:nvPr/>
        </p:nvSpPr>
        <p:spPr>
          <a:xfrm>
            <a:off x="3429000" y="4333875"/>
            <a:ext cx="1257300" cy="323850"/>
          </a:xfrm>
          <a:prstGeom prst="roundRect">
            <a:avLst>
              <a:gd name="adj" fmla="val 35294"/>
            </a:avLst>
          </a:prstGeom>
          <a:solidFill>
            <a:srgbClr val="F2ECFF"/>
          </a:solidFill>
          <a:ln w="9525">
            <a:solidFill>
              <a:srgbClr val="F2ECFF"/>
            </a:solidFill>
            <a:prstDash val="solid"/>
          </a:ln>
        </p:spPr>
        <p:txBody>
          <a:bodyPr wrap="square" lIns="66675" tIns="38100" rIns="66675" bIns="38100" anchor="ctr">
            <a:normAutofit/>
          </a:bodyPr>
          <a:lstStyle/>
          <a:p>
            <a:pPr algn="ctr">
              <a:buNone/>
              <a:defRPr sz="1050" b="1">
                <a:solidFill>
                  <a:srgbClr val="704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7047B8"/>
                </a:solidFill>
                <a:latin typeface="Microsoft YaHei"/>
                <a:ea typeface="Microsoft YaHei"/>
                <a:cs typeface="Microsoft YaHei"/>
              </a:rPr>
              <a:t>人工可接管</a:t>
            </a:r>
          </a:p>
        </p:txBody>
      </p:sp>
      <p:sp>
        <p:nvSpPr>
          <p:cNvPr id="10" name="cover-foot">
            <a:extLst>
              <a:ext uri="{FF2B5EF4-FFF2-40B4-BE49-F238E27FC236}">
                <a16:creationId xmlns:a16="http://schemas.microsoft.com/office/drawing/2014/main" id="{773EF9CA-8E66-4DA0-9BCE-A35F90C1BCD8}"/>
              </a:ext>
            </a:extLst>
          </p:cNvPr>
          <p:cNvSpPr>
            <a:spLocks noGrp="1"/>
          </p:cNvSpPr>
          <p:nvPr/>
        </p:nvSpPr>
        <p:spPr>
          <a:xfrm>
            <a:off x="571500" y="6115050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面向高校就业中心与在校大学生</a:t>
            </a:r>
          </a:p>
        </p:txBody>
      </p:sp>
    </p:spTree>
    <p:extLst>
      <p:ext uri="{BB962C8B-B14F-4D97-AF65-F5344CB8AC3E}">
        <p14:creationId xmlns:p14="http://schemas.microsoft.com/office/powerpoint/2010/main" val="3338086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kicker-2">
            <a:extLst>
              <a:ext uri="{FF2B5EF4-FFF2-40B4-BE49-F238E27FC236}">
                <a16:creationId xmlns:a16="http://schemas.microsoft.com/office/drawing/2014/main" id="{6094E570-19A3-4E36-8CF0-552BF8D9A0B0}"/>
              </a:ext>
            </a:extLst>
          </p:cNvPr>
          <p:cNvSpPr>
            <a:spLocks noGrp="1"/>
          </p:cNvSpPr>
          <p:nvPr/>
        </p:nvSpPr>
        <p:spPr>
          <a:xfrm>
            <a:off x="495300" y="295275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CAMPUSMATCH</a:t>
            </a:r>
          </a:p>
        </p:txBody>
      </p:sp>
      <p:sp>
        <p:nvSpPr>
          <p:cNvPr id="2" name="title-2">
            <a:extLst>
              <a:ext uri="{FF2B5EF4-FFF2-40B4-BE49-F238E27FC236}">
                <a16:creationId xmlns:a16="http://schemas.microsoft.com/office/drawing/2014/main" id="{E5DAA9C0-7E24-463F-8D67-DECE09174252}"/>
              </a:ext>
            </a:extLst>
          </p:cNvPr>
          <p:cNvSpPr>
            <a:spLocks noGrp="1"/>
          </p:cNvSpPr>
          <p:nvPr/>
        </p:nvSpPr>
        <p:spPr>
          <a:xfrm>
            <a:off x="495300" y="552450"/>
            <a:ext cx="11201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高校需要“精准服务”，但个性化辅导难以规模化</a:t>
            </a:r>
          </a:p>
        </p:txBody>
      </p:sp>
      <p:cxnSp>
        <p:nvCxnSpPr>
          <p:cNvPr id="61" name="header-line-2"/>
          <p:cNvCxnSpPr/>
          <p:nvPr/>
        </p:nvCxnSpPr>
        <p:spPr>
          <a:xfrm>
            <a:off x="495300" y="1219200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scale-panel">
            <a:extLst>
              <a:ext uri="{FF2B5EF4-FFF2-40B4-BE49-F238E27FC236}">
                <a16:creationId xmlns:a16="http://schemas.microsoft.com/office/drawing/2014/main" id="{35B187F5-84D2-41A4-8CDC-E47167D64B26}"/>
              </a:ext>
            </a:extLst>
          </p:cNvPr>
          <p:cNvSpPr>
            <a:spLocks noGrp="1"/>
          </p:cNvSpPr>
          <p:nvPr/>
        </p:nvSpPr>
        <p:spPr>
          <a:xfrm>
            <a:off x="495300" y="1581150"/>
            <a:ext cx="3333750" cy="4191000"/>
          </a:xfrm>
          <a:prstGeom prst="roundRect">
            <a:avLst>
              <a:gd name="adj" fmla="val 3429"/>
            </a:avLst>
          </a:prstGeom>
          <a:solidFill>
            <a:srgbClr val="0B3B75"/>
          </a:solidFill>
          <a:ln w="9525">
            <a:solidFill>
              <a:srgbClr val="0B3B75"/>
            </a:solidFill>
            <a:prstDash val="solid"/>
          </a:ln>
        </p:spPr>
      </p:sp>
      <p:sp>
        <p:nvSpPr>
          <p:cNvPr id="5" name="scale-label">
            <a:extLst>
              <a:ext uri="{FF2B5EF4-FFF2-40B4-BE49-F238E27FC236}">
                <a16:creationId xmlns:a16="http://schemas.microsoft.com/office/drawing/2014/main" id="{2BE74700-3042-4281-A715-CF954ED58A33}"/>
              </a:ext>
            </a:extLst>
          </p:cNvPr>
          <p:cNvSpPr>
            <a:spLocks noGrp="1"/>
          </p:cNvSpPr>
          <p:nvPr/>
        </p:nvSpPr>
        <p:spPr>
          <a:xfrm>
            <a:off x="781050" y="1952625"/>
            <a:ext cx="2762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98039"/>
          </a:bodyPr>
          <a:lstStyle/>
          <a:p>
            <a:pPr algn="ctr">
              <a:buNone/>
              <a:defRPr sz="1275" b="1">
                <a:solidFill>
                  <a:srgbClr val="D9E9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D9E9FF"/>
                </a:solidFill>
                <a:latin typeface="Microsoft YaHei"/>
                <a:ea typeface="Microsoft YaHei"/>
                <a:cs typeface="Microsoft YaHei"/>
              </a:rPr>
              <a:t>2026 届普通高校毕业生</a:t>
            </a:r>
          </a:p>
        </p:txBody>
      </p:sp>
      <p:sp>
        <p:nvSpPr>
          <p:cNvPr id="6" name="scale-number">
            <a:extLst>
              <a:ext uri="{FF2B5EF4-FFF2-40B4-BE49-F238E27FC236}">
                <a16:creationId xmlns:a16="http://schemas.microsoft.com/office/drawing/2014/main" id="{DC303F5F-A171-4986-A3B3-4A808DB6137A}"/>
              </a:ext>
            </a:extLst>
          </p:cNvPr>
          <p:cNvSpPr>
            <a:spLocks noGrp="1"/>
          </p:cNvSpPr>
          <p:nvPr/>
        </p:nvSpPr>
        <p:spPr>
          <a:xfrm>
            <a:off x="685800" y="2381250"/>
            <a:ext cx="29527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5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1,270</a:t>
            </a:r>
          </a:p>
        </p:txBody>
      </p:sp>
      <p:sp>
        <p:nvSpPr>
          <p:cNvPr id="7" name="scale-unit">
            <a:extLst>
              <a:ext uri="{FF2B5EF4-FFF2-40B4-BE49-F238E27FC236}">
                <a16:creationId xmlns:a16="http://schemas.microsoft.com/office/drawing/2014/main" id="{3FFA957D-F808-44C6-AC66-77537794019E}"/>
              </a:ext>
            </a:extLst>
          </p:cNvPr>
          <p:cNvSpPr>
            <a:spLocks noGrp="1"/>
          </p:cNvSpPr>
          <p:nvPr/>
        </p:nvSpPr>
        <p:spPr>
          <a:xfrm>
            <a:off x="876300" y="3457575"/>
            <a:ext cx="25717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/>
          </a:bodyPr>
          <a:lstStyle/>
          <a:p>
            <a:pPr algn="ctr">
              <a:buNone/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万人 · 预计规模</a:t>
            </a:r>
          </a:p>
        </p:txBody>
      </p:sp>
      <p:cxnSp>
        <p:nvCxnSpPr>
          <p:cNvPr id="66" name="scale-rule"/>
          <p:cNvCxnSpPr/>
          <p:nvPr/>
        </p:nvCxnSpPr>
        <p:spPr>
          <a:xfrm>
            <a:off x="933450" y="4171950"/>
            <a:ext cx="2457450" cy="0"/>
          </a:xfrm>
          <a:prstGeom prst="straightConnector1">
            <a:avLst/>
          </a:prstGeom>
          <a:ln w="9525">
            <a:solidFill>
              <a:srgbClr val="5F83AD"/>
            </a:solidFill>
            <a:prstDash val="solid"/>
          </a:ln>
        </p:spPr>
      </p:cxnSp>
      <p:sp>
        <p:nvSpPr>
          <p:cNvPr id="9" name="scale-note">
            <a:extLst>
              <a:ext uri="{FF2B5EF4-FFF2-40B4-BE49-F238E27FC236}">
                <a16:creationId xmlns:a16="http://schemas.microsoft.com/office/drawing/2014/main" id="{27612CC7-480F-48E5-BA5C-AD04FCB8AE32}"/>
              </a:ext>
            </a:extLst>
          </p:cNvPr>
          <p:cNvSpPr>
            <a:spLocks noGrp="1"/>
          </p:cNvSpPr>
          <p:nvPr/>
        </p:nvSpPr>
        <p:spPr>
          <a:xfrm>
            <a:off x="781050" y="4410075"/>
            <a:ext cx="27622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350" b="0">
                <a:solidFill>
                  <a:srgbClr val="D9E9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D9E9FF"/>
                </a:solidFill>
                <a:latin typeface="Microsoft YaHei"/>
                <a:ea typeface="Microsoft YaHei"/>
                <a:cs typeface="Microsoft YaHei"/>
              </a:rPr>
              <a:t>规模扩大之外，政策要求持续强调</a:t>
            </a:r>
          </a:p>
          <a:p>
            <a:pPr algn="ctr">
              <a:buNone/>
              <a:defRPr sz="1350" b="0">
                <a:solidFill>
                  <a:srgbClr val="D9E9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D9E9FF"/>
                </a:solidFill>
                <a:latin typeface="Microsoft YaHei"/>
                <a:ea typeface="Microsoft YaHei"/>
                <a:cs typeface="Microsoft YaHei"/>
              </a:rPr>
              <a:t>专业化、精准化就业服务</a:t>
            </a:r>
          </a:p>
        </p:txBody>
      </p:sp>
      <p:sp>
        <p:nvSpPr>
          <p:cNvPr id="10" name="ctx-num-0">
            <a:extLst>
              <a:ext uri="{FF2B5EF4-FFF2-40B4-BE49-F238E27FC236}">
                <a16:creationId xmlns:a16="http://schemas.microsoft.com/office/drawing/2014/main" id="{40368EBC-531E-4A83-B555-71475C42DE6A}"/>
              </a:ext>
            </a:extLst>
          </p:cNvPr>
          <p:cNvSpPr>
            <a:spLocks noGrp="1"/>
          </p:cNvSpPr>
          <p:nvPr/>
        </p:nvSpPr>
        <p:spPr>
          <a:xfrm>
            <a:off x="4333875" y="1685925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1" name="ctx-title-0">
            <a:extLst>
              <a:ext uri="{FF2B5EF4-FFF2-40B4-BE49-F238E27FC236}">
                <a16:creationId xmlns:a16="http://schemas.microsoft.com/office/drawing/2014/main" id="{9C0069CA-DA24-454E-88CF-92DB78B9AD28}"/>
              </a:ext>
            </a:extLst>
          </p:cNvPr>
          <p:cNvSpPr>
            <a:spLocks noGrp="1"/>
          </p:cNvSpPr>
          <p:nvPr/>
        </p:nvSpPr>
        <p:spPr>
          <a:xfrm>
            <a:off x="4876800" y="1619250"/>
            <a:ext cx="5334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材料非结构化</a:t>
            </a:r>
          </a:p>
        </p:txBody>
      </p:sp>
      <p:sp>
        <p:nvSpPr>
          <p:cNvPr id="12" name="ctx-sub-0">
            <a:extLst>
              <a:ext uri="{FF2B5EF4-FFF2-40B4-BE49-F238E27FC236}">
                <a16:creationId xmlns:a16="http://schemas.microsoft.com/office/drawing/2014/main" id="{87D4EAC0-0ABB-4677-AD8F-450735479A56}"/>
              </a:ext>
            </a:extLst>
          </p:cNvPr>
          <p:cNvSpPr>
            <a:spLocks noGrp="1"/>
          </p:cNvSpPr>
          <p:nvPr/>
        </p:nvSpPr>
        <p:spPr>
          <a:xfrm>
            <a:off x="4876800" y="2095500"/>
            <a:ext cx="6000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简历、课程、项目、证书格式各异</a:t>
            </a:r>
          </a:p>
        </p:txBody>
      </p:sp>
      <p:cxnSp>
        <p:nvCxnSpPr>
          <p:cNvPr id="71" name="ctx-line-0"/>
          <p:cNvCxnSpPr/>
          <p:nvPr/>
        </p:nvCxnSpPr>
        <p:spPr>
          <a:xfrm>
            <a:off x="4333875" y="2733675"/>
            <a:ext cx="68580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14" name="ctx-num-1">
            <a:extLst>
              <a:ext uri="{FF2B5EF4-FFF2-40B4-BE49-F238E27FC236}">
                <a16:creationId xmlns:a16="http://schemas.microsoft.com/office/drawing/2014/main" id="{2DF48FCD-3D76-47BD-8B5C-6B1FE8EBE1B8}"/>
              </a:ext>
            </a:extLst>
          </p:cNvPr>
          <p:cNvSpPr>
            <a:spLocks noGrp="1"/>
          </p:cNvSpPr>
          <p:nvPr/>
        </p:nvSpPr>
        <p:spPr>
          <a:xfrm>
            <a:off x="4333875" y="304800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5" name="ctx-title-1">
            <a:extLst>
              <a:ext uri="{FF2B5EF4-FFF2-40B4-BE49-F238E27FC236}">
                <a16:creationId xmlns:a16="http://schemas.microsoft.com/office/drawing/2014/main" id="{0B8B6B1D-43A1-48FB-89ED-2766502B6D3D}"/>
              </a:ext>
            </a:extLst>
          </p:cNvPr>
          <p:cNvSpPr>
            <a:spLocks noGrp="1"/>
          </p:cNvSpPr>
          <p:nvPr/>
        </p:nvSpPr>
        <p:spPr>
          <a:xfrm>
            <a:off x="4876800" y="2981325"/>
            <a:ext cx="5334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岗位快速变化</a:t>
            </a:r>
          </a:p>
        </p:txBody>
      </p:sp>
      <p:sp>
        <p:nvSpPr>
          <p:cNvPr id="16" name="ctx-sub-1">
            <a:extLst>
              <a:ext uri="{FF2B5EF4-FFF2-40B4-BE49-F238E27FC236}">
                <a16:creationId xmlns:a16="http://schemas.microsoft.com/office/drawing/2014/main" id="{7AAF1E80-1EBA-4B5A-812B-2D7DF763EDCB}"/>
              </a:ext>
            </a:extLst>
          </p:cNvPr>
          <p:cNvSpPr>
            <a:spLocks noGrp="1"/>
          </p:cNvSpPr>
          <p:nvPr/>
        </p:nvSpPr>
        <p:spPr>
          <a:xfrm>
            <a:off x="4876800" y="3457575"/>
            <a:ext cx="6000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JD 模糊、要求冲突、风险条件混杂</a:t>
            </a:r>
          </a:p>
        </p:txBody>
      </p:sp>
      <p:cxnSp>
        <p:nvCxnSpPr>
          <p:cNvPr id="75" name="ctx-line-1"/>
          <p:cNvCxnSpPr/>
          <p:nvPr/>
        </p:nvCxnSpPr>
        <p:spPr>
          <a:xfrm>
            <a:off x="4333875" y="4095750"/>
            <a:ext cx="68580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18" name="ctx-num-2">
            <a:extLst>
              <a:ext uri="{FF2B5EF4-FFF2-40B4-BE49-F238E27FC236}">
                <a16:creationId xmlns:a16="http://schemas.microsoft.com/office/drawing/2014/main" id="{1C23A6E2-52D1-4937-9C16-E4648B4A6DE0}"/>
              </a:ext>
            </a:extLst>
          </p:cNvPr>
          <p:cNvSpPr>
            <a:spLocks noGrp="1"/>
          </p:cNvSpPr>
          <p:nvPr/>
        </p:nvSpPr>
        <p:spPr>
          <a:xfrm>
            <a:off x="4333875" y="4410075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9" name="ctx-title-2">
            <a:extLst>
              <a:ext uri="{FF2B5EF4-FFF2-40B4-BE49-F238E27FC236}">
                <a16:creationId xmlns:a16="http://schemas.microsoft.com/office/drawing/2014/main" id="{FEACAACF-A10C-4295-8BBF-E45CE58E6954}"/>
              </a:ext>
            </a:extLst>
          </p:cNvPr>
          <p:cNvSpPr>
            <a:spLocks noGrp="1"/>
          </p:cNvSpPr>
          <p:nvPr/>
        </p:nvSpPr>
        <p:spPr>
          <a:xfrm>
            <a:off x="4876800" y="4343400"/>
            <a:ext cx="5334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辅导高并发</a:t>
            </a:r>
          </a:p>
        </p:txBody>
      </p:sp>
      <p:sp>
        <p:nvSpPr>
          <p:cNvPr id="20" name="ctx-sub-2">
            <a:extLst>
              <a:ext uri="{FF2B5EF4-FFF2-40B4-BE49-F238E27FC236}">
                <a16:creationId xmlns:a16="http://schemas.microsoft.com/office/drawing/2014/main" id="{F2CEA066-BDA8-4019-9E9B-DDA610916E3D}"/>
              </a:ext>
            </a:extLst>
          </p:cNvPr>
          <p:cNvSpPr>
            <a:spLocks noGrp="1"/>
          </p:cNvSpPr>
          <p:nvPr/>
        </p:nvSpPr>
        <p:spPr>
          <a:xfrm>
            <a:off x="4876800" y="4819650"/>
            <a:ext cx="6000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老师难以逐项核对证据并持续跟进</a:t>
            </a:r>
          </a:p>
        </p:txBody>
      </p:sp>
      <p:sp>
        <p:nvSpPr>
          <p:cNvPr id="21" name="source-pill">
            <a:extLst>
              <a:ext uri="{FF2B5EF4-FFF2-40B4-BE49-F238E27FC236}">
                <a16:creationId xmlns:a16="http://schemas.microsoft.com/office/drawing/2014/main" id="{82A2DE31-D4A1-42DC-98D2-90F6C4F35AB3}"/>
              </a:ext>
            </a:extLst>
          </p:cNvPr>
          <p:cNvSpPr>
            <a:spLocks noGrp="1"/>
          </p:cNvSpPr>
          <p:nvPr/>
        </p:nvSpPr>
        <p:spPr>
          <a:xfrm>
            <a:off x="4333875" y="5572125"/>
            <a:ext cx="2667000" cy="323850"/>
          </a:xfrm>
          <a:prstGeom prst="roundRect">
            <a:avLst>
              <a:gd name="adj" fmla="val 35294"/>
            </a:avLst>
          </a:prstGeom>
          <a:solidFill>
            <a:srgbClr val="EAF2FF"/>
          </a:solidFill>
          <a:ln w="9525">
            <a:solidFill>
              <a:srgbClr val="EAF2FF"/>
            </a:solidFill>
            <a:prstDash val="solid"/>
          </a:ln>
        </p:spPr>
        <p:txBody>
          <a:bodyPr wrap="square" lIns="66675" tIns="38100" rIns="66675" bIns="38100" anchor="ctr">
            <a:normAutofit/>
          </a:bodyPr>
          <a:lstStyle/>
          <a:p>
            <a:pPr algn="ctr">
              <a:buNone/>
              <a:defRPr sz="10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真实场景：高校就业服务中心</a:t>
            </a:r>
          </a:p>
        </p:txBody>
      </p:sp>
      <p:sp>
        <p:nvSpPr>
          <p:cNvPr id="22" name="source-hint">
            <a:extLst>
              <a:ext uri="{FF2B5EF4-FFF2-40B4-BE49-F238E27FC236}">
                <a16:creationId xmlns:a16="http://schemas.microsoft.com/office/drawing/2014/main" id="{0604D90B-0D23-4FB8-B7C4-20BCA157B77D}"/>
              </a:ext>
            </a:extLst>
          </p:cNvPr>
          <p:cNvSpPr>
            <a:spLocks noGrp="1"/>
          </p:cNvSpPr>
          <p:nvPr/>
        </p:nvSpPr>
        <p:spPr>
          <a:xfrm>
            <a:off x="9048750" y="5629275"/>
            <a:ext cx="2152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825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资料来源见演讲者备注</a:t>
            </a:r>
          </a:p>
        </p:txBody>
      </p:sp>
      <p:sp>
        <p:nvSpPr>
          <p:cNvPr id="23" name="footer-2">
            <a:extLst>
              <a:ext uri="{FF2B5EF4-FFF2-40B4-BE49-F238E27FC236}">
                <a16:creationId xmlns:a16="http://schemas.microsoft.com/office/drawing/2014/main" id="{438F3430-0702-45C6-947A-B119F4873EF7}"/>
              </a:ext>
            </a:extLst>
          </p:cNvPr>
          <p:cNvSpPr>
            <a:spLocks noGrp="1"/>
          </p:cNvSpPr>
          <p:nvPr/>
        </p:nvSpPr>
        <p:spPr>
          <a:xfrm>
            <a:off x="495300" y="6477000"/>
            <a:ext cx="8572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复杂任务多 Agent 自主协同｜初赛方案</a:t>
            </a:r>
          </a:p>
        </p:txBody>
      </p:sp>
      <p:sp>
        <p:nvSpPr>
          <p:cNvPr id="24" name="page-2">
            <a:extLst>
              <a:ext uri="{FF2B5EF4-FFF2-40B4-BE49-F238E27FC236}">
                <a16:creationId xmlns:a16="http://schemas.microsoft.com/office/drawing/2014/main" id="{E02E2617-ACE5-4FAD-ACEA-B4225CB2087B}"/>
              </a:ext>
            </a:extLst>
          </p:cNvPr>
          <p:cNvSpPr>
            <a:spLocks noGrp="1"/>
          </p:cNvSpPr>
          <p:nvPr/>
        </p:nvSpPr>
        <p:spPr>
          <a:xfrm>
            <a:off x="11144250" y="644842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091867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kicker-3">
            <a:extLst>
              <a:ext uri="{FF2B5EF4-FFF2-40B4-BE49-F238E27FC236}">
                <a16:creationId xmlns:a16="http://schemas.microsoft.com/office/drawing/2014/main" id="{6C593F61-B9DC-4E80-83C3-727BF5BFB9CA}"/>
              </a:ext>
            </a:extLst>
          </p:cNvPr>
          <p:cNvSpPr>
            <a:spLocks noGrp="1"/>
          </p:cNvSpPr>
          <p:nvPr/>
        </p:nvSpPr>
        <p:spPr>
          <a:xfrm>
            <a:off x="495300" y="295275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CAMPUSMATCH</a:t>
            </a:r>
          </a:p>
        </p:txBody>
      </p:sp>
      <p:sp>
        <p:nvSpPr>
          <p:cNvPr id="2" name="title-3">
            <a:extLst>
              <a:ext uri="{FF2B5EF4-FFF2-40B4-BE49-F238E27FC236}">
                <a16:creationId xmlns:a16="http://schemas.microsoft.com/office/drawing/2014/main" id="{E5DC7DA5-273B-48A8-A8D3-B1A586FB43D5}"/>
              </a:ext>
            </a:extLst>
          </p:cNvPr>
          <p:cNvSpPr>
            <a:spLocks noGrp="1"/>
          </p:cNvSpPr>
          <p:nvPr/>
        </p:nvSpPr>
        <p:spPr>
          <a:xfrm>
            <a:off x="495300" y="552450"/>
            <a:ext cx="11201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现有工具把三种不同问题混成一个黑盒分数</a:t>
            </a:r>
          </a:p>
        </p:txBody>
      </p:sp>
      <p:cxnSp>
        <p:nvCxnSpPr>
          <p:cNvPr id="75" name="header-line-3"/>
          <p:cNvCxnSpPr/>
          <p:nvPr/>
        </p:nvCxnSpPr>
        <p:spPr>
          <a:xfrm>
            <a:off x="495300" y="1219200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prob-0">
            <a:extLst>
              <a:ext uri="{FF2B5EF4-FFF2-40B4-BE49-F238E27FC236}">
                <a16:creationId xmlns:a16="http://schemas.microsoft.com/office/drawing/2014/main" id="{951FB684-4565-4503-B406-EDE9ECE391E8}"/>
              </a:ext>
            </a:extLst>
          </p:cNvPr>
          <p:cNvSpPr>
            <a:spLocks noGrp="1"/>
          </p:cNvSpPr>
          <p:nvPr/>
        </p:nvSpPr>
        <p:spPr>
          <a:xfrm>
            <a:off x="495300" y="1676400"/>
            <a:ext cx="2571750" cy="1619250"/>
          </a:xfrm>
          <a:prstGeom prst="roundRect">
            <a:avLst>
              <a:gd name="adj" fmla="val 7059"/>
            </a:avLst>
          </a:prstGeom>
          <a:solidFill>
            <a:srgbClr val="EAF2FF"/>
          </a:solidFill>
          <a:ln w="9525">
            <a:solidFill>
              <a:srgbClr val="EAF2FF"/>
            </a:solidFill>
            <a:prstDash val="solid"/>
          </a:ln>
        </p:spPr>
      </p:sp>
      <p:sp>
        <p:nvSpPr>
          <p:cNvPr id="5" name="prob-letter-0">
            <a:extLst>
              <a:ext uri="{FF2B5EF4-FFF2-40B4-BE49-F238E27FC236}">
                <a16:creationId xmlns:a16="http://schemas.microsoft.com/office/drawing/2014/main" id="{8E56A713-369D-4DB8-B57C-666206363808}"/>
              </a:ext>
            </a:extLst>
          </p:cNvPr>
          <p:cNvSpPr>
            <a:spLocks noGrp="1"/>
          </p:cNvSpPr>
          <p:nvPr/>
        </p:nvSpPr>
        <p:spPr>
          <a:xfrm>
            <a:off x="666750" y="1866900"/>
            <a:ext cx="428625" cy="428625"/>
          </a:xfrm>
          <a:prstGeom prst="ellipse">
            <a:avLst/>
          </a:prstGeom>
          <a:solidFill>
            <a:srgbClr val="1666D3"/>
          </a:solidFill>
          <a:ln w="0">
            <a:solidFill>
              <a:srgbClr val="1666D3"/>
            </a:solidFill>
            <a:prstDash val="solid"/>
          </a:ln>
        </p:spPr>
        <p:txBody>
          <a:bodyPr wrap="square" lIns="76200" tIns="57150" rIns="76200" bIns="57150" anchor="ctr">
            <a:normAutofit fontScale="91758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6" name="prob-title-0">
            <a:extLst>
              <a:ext uri="{FF2B5EF4-FFF2-40B4-BE49-F238E27FC236}">
                <a16:creationId xmlns:a16="http://schemas.microsoft.com/office/drawing/2014/main" id="{1A87F55B-56A0-4E92-950F-5980CDCE54C5}"/>
              </a:ext>
            </a:extLst>
          </p:cNvPr>
          <p:cNvSpPr>
            <a:spLocks noGrp="1"/>
          </p:cNvSpPr>
          <p:nvPr/>
        </p:nvSpPr>
        <p:spPr>
          <a:xfrm>
            <a:off x="1181100" y="1847850"/>
            <a:ext cx="16668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/>
          </a:bodyPr>
          <a:lstStyle/>
          <a:p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简历没写出来</a:t>
            </a:r>
          </a:p>
        </p:txBody>
      </p:sp>
      <p:sp>
        <p:nvSpPr>
          <p:cNvPr id="7" name="prob-sub-0">
            <a:extLst>
              <a:ext uri="{FF2B5EF4-FFF2-40B4-BE49-F238E27FC236}">
                <a16:creationId xmlns:a16="http://schemas.microsoft.com/office/drawing/2014/main" id="{5E147357-22BB-413F-94F2-B9DA403B8A0E}"/>
              </a:ext>
            </a:extLst>
          </p:cNvPr>
          <p:cNvSpPr>
            <a:spLocks noGrp="1"/>
          </p:cNvSpPr>
          <p:nvPr/>
        </p:nvSpPr>
        <p:spPr>
          <a:xfrm>
            <a:off x="685800" y="2600325"/>
            <a:ext cx="21431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27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材料缺证</a:t>
            </a:r>
          </a:p>
        </p:txBody>
      </p:sp>
      <p:sp>
        <p:nvSpPr>
          <p:cNvPr id="8" name="prob-plus-0">
            <a:extLst>
              <a:ext uri="{FF2B5EF4-FFF2-40B4-BE49-F238E27FC236}">
                <a16:creationId xmlns:a16="http://schemas.microsoft.com/office/drawing/2014/main" id="{B2D7DA71-EFB2-4312-BC03-79632288AE16}"/>
              </a:ext>
            </a:extLst>
          </p:cNvPr>
          <p:cNvSpPr>
            <a:spLocks noGrp="1"/>
          </p:cNvSpPr>
          <p:nvPr/>
        </p:nvSpPr>
        <p:spPr>
          <a:xfrm>
            <a:off x="3086100" y="2190750"/>
            <a:ext cx="2952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70773"/>
          </a:bodyPr>
          <a:lstStyle/>
          <a:p>
            <a:pPr algn="ctr">
              <a:buNone/>
              <a:defRPr sz="210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+</a:t>
            </a:r>
          </a:p>
        </p:txBody>
      </p:sp>
      <p:sp>
        <p:nvSpPr>
          <p:cNvPr id="9" name="prob-1">
            <a:extLst>
              <a:ext uri="{FF2B5EF4-FFF2-40B4-BE49-F238E27FC236}">
                <a16:creationId xmlns:a16="http://schemas.microsoft.com/office/drawing/2014/main" id="{0DF4CFF9-BED6-4091-923F-05678DABC268}"/>
              </a:ext>
            </a:extLst>
          </p:cNvPr>
          <p:cNvSpPr>
            <a:spLocks noGrp="1"/>
          </p:cNvSpPr>
          <p:nvPr/>
        </p:nvSpPr>
        <p:spPr>
          <a:xfrm>
            <a:off x="3381375" y="1676400"/>
            <a:ext cx="2571750" cy="1619250"/>
          </a:xfrm>
          <a:prstGeom prst="roundRect">
            <a:avLst>
              <a:gd name="adj" fmla="val 7059"/>
            </a:avLst>
          </a:prstGeom>
          <a:solidFill>
            <a:srgbClr val="FFF5D6"/>
          </a:solidFill>
          <a:ln w="9525">
            <a:solidFill>
              <a:srgbClr val="FFF5D6"/>
            </a:solidFill>
            <a:prstDash val="solid"/>
          </a:ln>
        </p:spPr>
      </p:sp>
      <p:sp>
        <p:nvSpPr>
          <p:cNvPr id="10" name="prob-letter-1">
            <a:extLst>
              <a:ext uri="{FF2B5EF4-FFF2-40B4-BE49-F238E27FC236}">
                <a16:creationId xmlns:a16="http://schemas.microsoft.com/office/drawing/2014/main" id="{46A26707-B3D0-496E-836C-4403A7F6B0E7}"/>
              </a:ext>
            </a:extLst>
          </p:cNvPr>
          <p:cNvSpPr>
            <a:spLocks noGrp="1"/>
          </p:cNvSpPr>
          <p:nvPr/>
        </p:nvSpPr>
        <p:spPr>
          <a:xfrm>
            <a:off x="3552825" y="1866900"/>
            <a:ext cx="428625" cy="428625"/>
          </a:xfrm>
          <a:prstGeom prst="ellipse">
            <a:avLst/>
          </a:prstGeom>
          <a:solidFill>
            <a:srgbClr val="C77800"/>
          </a:solidFill>
          <a:ln w="0">
            <a:solidFill>
              <a:srgbClr val="C77800"/>
            </a:solidFill>
            <a:prstDash val="solid"/>
          </a:ln>
        </p:spPr>
        <p:txBody>
          <a:bodyPr wrap="square" lIns="76200" tIns="57150" rIns="76200" bIns="57150" anchor="ctr">
            <a:normAutofit fontScale="91758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11" name="prob-title-1">
            <a:extLst>
              <a:ext uri="{FF2B5EF4-FFF2-40B4-BE49-F238E27FC236}">
                <a16:creationId xmlns:a16="http://schemas.microsoft.com/office/drawing/2014/main" id="{61C95E89-C1C3-47AD-9535-5334BC8FBFB9}"/>
              </a:ext>
            </a:extLst>
          </p:cNvPr>
          <p:cNvSpPr>
            <a:spLocks noGrp="1"/>
          </p:cNvSpPr>
          <p:nvPr/>
        </p:nvSpPr>
        <p:spPr>
          <a:xfrm>
            <a:off x="4067175" y="1847850"/>
            <a:ext cx="16668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/>
          </a:bodyPr>
          <a:lstStyle/>
          <a:p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学生确实不会</a:t>
            </a:r>
          </a:p>
        </p:txBody>
      </p:sp>
      <p:sp>
        <p:nvSpPr>
          <p:cNvPr id="12" name="prob-sub-1">
            <a:extLst>
              <a:ext uri="{FF2B5EF4-FFF2-40B4-BE49-F238E27FC236}">
                <a16:creationId xmlns:a16="http://schemas.microsoft.com/office/drawing/2014/main" id="{67934171-E343-4920-804B-B6EC646A2AAC}"/>
              </a:ext>
            </a:extLst>
          </p:cNvPr>
          <p:cNvSpPr>
            <a:spLocks noGrp="1"/>
          </p:cNvSpPr>
          <p:nvPr/>
        </p:nvSpPr>
        <p:spPr>
          <a:xfrm>
            <a:off x="3571875" y="2600325"/>
            <a:ext cx="21431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275" b="1">
                <a:solidFill>
                  <a:srgbClr val="C778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77800"/>
                </a:solidFill>
                <a:latin typeface="Microsoft YaHei"/>
                <a:ea typeface="Microsoft YaHei"/>
                <a:cs typeface="Microsoft YaHei"/>
              </a:rPr>
              <a:t>能力差距</a:t>
            </a:r>
          </a:p>
        </p:txBody>
      </p:sp>
      <p:sp>
        <p:nvSpPr>
          <p:cNvPr id="13" name="prob-plus-1">
            <a:extLst>
              <a:ext uri="{FF2B5EF4-FFF2-40B4-BE49-F238E27FC236}">
                <a16:creationId xmlns:a16="http://schemas.microsoft.com/office/drawing/2014/main" id="{A06AB15D-C250-4726-8832-8EB58081C8B0}"/>
              </a:ext>
            </a:extLst>
          </p:cNvPr>
          <p:cNvSpPr>
            <a:spLocks noGrp="1"/>
          </p:cNvSpPr>
          <p:nvPr/>
        </p:nvSpPr>
        <p:spPr>
          <a:xfrm>
            <a:off x="5972175" y="2190750"/>
            <a:ext cx="2952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70773"/>
          </a:bodyPr>
          <a:lstStyle/>
          <a:p>
            <a:pPr algn="ctr">
              <a:buNone/>
              <a:defRPr sz="210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+</a:t>
            </a:r>
          </a:p>
        </p:txBody>
      </p:sp>
      <p:sp>
        <p:nvSpPr>
          <p:cNvPr id="14" name="prob-2">
            <a:extLst>
              <a:ext uri="{FF2B5EF4-FFF2-40B4-BE49-F238E27FC236}">
                <a16:creationId xmlns:a16="http://schemas.microsoft.com/office/drawing/2014/main" id="{F183109C-94CD-460C-BC1E-E7F5137EB6D4}"/>
              </a:ext>
            </a:extLst>
          </p:cNvPr>
          <p:cNvSpPr>
            <a:spLocks noGrp="1"/>
          </p:cNvSpPr>
          <p:nvPr/>
        </p:nvSpPr>
        <p:spPr>
          <a:xfrm>
            <a:off x="6267450" y="1676400"/>
            <a:ext cx="2571750" cy="1619250"/>
          </a:xfrm>
          <a:prstGeom prst="roundRect">
            <a:avLst>
              <a:gd name="adj" fmla="val 7059"/>
            </a:avLst>
          </a:prstGeom>
          <a:solidFill>
            <a:srgbClr val="FDECEC"/>
          </a:solidFill>
          <a:ln w="9525">
            <a:solidFill>
              <a:srgbClr val="FDECEC"/>
            </a:solidFill>
            <a:prstDash val="solid"/>
          </a:ln>
        </p:spPr>
      </p:sp>
      <p:sp>
        <p:nvSpPr>
          <p:cNvPr id="15" name="prob-letter-2">
            <a:extLst>
              <a:ext uri="{FF2B5EF4-FFF2-40B4-BE49-F238E27FC236}">
                <a16:creationId xmlns:a16="http://schemas.microsoft.com/office/drawing/2014/main" id="{B3592119-4CA6-4EB8-A473-BE5CA7A2B21E}"/>
              </a:ext>
            </a:extLst>
          </p:cNvPr>
          <p:cNvSpPr>
            <a:spLocks noGrp="1"/>
          </p:cNvSpPr>
          <p:nvPr/>
        </p:nvSpPr>
        <p:spPr>
          <a:xfrm>
            <a:off x="6438900" y="1866900"/>
            <a:ext cx="428625" cy="428625"/>
          </a:xfrm>
          <a:prstGeom prst="ellipse">
            <a:avLst/>
          </a:prstGeom>
          <a:solidFill>
            <a:srgbClr val="C83838"/>
          </a:solidFill>
          <a:ln w="0">
            <a:solidFill>
              <a:srgbClr val="C83838"/>
            </a:solidFill>
            <a:prstDash val="solid"/>
          </a:ln>
        </p:spPr>
        <p:txBody>
          <a:bodyPr wrap="square" lIns="76200" tIns="57150" rIns="76200" bIns="57150" anchor="ctr">
            <a:normAutofit fontScale="91758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16" name="prob-title-2">
            <a:extLst>
              <a:ext uri="{FF2B5EF4-FFF2-40B4-BE49-F238E27FC236}">
                <a16:creationId xmlns:a16="http://schemas.microsoft.com/office/drawing/2014/main" id="{CBD868E5-D882-494F-B57E-347710C17B3F}"/>
              </a:ext>
            </a:extLst>
          </p:cNvPr>
          <p:cNvSpPr>
            <a:spLocks noGrp="1"/>
          </p:cNvSpPr>
          <p:nvPr/>
        </p:nvSpPr>
        <p:spPr>
          <a:xfrm>
            <a:off x="6953250" y="1847850"/>
            <a:ext cx="16668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/>
          </a:bodyPr>
          <a:lstStyle/>
          <a:p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岗位要求不合理</a:t>
            </a:r>
          </a:p>
        </p:txBody>
      </p:sp>
      <p:sp>
        <p:nvSpPr>
          <p:cNvPr id="17" name="prob-sub-2">
            <a:extLst>
              <a:ext uri="{FF2B5EF4-FFF2-40B4-BE49-F238E27FC236}">
                <a16:creationId xmlns:a16="http://schemas.microsoft.com/office/drawing/2014/main" id="{9C672850-F69C-4121-8D4D-77BFC641AAA4}"/>
              </a:ext>
            </a:extLst>
          </p:cNvPr>
          <p:cNvSpPr>
            <a:spLocks noGrp="1"/>
          </p:cNvSpPr>
          <p:nvPr/>
        </p:nvSpPr>
        <p:spPr>
          <a:xfrm>
            <a:off x="6457950" y="2600325"/>
            <a:ext cx="21431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27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政策风险</a:t>
            </a:r>
          </a:p>
        </p:txBody>
      </p:sp>
      <p:sp>
        <p:nvSpPr>
          <p:cNvPr id="18" name="prob-arrow">
            <a:extLst>
              <a:ext uri="{FF2B5EF4-FFF2-40B4-BE49-F238E27FC236}">
                <a16:creationId xmlns:a16="http://schemas.microsoft.com/office/drawing/2014/main" id="{3936858B-1BB1-4C04-BD5D-F8C908C78ADD}"/>
              </a:ext>
            </a:extLst>
          </p:cNvPr>
          <p:cNvSpPr>
            <a:spLocks noGrp="1"/>
          </p:cNvSpPr>
          <p:nvPr/>
        </p:nvSpPr>
        <p:spPr>
          <a:xfrm>
            <a:off x="9096375" y="2143125"/>
            <a:ext cx="6096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99537"/>
          </a:bodyPr>
          <a:lstStyle/>
          <a:p>
            <a:pPr algn="ctr">
              <a:buNone/>
              <a:defRPr sz="270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9" name="blackbox">
            <a:extLst>
              <a:ext uri="{FF2B5EF4-FFF2-40B4-BE49-F238E27FC236}">
                <a16:creationId xmlns:a16="http://schemas.microsoft.com/office/drawing/2014/main" id="{7424F7DD-72BA-4838-842B-6AC43A17398B}"/>
              </a:ext>
            </a:extLst>
          </p:cNvPr>
          <p:cNvSpPr>
            <a:spLocks noGrp="1"/>
          </p:cNvSpPr>
          <p:nvPr/>
        </p:nvSpPr>
        <p:spPr>
          <a:xfrm>
            <a:off x="9839325" y="1676400"/>
            <a:ext cx="1524000" cy="1619250"/>
          </a:xfrm>
          <a:prstGeom prst="roundRect">
            <a:avLst>
              <a:gd name="adj" fmla="val 7500"/>
            </a:avLst>
          </a:prstGeom>
          <a:solidFill>
            <a:srgbClr val="101828"/>
          </a:solidFill>
          <a:ln w="0">
            <a:solidFill>
              <a:srgbClr val="101828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72</a:t>
            </a:r>
          </a:p>
        </p:txBody>
      </p:sp>
      <p:sp>
        <p:nvSpPr>
          <p:cNvPr id="20" name="blackbox-label">
            <a:extLst>
              <a:ext uri="{FF2B5EF4-FFF2-40B4-BE49-F238E27FC236}">
                <a16:creationId xmlns:a16="http://schemas.microsoft.com/office/drawing/2014/main" id="{B287EFFE-A327-4385-9C77-00DF9890F3F9}"/>
              </a:ext>
            </a:extLst>
          </p:cNvPr>
          <p:cNvSpPr>
            <a:spLocks noGrp="1"/>
          </p:cNvSpPr>
          <p:nvPr/>
        </p:nvSpPr>
        <p:spPr>
          <a:xfrm>
            <a:off x="9886950" y="291465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/>
          </a:bodyPr>
          <a:lstStyle/>
          <a:p>
            <a:pPr algn="ctr">
              <a:buNone/>
              <a:defRPr sz="975" b="1">
                <a:solidFill>
                  <a:srgbClr val="D0D5D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0D5DD"/>
                </a:solidFill>
                <a:latin typeface="Microsoft YaHei"/>
                <a:ea typeface="Microsoft YaHei"/>
                <a:cs typeface="Microsoft YaHei"/>
              </a:rPr>
              <a:t>不可解释的总分</a:t>
            </a:r>
          </a:p>
        </p:txBody>
      </p:sp>
      <p:sp>
        <p:nvSpPr>
          <p:cNvPr id="21" name="principle">
            <a:extLst>
              <a:ext uri="{FF2B5EF4-FFF2-40B4-BE49-F238E27FC236}">
                <a16:creationId xmlns:a16="http://schemas.microsoft.com/office/drawing/2014/main" id="{920FFA81-504C-43CE-953F-F1FC68CE1DFC}"/>
              </a:ext>
            </a:extLst>
          </p:cNvPr>
          <p:cNvSpPr>
            <a:spLocks noGrp="1"/>
          </p:cNvSpPr>
          <p:nvPr/>
        </p:nvSpPr>
        <p:spPr>
          <a:xfrm>
            <a:off x="495300" y="3762375"/>
            <a:ext cx="10858500" cy="1943100"/>
          </a:xfrm>
          <a:prstGeom prst="roundRect">
            <a:avLst>
              <a:gd name="adj" fmla="val 5882"/>
            </a:avLst>
          </a:prstGeom>
          <a:solidFill>
            <a:srgbClr val="FAFAFB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22" name="principle-big">
            <a:extLst>
              <a:ext uri="{FF2B5EF4-FFF2-40B4-BE49-F238E27FC236}">
                <a16:creationId xmlns:a16="http://schemas.microsoft.com/office/drawing/2014/main" id="{893F6E0E-40F4-4FBF-A692-3EEAC85FF5EE}"/>
              </a:ext>
            </a:extLst>
          </p:cNvPr>
          <p:cNvSpPr>
            <a:spLocks noGrp="1"/>
          </p:cNvSpPr>
          <p:nvPr/>
        </p:nvSpPr>
        <p:spPr>
          <a:xfrm>
            <a:off x="790575" y="4114800"/>
            <a:ext cx="4953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l">
              <a:buNone/>
              <a:defRPr sz="2325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rPr>
              <a:t>“没有证据” ≠ “没有能力”</a:t>
            </a:r>
          </a:p>
        </p:txBody>
      </p:sp>
      <p:cxnSp>
        <p:nvCxnSpPr>
          <p:cNvPr id="95" name="principle-divider"/>
          <p:cNvCxnSpPr/>
          <p:nvPr/>
        </p:nvCxnSpPr>
        <p:spPr>
          <a:xfrm>
            <a:off x="6096000" y="4048125"/>
            <a:ext cx="0" cy="112395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24" name="principle-small">
            <a:extLst>
              <a:ext uri="{FF2B5EF4-FFF2-40B4-BE49-F238E27FC236}">
                <a16:creationId xmlns:a16="http://schemas.microsoft.com/office/drawing/2014/main" id="{EC6E0FBA-5399-44AC-ABBB-66F3DD5A93B1}"/>
              </a:ext>
            </a:extLst>
          </p:cNvPr>
          <p:cNvSpPr>
            <a:spLocks noGrp="1"/>
          </p:cNvSpPr>
          <p:nvPr/>
        </p:nvSpPr>
        <p:spPr>
          <a:xfrm>
            <a:off x="6524625" y="4029075"/>
            <a:ext cx="428625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风险条件不能进入评分</a:t>
            </a:r>
          </a:p>
          <a:p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匹配结论必须逐项说明</a:t>
            </a:r>
          </a:p>
          <a:p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系统不能替企业作录用决定</a:t>
            </a:r>
          </a:p>
        </p:txBody>
      </p:sp>
      <p:sp>
        <p:nvSpPr>
          <p:cNvPr id="25" name="footer-3">
            <a:extLst>
              <a:ext uri="{FF2B5EF4-FFF2-40B4-BE49-F238E27FC236}">
                <a16:creationId xmlns:a16="http://schemas.microsoft.com/office/drawing/2014/main" id="{2B838038-CABB-4E10-B43D-D4E498B1A2C6}"/>
              </a:ext>
            </a:extLst>
          </p:cNvPr>
          <p:cNvSpPr>
            <a:spLocks noGrp="1"/>
          </p:cNvSpPr>
          <p:nvPr/>
        </p:nvSpPr>
        <p:spPr>
          <a:xfrm>
            <a:off x="495300" y="6477000"/>
            <a:ext cx="8572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复杂任务多 Agent 自主协同｜初赛方案</a:t>
            </a:r>
          </a:p>
        </p:txBody>
      </p:sp>
      <p:sp>
        <p:nvSpPr>
          <p:cNvPr id="26" name="page-3">
            <a:extLst>
              <a:ext uri="{FF2B5EF4-FFF2-40B4-BE49-F238E27FC236}">
                <a16:creationId xmlns:a16="http://schemas.microsoft.com/office/drawing/2014/main" id="{7380AB8A-CC14-4743-8269-089CFA4C5550}"/>
              </a:ext>
            </a:extLst>
          </p:cNvPr>
          <p:cNvSpPr>
            <a:spLocks noGrp="1"/>
          </p:cNvSpPr>
          <p:nvPr/>
        </p:nvSpPr>
        <p:spPr>
          <a:xfrm>
            <a:off x="11144250" y="644842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991732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kicker-4">
            <a:extLst>
              <a:ext uri="{FF2B5EF4-FFF2-40B4-BE49-F238E27FC236}">
                <a16:creationId xmlns:a16="http://schemas.microsoft.com/office/drawing/2014/main" id="{E84F9F9D-5D48-4762-9AB5-CD3005B7F7E2}"/>
              </a:ext>
            </a:extLst>
          </p:cNvPr>
          <p:cNvSpPr>
            <a:spLocks noGrp="1"/>
          </p:cNvSpPr>
          <p:nvPr/>
        </p:nvSpPr>
        <p:spPr>
          <a:xfrm>
            <a:off x="495300" y="295275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CAMPUSMATCH</a:t>
            </a:r>
          </a:p>
        </p:txBody>
      </p:sp>
      <p:sp>
        <p:nvSpPr>
          <p:cNvPr id="2" name="title-4">
            <a:extLst>
              <a:ext uri="{FF2B5EF4-FFF2-40B4-BE49-F238E27FC236}">
                <a16:creationId xmlns:a16="http://schemas.microsoft.com/office/drawing/2014/main" id="{B7CFF922-0288-4BFD-AE7E-9220053B880F}"/>
              </a:ext>
            </a:extLst>
          </p:cNvPr>
          <p:cNvSpPr>
            <a:spLocks noGrp="1"/>
          </p:cNvSpPr>
          <p:nvPr/>
        </p:nvSpPr>
        <p:spPr>
          <a:xfrm>
            <a:off x="495300" y="552450"/>
            <a:ext cx="11201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CampusMatch 把求职建议变成可回放的证据链</a:t>
            </a:r>
          </a:p>
        </p:txBody>
      </p:sp>
      <p:cxnSp>
        <p:nvCxnSpPr>
          <p:cNvPr id="95" name="header-line-4"/>
          <p:cNvCxnSpPr/>
          <p:nvPr/>
        </p:nvCxnSpPr>
        <p:spPr>
          <a:xfrm>
            <a:off x="495300" y="1219200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chain-num-0">
            <a:extLst>
              <a:ext uri="{FF2B5EF4-FFF2-40B4-BE49-F238E27FC236}">
                <a16:creationId xmlns:a16="http://schemas.microsoft.com/office/drawing/2014/main" id="{3E3B7B24-DB78-42FA-8BA3-43684D60D8B2}"/>
              </a:ext>
            </a:extLst>
          </p:cNvPr>
          <p:cNvSpPr>
            <a:spLocks noGrp="1"/>
          </p:cNvSpPr>
          <p:nvPr/>
        </p:nvSpPr>
        <p:spPr>
          <a:xfrm>
            <a:off x="495300" y="1885950"/>
            <a:ext cx="1104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chain-card-0">
            <a:extLst>
              <a:ext uri="{FF2B5EF4-FFF2-40B4-BE49-F238E27FC236}">
                <a16:creationId xmlns:a16="http://schemas.microsoft.com/office/drawing/2014/main" id="{021E6BD6-3D81-416F-9EBD-12894348A944}"/>
              </a:ext>
            </a:extLst>
          </p:cNvPr>
          <p:cNvSpPr>
            <a:spLocks noGrp="1"/>
          </p:cNvSpPr>
          <p:nvPr/>
        </p:nvSpPr>
        <p:spPr>
          <a:xfrm>
            <a:off x="495300" y="2219325"/>
            <a:ext cx="1104900" cy="1200150"/>
          </a:xfrm>
          <a:prstGeom prst="roundRect">
            <a:avLst>
              <a:gd name="adj" fmla="val 10345"/>
            </a:avLst>
          </a:prstGeom>
          <a:solidFill>
            <a:srgbClr val="EAF2FF"/>
          </a:solidFill>
          <a:ln w="0">
            <a:solidFill>
              <a:srgbClr val="EAF2FF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原始材料</a:t>
            </a:r>
          </a:p>
          <a:p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只读 + 哈希</a:t>
            </a:r>
          </a:p>
        </p:txBody>
      </p:sp>
      <p:sp>
        <p:nvSpPr>
          <p:cNvPr id="6" name="chain-arrow-0">
            <a:extLst>
              <a:ext uri="{FF2B5EF4-FFF2-40B4-BE49-F238E27FC236}">
                <a16:creationId xmlns:a16="http://schemas.microsoft.com/office/drawing/2014/main" id="{ADA11DDD-DDBB-48AB-8A07-1CE47C553C16}"/>
              </a:ext>
            </a:extLst>
          </p:cNvPr>
          <p:cNvSpPr>
            <a:spLocks noGrp="1"/>
          </p:cNvSpPr>
          <p:nvPr/>
        </p:nvSpPr>
        <p:spPr>
          <a:xfrm>
            <a:off x="1609725" y="2581275"/>
            <a:ext cx="276225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 fontScale="65422"/>
          </a:bodyPr>
          <a:lstStyle/>
          <a:p>
            <a:pPr algn="ctr">
              <a:buNone/>
              <a:def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chain-num-1">
            <a:extLst>
              <a:ext uri="{FF2B5EF4-FFF2-40B4-BE49-F238E27FC236}">
                <a16:creationId xmlns:a16="http://schemas.microsoft.com/office/drawing/2014/main" id="{1EB9AF4C-7100-43DA-AFB7-F328F6919490}"/>
              </a:ext>
            </a:extLst>
          </p:cNvPr>
          <p:cNvSpPr>
            <a:spLocks noGrp="1"/>
          </p:cNvSpPr>
          <p:nvPr/>
        </p:nvSpPr>
        <p:spPr>
          <a:xfrm>
            <a:off x="1885950" y="1885950"/>
            <a:ext cx="1104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" name="chain-card-1">
            <a:extLst>
              <a:ext uri="{FF2B5EF4-FFF2-40B4-BE49-F238E27FC236}">
                <a16:creationId xmlns:a16="http://schemas.microsoft.com/office/drawing/2014/main" id="{3B66C7BB-047E-4733-82AF-3D2C2E2A61F7}"/>
              </a:ext>
            </a:extLst>
          </p:cNvPr>
          <p:cNvSpPr>
            <a:spLocks noGrp="1"/>
          </p:cNvSpPr>
          <p:nvPr/>
        </p:nvSpPr>
        <p:spPr>
          <a:xfrm>
            <a:off x="1885950" y="2219325"/>
            <a:ext cx="1104900" cy="1200150"/>
          </a:xfrm>
          <a:prstGeom prst="roundRect">
            <a:avLst>
              <a:gd name="adj" fmla="val 10345"/>
            </a:avLst>
          </a:prstGeom>
          <a:solidFill>
            <a:srgbClr val="EAF2FF"/>
          </a:solidFill>
          <a:ln w="0">
            <a:solidFill>
              <a:srgbClr val="EAF2FF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Markdown</a:t>
            </a:r>
          </a:p>
          <a:p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人机共览</a:t>
            </a:r>
          </a:p>
        </p:txBody>
      </p:sp>
      <p:sp>
        <p:nvSpPr>
          <p:cNvPr id="9" name="chain-arrow-1">
            <a:extLst>
              <a:ext uri="{FF2B5EF4-FFF2-40B4-BE49-F238E27FC236}">
                <a16:creationId xmlns:a16="http://schemas.microsoft.com/office/drawing/2014/main" id="{37ABFF7A-2B10-4562-A907-FCD98B936794}"/>
              </a:ext>
            </a:extLst>
          </p:cNvPr>
          <p:cNvSpPr>
            <a:spLocks noGrp="1"/>
          </p:cNvSpPr>
          <p:nvPr/>
        </p:nvSpPr>
        <p:spPr>
          <a:xfrm>
            <a:off x="3000375" y="2581275"/>
            <a:ext cx="276225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 fontScale="65422"/>
          </a:bodyPr>
          <a:lstStyle/>
          <a:p>
            <a:pPr algn="ctr">
              <a:buNone/>
              <a:def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chain-num-2">
            <a:extLst>
              <a:ext uri="{FF2B5EF4-FFF2-40B4-BE49-F238E27FC236}">
                <a16:creationId xmlns:a16="http://schemas.microsoft.com/office/drawing/2014/main" id="{DC89CFF2-6CD6-48FF-88A5-93EC1A1AC091}"/>
              </a:ext>
            </a:extLst>
          </p:cNvPr>
          <p:cNvSpPr>
            <a:spLocks noGrp="1"/>
          </p:cNvSpPr>
          <p:nvPr/>
        </p:nvSpPr>
        <p:spPr>
          <a:xfrm>
            <a:off x="3276600" y="1885950"/>
            <a:ext cx="1104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1" name="chain-card-2">
            <a:extLst>
              <a:ext uri="{FF2B5EF4-FFF2-40B4-BE49-F238E27FC236}">
                <a16:creationId xmlns:a16="http://schemas.microsoft.com/office/drawing/2014/main" id="{6EFB4C2D-962E-4C72-8B52-8D585B29D8DC}"/>
              </a:ext>
            </a:extLst>
          </p:cNvPr>
          <p:cNvSpPr>
            <a:spLocks noGrp="1"/>
          </p:cNvSpPr>
          <p:nvPr/>
        </p:nvSpPr>
        <p:spPr>
          <a:xfrm>
            <a:off x="3276600" y="2219325"/>
            <a:ext cx="1104900" cy="1200150"/>
          </a:xfrm>
          <a:prstGeom prst="roundRect">
            <a:avLst>
              <a:gd name="adj" fmla="val 10345"/>
            </a:avLst>
          </a:prstGeom>
          <a:solidFill>
            <a:srgbClr val="EAF2FF"/>
          </a:solidFill>
          <a:ln w="0">
            <a:solidFill>
              <a:srgbClr val="EAF2FF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能力证据</a:t>
            </a:r>
          </a:p>
          <a:p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原文锚点</a:t>
            </a:r>
          </a:p>
        </p:txBody>
      </p:sp>
      <p:sp>
        <p:nvSpPr>
          <p:cNvPr id="12" name="chain-arrow-2">
            <a:extLst>
              <a:ext uri="{FF2B5EF4-FFF2-40B4-BE49-F238E27FC236}">
                <a16:creationId xmlns:a16="http://schemas.microsoft.com/office/drawing/2014/main" id="{2BD0136F-AE2F-49DE-BB92-E64F93A48DD4}"/>
              </a:ext>
            </a:extLst>
          </p:cNvPr>
          <p:cNvSpPr>
            <a:spLocks noGrp="1"/>
          </p:cNvSpPr>
          <p:nvPr/>
        </p:nvSpPr>
        <p:spPr>
          <a:xfrm>
            <a:off x="4391025" y="2581275"/>
            <a:ext cx="276225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 fontScale="65422"/>
          </a:bodyPr>
          <a:lstStyle/>
          <a:p>
            <a:pPr algn="ctr">
              <a:buNone/>
              <a:def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chain-num-3">
            <a:extLst>
              <a:ext uri="{FF2B5EF4-FFF2-40B4-BE49-F238E27FC236}">
                <a16:creationId xmlns:a16="http://schemas.microsoft.com/office/drawing/2014/main" id="{81058B5D-1674-44EB-BD29-5A9E334A7339}"/>
              </a:ext>
            </a:extLst>
          </p:cNvPr>
          <p:cNvSpPr>
            <a:spLocks noGrp="1"/>
          </p:cNvSpPr>
          <p:nvPr/>
        </p:nvSpPr>
        <p:spPr>
          <a:xfrm>
            <a:off x="4667250" y="1885950"/>
            <a:ext cx="1104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4" name="chain-card-3">
            <a:extLst>
              <a:ext uri="{FF2B5EF4-FFF2-40B4-BE49-F238E27FC236}">
                <a16:creationId xmlns:a16="http://schemas.microsoft.com/office/drawing/2014/main" id="{337E175C-D250-4F6C-84E6-4DF0B270F258}"/>
              </a:ext>
            </a:extLst>
          </p:cNvPr>
          <p:cNvSpPr>
            <a:spLocks noGrp="1"/>
          </p:cNvSpPr>
          <p:nvPr/>
        </p:nvSpPr>
        <p:spPr>
          <a:xfrm>
            <a:off x="4667250" y="2219325"/>
            <a:ext cx="1104900" cy="1200150"/>
          </a:xfrm>
          <a:prstGeom prst="roundRect">
            <a:avLst>
              <a:gd name="adj" fmla="val 10345"/>
            </a:avLst>
          </a:prstGeom>
          <a:solidFill>
            <a:srgbClr val="EAF2FF"/>
          </a:solidFill>
          <a:ln w="0">
            <a:solidFill>
              <a:srgbClr val="EAF2FF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岗位要求</a:t>
            </a:r>
          </a:p>
          <a:p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分类 + 风险</a:t>
            </a:r>
          </a:p>
        </p:txBody>
      </p:sp>
      <p:sp>
        <p:nvSpPr>
          <p:cNvPr id="15" name="chain-arrow-3">
            <a:extLst>
              <a:ext uri="{FF2B5EF4-FFF2-40B4-BE49-F238E27FC236}">
                <a16:creationId xmlns:a16="http://schemas.microsoft.com/office/drawing/2014/main" id="{452ABA33-A4B8-4852-AB20-0AB960F65D0F}"/>
              </a:ext>
            </a:extLst>
          </p:cNvPr>
          <p:cNvSpPr>
            <a:spLocks noGrp="1"/>
          </p:cNvSpPr>
          <p:nvPr/>
        </p:nvSpPr>
        <p:spPr>
          <a:xfrm>
            <a:off x="5781675" y="2581275"/>
            <a:ext cx="276225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 fontScale="65422"/>
          </a:bodyPr>
          <a:lstStyle/>
          <a:p>
            <a:pPr algn="ctr">
              <a:buNone/>
              <a:def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chain-num-4">
            <a:extLst>
              <a:ext uri="{FF2B5EF4-FFF2-40B4-BE49-F238E27FC236}">
                <a16:creationId xmlns:a16="http://schemas.microsoft.com/office/drawing/2014/main" id="{0F983F18-2D60-4B29-8911-46834CCA4ADD}"/>
              </a:ext>
            </a:extLst>
          </p:cNvPr>
          <p:cNvSpPr>
            <a:spLocks noGrp="1"/>
          </p:cNvSpPr>
          <p:nvPr/>
        </p:nvSpPr>
        <p:spPr>
          <a:xfrm>
            <a:off x="6057900" y="1885950"/>
            <a:ext cx="1104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17" name="chain-card-4">
            <a:extLst>
              <a:ext uri="{FF2B5EF4-FFF2-40B4-BE49-F238E27FC236}">
                <a16:creationId xmlns:a16="http://schemas.microsoft.com/office/drawing/2014/main" id="{CD59702C-4F4A-4630-9486-D656D6A11A00}"/>
              </a:ext>
            </a:extLst>
          </p:cNvPr>
          <p:cNvSpPr>
            <a:spLocks noGrp="1"/>
          </p:cNvSpPr>
          <p:nvPr/>
        </p:nvSpPr>
        <p:spPr>
          <a:xfrm>
            <a:off x="6057900" y="2219325"/>
            <a:ext cx="1104900" cy="1200150"/>
          </a:xfrm>
          <a:prstGeom prst="roundRect">
            <a:avLst>
              <a:gd name="adj" fmla="val 10345"/>
            </a:avLst>
          </a:prstGeom>
          <a:solidFill>
            <a:srgbClr val="EAF2FF"/>
          </a:solidFill>
          <a:ln w="0">
            <a:solidFill>
              <a:srgbClr val="EAF2FF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匹配矩阵</a:t>
            </a:r>
          </a:p>
          <a:p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逐项状态</a:t>
            </a:r>
          </a:p>
        </p:txBody>
      </p:sp>
      <p:sp>
        <p:nvSpPr>
          <p:cNvPr id="18" name="chain-arrow-4">
            <a:extLst>
              <a:ext uri="{FF2B5EF4-FFF2-40B4-BE49-F238E27FC236}">
                <a16:creationId xmlns:a16="http://schemas.microsoft.com/office/drawing/2014/main" id="{D0D20E57-1FBC-4416-BE0E-747F02BBC73F}"/>
              </a:ext>
            </a:extLst>
          </p:cNvPr>
          <p:cNvSpPr>
            <a:spLocks noGrp="1"/>
          </p:cNvSpPr>
          <p:nvPr/>
        </p:nvSpPr>
        <p:spPr>
          <a:xfrm>
            <a:off x="7172325" y="2581275"/>
            <a:ext cx="276225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 fontScale="65422"/>
          </a:bodyPr>
          <a:lstStyle/>
          <a:p>
            <a:pPr algn="ctr">
              <a:buNone/>
              <a:def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9" name="chain-num-5">
            <a:extLst>
              <a:ext uri="{FF2B5EF4-FFF2-40B4-BE49-F238E27FC236}">
                <a16:creationId xmlns:a16="http://schemas.microsoft.com/office/drawing/2014/main" id="{9B8E5503-A936-4914-BD4F-B05F56CD8497}"/>
              </a:ext>
            </a:extLst>
          </p:cNvPr>
          <p:cNvSpPr>
            <a:spLocks noGrp="1"/>
          </p:cNvSpPr>
          <p:nvPr/>
        </p:nvSpPr>
        <p:spPr>
          <a:xfrm>
            <a:off x="7448550" y="1885950"/>
            <a:ext cx="1104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0" name="chain-card-5">
            <a:extLst>
              <a:ext uri="{FF2B5EF4-FFF2-40B4-BE49-F238E27FC236}">
                <a16:creationId xmlns:a16="http://schemas.microsoft.com/office/drawing/2014/main" id="{F14BBE89-2F74-4ACB-B717-A131DD58758E}"/>
              </a:ext>
            </a:extLst>
          </p:cNvPr>
          <p:cNvSpPr>
            <a:spLocks noGrp="1"/>
          </p:cNvSpPr>
          <p:nvPr/>
        </p:nvSpPr>
        <p:spPr>
          <a:xfrm>
            <a:off x="7448550" y="2219325"/>
            <a:ext cx="1104900" cy="1200150"/>
          </a:xfrm>
          <a:prstGeom prst="roundRect">
            <a:avLst>
              <a:gd name="adj" fmla="val 10345"/>
            </a:avLst>
          </a:prstGeom>
          <a:solidFill>
            <a:srgbClr val="EAF2FF"/>
          </a:solidFill>
          <a:ln w="0">
            <a:solidFill>
              <a:srgbClr val="EAF2FF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求职辅导</a:t>
            </a:r>
          </a:p>
          <a:p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只用已证实经历</a:t>
            </a:r>
          </a:p>
        </p:txBody>
      </p:sp>
      <p:sp>
        <p:nvSpPr>
          <p:cNvPr id="21" name="chain-arrow-5">
            <a:extLst>
              <a:ext uri="{FF2B5EF4-FFF2-40B4-BE49-F238E27FC236}">
                <a16:creationId xmlns:a16="http://schemas.microsoft.com/office/drawing/2014/main" id="{2BBD1F18-B96C-4974-8143-65E77038A756}"/>
              </a:ext>
            </a:extLst>
          </p:cNvPr>
          <p:cNvSpPr>
            <a:spLocks noGrp="1"/>
          </p:cNvSpPr>
          <p:nvPr/>
        </p:nvSpPr>
        <p:spPr>
          <a:xfrm>
            <a:off x="8562975" y="2581275"/>
            <a:ext cx="276225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 fontScale="65422"/>
          </a:bodyPr>
          <a:lstStyle/>
          <a:p>
            <a:pPr algn="ctr">
              <a:buNone/>
              <a:def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2" name="chain-num-6">
            <a:extLst>
              <a:ext uri="{FF2B5EF4-FFF2-40B4-BE49-F238E27FC236}">
                <a16:creationId xmlns:a16="http://schemas.microsoft.com/office/drawing/2014/main" id="{20B5A54A-26A7-4A2E-8F0C-CC51452B7DD0}"/>
              </a:ext>
            </a:extLst>
          </p:cNvPr>
          <p:cNvSpPr>
            <a:spLocks noGrp="1"/>
          </p:cNvSpPr>
          <p:nvPr/>
        </p:nvSpPr>
        <p:spPr>
          <a:xfrm>
            <a:off x="8839200" y="1885950"/>
            <a:ext cx="1104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90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23" name="chain-card-6">
            <a:extLst>
              <a:ext uri="{FF2B5EF4-FFF2-40B4-BE49-F238E27FC236}">
                <a16:creationId xmlns:a16="http://schemas.microsoft.com/office/drawing/2014/main" id="{0D923356-1780-4534-8098-EB2654B1CFDD}"/>
              </a:ext>
            </a:extLst>
          </p:cNvPr>
          <p:cNvSpPr>
            <a:spLocks noGrp="1"/>
          </p:cNvSpPr>
          <p:nvPr/>
        </p:nvSpPr>
        <p:spPr>
          <a:xfrm>
            <a:off x="8839200" y="2219325"/>
            <a:ext cx="1104900" cy="1200150"/>
          </a:xfrm>
          <a:prstGeom prst="roundRect">
            <a:avLst>
              <a:gd name="adj" fmla="val 10345"/>
            </a:avLst>
          </a:prstGeom>
          <a:solidFill>
            <a:srgbClr val="FDECEC"/>
          </a:solidFill>
          <a:ln w="0">
            <a:solidFill>
              <a:srgbClr val="FDECEC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Audit</a:t>
            </a:r>
          </a:p>
          <a:p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阻断 / 升级</a:t>
            </a:r>
          </a:p>
        </p:txBody>
      </p:sp>
      <p:sp>
        <p:nvSpPr>
          <p:cNvPr id="24" name="chain-arrow-6">
            <a:extLst>
              <a:ext uri="{FF2B5EF4-FFF2-40B4-BE49-F238E27FC236}">
                <a16:creationId xmlns:a16="http://schemas.microsoft.com/office/drawing/2014/main" id="{CD31872D-67EA-47B2-8F69-E0D37E3284FD}"/>
              </a:ext>
            </a:extLst>
          </p:cNvPr>
          <p:cNvSpPr>
            <a:spLocks noGrp="1"/>
          </p:cNvSpPr>
          <p:nvPr/>
        </p:nvSpPr>
        <p:spPr>
          <a:xfrm>
            <a:off x="9953625" y="2581275"/>
            <a:ext cx="276225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 fontScale="65422"/>
          </a:bodyPr>
          <a:lstStyle/>
          <a:p>
            <a:pPr algn="ctr">
              <a:buNone/>
              <a:def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5" name="chain-num-7">
            <a:extLst>
              <a:ext uri="{FF2B5EF4-FFF2-40B4-BE49-F238E27FC236}">
                <a16:creationId xmlns:a16="http://schemas.microsoft.com/office/drawing/2014/main" id="{70C8AB43-4626-4084-B6C9-F0D71D7186F5}"/>
              </a:ext>
            </a:extLst>
          </p:cNvPr>
          <p:cNvSpPr>
            <a:spLocks noGrp="1"/>
          </p:cNvSpPr>
          <p:nvPr/>
        </p:nvSpPr>
        <p:spPr>
          <a:xfrm>
            <a:off x="10229850" y="1885950"/>
            <a:ext cx="1104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90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26" name="chain-card-7">
            <a:extLst>
              <a:ext uri="{FF2B5EF4-FFF2-40B4-BE49-F238E27FC236}">
                <a16:creationId xmlns:a16="http://schemas.microsoft.com/office/drawing/2014/main" id="{A1B8F432-1AA2-4C5D-8BCB-53A4A431A171}"/>
              </a:ext>
            </a:extLst>
          </p:cNvPr>
          <p:cNvSpPr>
            <a:spLocks noGrp="1"/>
          </p:cNvSpPr>
          <p:nvPr/>
        </p:nvSpPr>
        <p:spPr>
          <a:xfrm>
            <a:off x="10229850" y="2219325"/>
            <a:ext cx="1104900" cy="1200150"/>
          </a:xfrm>
          <a:prstGeom prst="roundRect">
            <a:avLst>
              <a:gd name="adj" fmla="val 10345"/>
            </a:avLst>
          </a:prstGeom>
          <a:solidFill>
            <a:srgbClr val="E8F7F0"/>
          </a:solidFill>
          <a:ln w="0">
            <a:solidFill>
              <a:srgbClr val="E8F7F0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人工批准</a:t>
            </a:r>
          </a:p>
          <a:p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导出与留痕</a:t>
            </a:r>
          </a:p>
        </p:txBody>
      </p:sp>
      <p:cxnSp>
        <p:nvCxnSpPr>
          <p:cNvPr id="119" name="chain-rule"/>
          <p:cNvCxnSpPr/>
          <p:nvPr/>
        </p:nvCxnSpPr>
        <p:spPr>
          <a:xfrm>
            <a:off x="495300" y="3829050"/>
            <a:ext cx="108585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28" name="key-title-0">
            <a:extLst>
              <a:ext uri="{FF2B5EF4-FFF2-40B4-BE49-F238E27FC236}">
                <a16:creationId xmlns:a16="http://schemas.microsoft.com/office/drawing/2014/main" id="{D27B517D-2A34-47DC-BFB2-8794CD5D3785}"/>
              </a:ext>
            </a:extLst>
          </p:cNvPr>
          <p:cNvSpPr>
            <a:spLocks noGrp="1"/>
          </p:cNvSpPr>
          <p:nvPr/>
        </p:nvSpPr>
        <p:spPr>
          <a:xfrm>
            <a:off x="495300" y="4238625"/>
            <a:ext cx="238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93333"/>
          </a:bodyPr>
          <a:lstStyle/>
          <a:p>
            <a:pPr algn="ctr">
              <a:buNone/>
              <a:defRPr sz="1875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rPr>
              <a:t>可追溯</a:t>
            </a:r>
          </a:p>
        </p:txBody>
      </p:sp>
      <p:sp>
        <p:nvSpPr>
          <p:cNvPr id="29" name="key-sub-0">
            <a:extLst>
              <a:ext uri="{FF2B5EF4-FFF2-40B4-BE49-F238E27FC236}">
                <a16:creationId xmlns:a16="http://schemas.microsoft.com/office/drawing/2014/main" id="{611BB4C8-B96E-4705-92FE-AC87351574CC}"/>
              </a:ext>
            </a:extLst>
          </p:cNvPr>
          <p:cNvSpPr>
            <a:spLocks noGrp="1"/>
          </p:cNvSpPr>
          <p:nvPr/>
        </p:nvSpPr>
        <p:spPr>
          <a:xfrm>
            <a:off x="495300" y="4686300"/>
            <a:ext cx="2381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/>
          </a:bodyPr>
          <a:lstStyle/>
          <a:p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每条结论都有 evidence_id</a:t>
            </a:r>
          </a:p>
        </p:txBody>
      </p:sp>
      <p:sp>
        <p:nvSpPr>
          <p:cNvPr id="30" name="key-title-1">
            <a:extLst>
              <a:ext uri="{FF2B5EF4-FFF2-40B4-BE49-F238E27FC236}">
                <a16:creationId xmlns:a16="http://schemas.microsoft.com/office/drawing/2014/main" id="{C0DA616B-85B5-4D4E-82BB-5958BD5E813F}"/>
              </a:ext>
            </a:extLst>
          </p:cNvPr>
          <p:cNvSpPr>
            <a:spLocks noGrp="1"/>
          </p:cNvSpPr>
          <p:nvPr/>
        </p:nvSpPr>
        <p:spPr>
          <a:xfrm>
            <a:off x="3257550" y="4238625"/>
            <a:ext cx="238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93333"/>
          </a:bodyPr>
          <a:lstStyle/>
          <a:p>
            <a:pPr algn="ctr">
              <a:buNone/>
              <a:defRPr sz="1875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rPr>
              <a:t>可解释</a:t>
            </a:r>
          </a:p>
        </p:txBody>
      </p:sp>
      <p:sp>
        <p:nvSpPr>
          <p:cNvPr id="31" name="key-sub-1">
            <a:extLst>
              <a:ext uri="{FF2B5EF4-FFF2-40B4-BE49-F238E27FC236}">
                <a16:creationId xmlns:a16="http://schemas.microsoft.com/office/drawing/2014/main" id="{79AEE0FC-1D8E-4D33-8B36-78DE282DEEA4}"/>
              </a:ext>
            </a:extLst>
          </p:cNvPr>
          <p:cNvSpPr>
            <a:spLocks noGrp="1"/>
          </p:cNvSpPr>
          <p:nvPr/>
        </p:nvSpPr>
        <p:spPr>
          <a:xfrm>
            <a:off x="3257550" y="4686300"/>
            <a:ext cx="2381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/>
          </a:bodyPr>
          <a:lstStyle/>
          <a:p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分数与置信度分开展示</a:t>
            </a:r>
          </a:p>
        </p:txBody>
      </p:sp>
      <p:sp>
        <p:nvSpPr>
          <p:cNvPr id="32" name="key-title-2">
            <a:extLst>
              <a:ext uri="{FF2B5EF4-FFF2-40B4-BE49-F238E27FC236}">
                <a16:creationId xmlns:a16="http://schemas.microsoft.com/office/drawing/2014/main" id="{A93A7E51-B59E-4754-8948-7828D91C5D39}"/>
              </a:ext>
            </a:extLst>
          </p:cNvPr>
          <p:cNvSpPr>
            <a:spLocks noGrp="1"/>
          </p:cNvSpPr>
          <p:nvPr/>
        </p:nvSpPr>
        <p:spPr>
          <a:xfrm>
            <a:off x="6019800" y="4238625"/>
            <a:ext cx="238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93333"/>
          </a:bodyPr>
          <a:lstStyle/>
          <a:p>
            <a:pPr algn="ctr">
              <a:buNone/>
              <a:defRPr sz="1875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rPr>
              <a:t>可审批</a:t>
            </a:r>
          </a:p>
        </p:txBody>
      </p:sp>
      <p:sp>
        <p:nvSpPr>
          <p:cNvPr id="33" name="key-sub-2">
            <a:extLst>
              <a:ext uri="{FF2B5EF4-FFF2-40B4-BE49-F238E27FC236}">
                <a16:creationId xmlns:a16="http://schemas.microsoft.com/office/drawing/2014/main" id="{3FE03977-D486-4E4F-86EF-24800F52739F}"/>
              </a:ext>
            </a:extLst>
          </p:cNvPr>
          <p:cNvSpPr>
            <a:spLocks noGrp="1"/>
          </p:cNvSpPr>
          <p:nvPr/>
        </p:nvSpPr>
        <p:spPr>
          <a:xfrm>
            <a:off x="6019800" y="4686300"/>
            <a:ext cx="2381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/>
          </a:bodyPr>
          <a:lstStyle/>
          <a:p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风险动作必须人确认</a:t>
            </a:r>
          </a:p>
        </p:txBody>
      </p:sp>
      <p:sp>
        <p:nvSpPr>
          <p:cNvPr id="34" name="key-title-3">
            <a:extLst>
              <a:ext uri="{FF2B5EF4-FFF2-40B4-BE49-F238E27FC236}">
                <a16:creationId xmlns:a16="http://schemas.microsoft.com/office/drawing/2014/main" id="{9D33CCAC-0E47-4650-A48B-7FE491976C0F}"/>
              </a:ext>
            </a:extLst>
          </p:cNvPr>
          <p:cNvSpPr>
            <a:spLocks noGrp="1"/>
          </p:cNvSpPr>
          <p:nvPr/>
        </p:nvSpPr>
        <p:spPr>
          <a:xfrm>
            <a:off x="8782050" y="4238625"/>
            <a:ext cx="238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93333"/>
          </a:bodyPr>
          <a:lstStyle/>
          <a:p>
            <a:pPr algn="ctr">
              <a:buNone/>
              <a:defRPr sz="1875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rPr>
              <a:t>可复用</a:t>
            </a:r>
          </a:p>
        </p:txBody>
      </p:sp>
      <p:sp>
        <p:nvSpPr>
          <p:cNvPr id="35" name="key-sub-3">
            <a:extLst>
              <a:ext uri="{FF2B5EF4-FFF2-40B4-BE49-F238E27FC236}">
                <a16:creationId xmlns:a16="http://schemas.microsoft.com/office/drawing/2014/main" id="{0046A6F6-332D-465D-8E63-1854E15F3BE9}"/>
              </a:ext>
            </a:extLst>
          </p:cNvPr>
          <p:cNvSpPr>
            <a:spLocks noGrp="1"/>
          </p:cNvSpPr>
          <p:nvPr/>
        </p:nvSpPr>
        <p:spPr>
          <a:xfrm>
            <a:off x="8782050" y="4686300"/>
            <a:ext cx="2381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/>
          </a:bodyPr>
          <a:lstStyle/>
          <a:p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流程封装为 Skills 与 Schema</a:t>
            </a:r>
          </a:p>
        </p:txBody>
      </p:sp>
      <p:sp>
        <p:nvSpPr>
          <p:cNvPr id="36" name="chain-thesis">
            <a:extLst>
              <a:ext uri="{FF2B5EF4-FFF2-40B4-BE49-F238E27FC236}">
                <a16:creationId xmlns:a16="http://schemas.microsoft.com/office/drawing/2014/main" id="{296F93AB-2C6E-4713-AD7E-DC6F5200BB17}"/>
              </a:ext>
            </a:extLst>
          </p:cNvPr>
          <p:cNvSpPr>
            <a:spLocks noGrp="1"/>
          </p:cNvSpPr>
          <p:nvPr/>
        </p:nvSpPr>
        <p:spPr>
          <a:xfrm>
            <a:off x="3305175" y="5524500"/>
            <a:ext cx="5572125" cy="323850"/>
          </a:xfrm>
          <a:prstGeom prst="roundRect">
            <a:avLst>
              <a:gd name="adj" fmla="val 35294"/>
            </a:avLst>
          </a:prstGeom>
          <a:solidFill>
            <a:srgbClr val="0B3B75"/>
          </a:solidFill>
          <a:ln w="9525">
            <a:solidFill>
              <a:srgbClr val="0B3B75"/>
            </a:solidFill>
            <a:prstDash val="solid"/>
          </a:ln>
        </p:spPr>
        <p:txBody>
          <a:bodyPr wrap="square" lIns="66675" tIns="38100" rIns="66675" bIns="38100" anchor="ctr">
            <a:normAutofit fontScale="98805"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关键基础设施：可验证的证据状态，而不是更长的提示词</a:t>
            </a:r>
          </a:p>
        </p:txBody>
      </p:sp>
      <p:sp>
        <p:nvSpPr>
          <p:cNvPr id="37" name="footer-4">
            <a:extLst>
              <a:ext uri="{FF2B5EF4-FFF2-40B4-BE49-F238E27FC236}">
                <a16:creationId xmlns:a16="http://schemas.microsoft.com/office/drawing/2014/main" id="{74DB73F3-85A8-4698-9FF4-D9297D6E82C0}"/>
              </a:ext>
            </a:extLst>
          </p:cNvPr>
          <p:cNvSpPr>
            <a:spLocks noGrp="1"/>
          </p:cNvSpPr>
          <p:nvPr/>
        </p:nvSpPr>
        <p:spPr>
          <a:xfrm>
            <a:off x="495300" y="6477000"/>
            <a:ext cx="8572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复杂任务多 Agent 自主协同｜初赛方案</a:t>
            </a:r>
          </a:p>
        </p:txBody>
      </p:sp>
      <p:sp>
        <p:nvSpPr>
          <p:cNvPr id="38" name="page-4">
            <a:extLst>
              <a:ext uri="{FF2B5EF4-FFF2-40B4-BE49-F238E27FC236}">
                <a16:creationId xmlns:a16="http://schemas.microsoft.com/office/drawing/2014/main" id="{C072A85A-37A9-466D-BC42-5BC9632CB79E}"/>
              </a:ext>
            </a:extLst>
          </p:cNvPr>
          <p:cNvSpPr>
            <a:spLocks noGrp="1"/>
          </p:cNvSpPr>
          <p:nvPr/>
        </p:nvSpPr>
        <p:spPr>
          <a:xfrm>
            <a:off x="11144250" y="644842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914593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kicker-5">
            <a:extLst>
              <a:ext uri="{FF2B5EF4-FFF2-40B4-BE49-F238E27FC236}">
                <a16:creationId xmlns:a16="http://schemas.microsoft.com/office/drawing/2014/main" id="{41623B47-48F0-4387-975D-45B42A594525}"/>
              </a:ext>
            </a:extLst>
          </p:cNvPr>
          <p:cNvSpPr>
            <a:spLocks noGrp="1"/>
          </p:cNvSpPr>
          <p:nvPr/>
        </p:nvSpPr>
        <p:spPr>
          <a:xfrm>
            <a:off x="495300" y="295275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CAMPUSMATCH</a:t>
            </a:r>
          </a:p>
        </p:txBody>
      </p:sp>
      <p:sp>
        <p:nvSpPr>
          <p:cNvPr id="2" name="title-5">
            <a:extLst>
              <a:ext uri="{FF2B5EF4-FFF2-40B4-BE49-F238E27FC236}">
                <a16:creationId xmlns:a16="http://schemas.microsoft.com/office/drawing/2014/main" id="{8342330D-23A2-4251-BD2A-DB3AFDC42E2C}"/>
              </a:ext>
            </a:extLst>
          </p:cNvPr>
          <p:cNvSpPr>
            <a:spLocks noGrp="1"/>
          </p:cNvSpPr>
          <p:nvPr/>
        </p:nvSpPr>
        <p:spPr>
          <a:xfrm>
            <a:off x="495300" y="552450"/>
            <a:ext cx="11201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一条完整任务链覆盖输入、执行、验证和沉淀</a:t>
            </a:r>
          </a:p>
        </p:txBody>
      </p:sp>
      <p:cxnSp>
        <p:nvCxnSpPr>
          <p:cNvPr id="38" name="header-line-5"/>
          <p:cNvCxnSpPr/>
          <p:nvPr/>
        </p:nvCxnSpPr>
        <p:spPr>
          <a:xfrm>
            <a:off x="495300" y="1219200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stage-0">
            <a:extLst>
              <a:ext uri="{FF2B5EF4-FFF2-40B4-BE49-F238E27FC236}">
                <a16:creationId xmlns:a16="http://schemas.microsoft.com/office/drawing/2014/main" id="{78A73ECE-837A-4D6F-81BC-74AAE44FF14F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1104900" cy="952500"/>
          </a:xfrm>
          <a:prstGeom prst="roundRect">
            <a:avLst>
              <a:gd name="adj" fmla="val 12000"/>
            </a:avLst>
          </a:prstGeom>
          <a:solidFill>
            <a:srgbClr val="EAF2FF"/>
          </a:solidFill>
          <a:ln w="0">
            <a:solidFill>
              <a:srgbClr val="EAF2FF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授权</a:t>
            </a:r>
          </a:p>
          <a:p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目标</a:t>
            </a:r>
          </a:p>
        </p:txBody>
      </p:sp>
      <p:sp>
        <p:nvSpPr>
          <p:cNvPr id="5" name="stage-arrow-0">
            <a:extLst>
              <a:ext uri="{FF2B5EF4-FFF2-40B4-BE49-F238E27FC236}">
                <a16:creationId xmlns:a16="http://schemas.microsoft.com/office/drawing/2014/main" id="{15AE6ADD-8AB5-4692-ADAF-7F363BF742B9}"/>
              </a:ext>
            </a:extLst>
          </p:cNvPr>
          <p:cNvSpPr>
            <a:spLocks noGrp="1"/>
          </p:cNvSpPr>
          <p:nvPr/>
        </p:nvSpPr>
        <p:spPr>
          <a:xfrm>
            <a:off x="1609725" y="1943100"/>
            <a:ext cx="2762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 fontScale="65422"/>
          </a:bodyPr>
          <a:lstStyle/>
          <a:p>
            <a:pPr algn="ctr">
              <a:buNone/>
              <a:def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stage-1">
            <a:extLst>
              <a:ext uri="{FF2B5EF4-FFF2-40B4-BE49-F238E27FC236}">
                <a16:creationId xmlns:a16="http://schemas.microsoft.com/office/drawing/2014/main" id="{65C6B8F6-F8EC-4091-900F-C062C9DC0BC0}"/>
              </a:ext>
            </a:extLst>
          </p:cNvPr>
          <p:cNvSpPr>
            <a:spLocks noGrp="1"/>
          </p:cNvSpPr>
          <p:nvPr/>
        </p:nvSpPr>
        <p:spPr>
          <a:xfrm>
            <a:off x="1885950" y="1657350"/>
            <a:ext cx="1104900" cy="952500"/>
          </a:xfrm>
          <a:prstGeom prst="roundRect">
            <a:avLst>
              <a:gd name="adj" fmla="val 12000"/>
            </a:avLst>
          </a:prstGeom>
          <a:solidFill>
            <a:srgbClr val="EAF2FF"/>
          </a:solidFill>
          <a:ln w="0">
            <a:solidFill>
              <a:srgbClr val="EAF2FF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文档</a:t>
            </a:r>
          </a:p>
          <a:p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规范化</a:t>
            </a:r>
          </a:p>
        </p:txBody>
      </p:sp>
      <p:sp>
        <p:nvSpPr>
          <p:cNvPr id="7" name="stage-arrow-1">
            <a:extLst>
              <a:ext uri="{FF2B5EF4-FFF2-40B4-BE49-F238E27FC236}">
                <a16:creationId xmlns:a16="http://schemas.microsoft.com/office/drawing/2014/main" id="{F59EDAAC-F5B7-4BCC-AA66-76DB6D1087A6}"/>
              </a:ext>
            </a:extLst>
          </p:cNvPr>
          <p:cNvSpPr>
            <a:spLocks noGrp="1"/>
          </p:cNvSpPr>
          <p:nvPr/>
        </p:nvSpPr>
        <p:spPr>
          <a:xfrm>
            <a:off x="3000375" y="1943100"/>
            <a:ext cx="2762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 fontScale="65422"/>
          </a:bodyPr>
          <a:lstStyle/>
          <a:p>
            <a:pPr algn="ctr">
              <a:buNone/>
              <a:def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stage-2">
            <a:extLst>
              <a:ext uri="{FF2B5EF4-FFF2-40B4-BE49-F238E27FC236}">
                <a16:creationId xmlns:a16="http://schemas.microsoft.com/office/drawing/2014/main" id="{AEFE360E-AA47-4303-A5A3-D7307C837B23}"/>
              </a:ext>
            </a:extLst>
          </p:cNvPr>
          <p:cNvSpPr>
            <a:spLocks noGrp="1"/>
          </p:cNvSpPr>
          <p:nvPr/>
        </p:nvSpPr>
        <p:spPr>
          <a:xfrm>
            <a:off x="3276600" y="1657350"/>
            <a:ext cx="1104900" cy="952500"/>
          </a:xfrm>
          <a:prstGeom prst="roundRect">
            <a:avLst>
              <a:gd name="adj" fmla="val 12000"/>
            </a:avLst>
          </a:prstGeom>
          <a:solidFill>
            <a:srgbClr val="EAF2FF"/>
          </a:solidFill>
          <a:ln w="0">
            <a:solidFill>
              <a:srgbClr val="EAF2FF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学生</a:t>
            </a:r>
          </a:p>
          <a:p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画像</a:t>
            </a:r>
          </a:p>
        </p:txBody>
      </p:sp>
      <p:sp>
        <p:nvSpPr>
          <p:cNvPr id="9" name="stage-arrow-2">
            <a:extLst>
              <a:ext uri="{FF2B5EF4-FFF2-40B4-BE49-F238E27FC236}">
                <a16:creationId xmlns:a16="http://schemas.microsoft.com/office/drawing/2014/main" id="{14BB03AF-4965-4A48-B752-006B5CB3388F}"/>
              </a:ext>
            </a:extLst>
          </p:cNvPr>
          <p:cNvSpPr>
            <a:spLocks noGrp="1"/>
          </p:cNvSpPr>
          <p:nvPr/>
        </p:nvSpPr>
        <p:spPr>
          <a:xfrm>
            <a:off x="4391025" y="1943100"/>
            <a:ext cx="2762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 fontScale="65422"/>
          </a:bodyPr>
          <a:lstStyle/>
          <a:p>
            <a:pPr algn="ctr">
              <a:buNone/>
              <a:def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stage-3">
            <a:extLst>
              <a:ext uri="{FF2B5EF4-FFF2-40B4-BE49-F238E27FC236}">
                <a16:creationId xmlns:a16="http://schemas.microsoft.com/office/drawing/2014/main" id="{A84BA5CB-FB3E-4FAE-8AB4-5299D57535E0}"/>
              </a:ext>
            </a:extLst>
          </p:cNvPr>
          <p:cNvSpPr>
            <a:spLocks noGrp="1"/>
          </p:cNvSpPr>
          <p:nvPr/>
        </p:nvSpPr>
        <p:spPr>
          <a:xfrm>
            <a:off x="4667250" y="1657350"/>
            <a:ext cx="1104900" cy="952500"/>
          </a:xfrm>
          <a:prstGeom prst="roundRect">
            <a:avLst>
              <a:gd name="adj" fmla="val 12000"/>
            </a:avLst>
          </a:prstGeom>
          <a:solidFill>
            <a:srgbClr val="EAF2FF"/>
          </a:solidFill>
          <a:ln w="0">
            <a:solidFill>
              <a:srgbClr val="EAF2FF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岗位</a:t>
            </a:r>
          </a:p>
          <a:p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规范化</a:t>
            </a:r>
          </a:p>
        </p:txBody>
      </p:sp>
      <p:sp>
        <p:nvSpPr>
          <p:cNvPr id="11" name="stage-arrow-3">
            <a:extLst>
              <a:ext uri="{FF2B5EF4-FFF2-40B4-BE49-F238E27FC236}">
                <a16:creationId xmlns:a16="http://schemas.microsoft.com/office/drawing/2014/main" id="{BA905479-BA63-46B1-8B5D-8B9A30BA352D}"/>
              </a:ext>
            </a:extLst>
          </p:cNvPr>
          <p:cNvSpPr>
            <a:spLocks noGrp="1"/>
          </p:cNvSpPr>
          <p:nvPr/>
        </p:nvSpPr>
        <p:spPr>
          <a:xfrm>
            <a:off x="5781675" y="1943100"/>
            <a:ext cx="2762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 fontScale="65422"/>
          </a:bodyPr>
          <a:lstStyle/>
          <a:p>
            <a:pPr algn="ctr">
              <a:buNone/>
              <a:def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stage-4">
            <a:extLst>
              <a:ext uri="{FF2B5EF4-FFF2-40B4-BE49-F238E27FC236}">
                <a16:creationId xmlns:a16="http://schemas.microsoft.com/office/drawing/2014/main" id="{93DE6136-67C6-4E2B-9A6F-EADAE409A502}"/>
              </a:ext>
            </a:extLst>
          </p:cNvPr>
          <p:cNvSpPr>
            <a:spLocks noGrp="1"/>
          </p:cNvSpPr>
          <p:nvPr/>
        </p:nvSpPr>
        <p:spPr>
          <a:xfrm>
            <a:off x="6057900" y="1657350"/>
            <a:ext cx="1104900" cy="952500"/>
          </a:xfrm>
          <a:prstGeom prst="roundRect">
            <a:avLst>
              <a:gd name="adj" fmla="val 12000"/>
            </a:avLst>
          </a:prstGeom>
          <a:solidFill>
            <a:srgbClr val="EAF2FF"/>
          </a:solidFill>
          <a:ln w="0">
            <a:solidFill>
              <a:srgbClr val="EAF2FF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  <a:p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匹配</a:t>
            </a:r>
          </a:p>
        </p:txBody>
      </p:sp>
      <p:sp>
        <p:nvSpPr>
          <p:cNvPr id="13" name="stage-arrow-4">
            <a:extLst>
              <a:ext uri="{FF2B5EF4-FFF2-40B4-BE49-F238E27FC236}">
                <a16:creationId xmlns:a16="http://schemas.microsoft.com/office/drawing/2014/main" id="{7DE993D0-F710-40CF-B22C-C8DE5688B753}"/>
              </a:ext>
            </a:extLst>
          </p:cNvPr>
          <p:cNvSpPr>
            <a:spLocks noGrp="1"/>
          </p:cNvSpPr>
          <p:nvPr/>
        </p:nvSpPr>
        <p:spPr>
          <a:xfrm>
            <a:off x="7172325" y="1943100"/>
            <a:ext cx="2762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 fontScale="65422"/>
          </a:bodyPr>
          <a:lstStyle/>
          <a:p>
            <a:pPr algn="ctr">
              <a:buNone/>
              <a:def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stage-5">
            <a:extLst>
              <a:ext uri="{FF2B5EF4-FFF2-40B4-BE49-F238E27FC236}">
                <a16:creationId xmlns:a16="http://schemas.microsoft.com/office/drawing/2014/main" id="{CE5DC2AF-8DAF-411F-BF4C-1507FC12516D}"/>
              </a:ext>
            </a:extLst>
          </p:cNvPr>
          <p:cNvSpPr>
            <a:spLocks noGrp="1"/>
          </p:cNvSpPr>
          <p:nvPr/>
        </p:nvSpPr>
        <p:spPr>
          <a:xfrm>
            <a:off x="7448550" y="1657350"/>
            <a:ext cx="1104900" cy="952500"/>
          </a:xfrm>
          <a:prstGeom prst="roundRect">
            <a:avLst>
              <a:gd name="adj" fmla="val 12000"/>
            </a:avLst>
          </a:prstGeom>
          <a:solidFill>
            <a:srgbClr val="EAF2FF"/>
          </a:solidFill>
          <a:ln w="0">
            <a:solidFill>
              <a:srgbClr val="EAF2FF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求职</a:t>
            </a:r>
          </a:p>
          <a:p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辅导</a:t>
            </a:r>
          </a:p>
        </p:txBody>
      </p:sp>
      <p:sp>
        <p:nvSpPr>
          <p:cNvPr id="15" name="stage-arrow-5">
            <a:extLst>
              <a:ext uri="{FF2B5EF4-FFF2-40B4-BE49-F238E27FC236}">
                <a16:creationId xmlns:a16="http://schemas.microsoft.com/office/drawing/2014/main" id="{EA961F82-6B5D-4B7D-9DA3-0AC5C153A61E}"/>
              </a:ext>
            </a:extLst>
          </p:cNvPr>
          <p:cNvSpPr>
            <a:spLocks noGrp="1"/>
          </p:cNvSpPr>
          <p:nvPr/>
        </p:nvSpPr>
        <p:spPr>
          <a:xfrm>
            <a:off x="8562975" y="1943100"/>
            <a:ext cx="2762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 fontScale="65422"/>
          </a:bodyPr>
          <a:lstStyle/>
          <a:p>
            <a:pPr algn="ctr">
              <a:buNone/>
              <a:def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stage-6">
            <a:extLst>
              <a:ext uri="{FF2B5EF4-FFF2-40B4-BE49-F238E27FC236}">
                <a16:creationId xmlns:a16="http://schemas.microsoft.com/office/drawing/2014/main" id="{8279AAD4-72E7-49AF-BE08-A63D3A369A2F}"/>
              </a:ext>
            </a:extLst>
          </p:cNvPr>
          <p:cNvSpPr>
            <a:spLocks noGrp="1"/>
          </p:cNvSpPr>
          <p:nvPr/>
        </p:nvSpPr>
        <p:spPr>
          <a:xfrm>
            <a:off x="8839200" y="1657350"/>
            <a:ext cx="1104900" cy="952500"/>
          </a:xfrm>
          <a:prstGeom prst="roundRect">
            <a:avLst>
              <a:gd name="adj" fmla="val 12000"/>
            </a:avLst>
          </a:prstGeom>
          <a:solidFill>
            <a:srgbClr val="FDECEC"/>
          </a:solidFill>
          <a:ln w="0">
            <a:solidFill>
              <a:srgbClr val="FDECEC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35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审计</a:t>
            </a:r>
          </a:p>
          <a:p>
            <a:pPr algn="ctr">
              <a:buNone/>
              <a:defRPr sz="135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审批</a:t>
            </a:r>
          </a:p>
        </p:txBody>
      </p:sp>
      <p:sp>
        <p:nvSpPr>
          <p:cNvPr id="17" name="stage-arrow-6">
            <a:extLst>
              <a:ext uri="{FF2B5EF4-FFF2-40B4-BE49-F238E27FC236}">
                <a16:creationId xmlns:a16="http://schemas.microsoft.com/office/drawing/2014/main" id="{CF2118B6-0550-414A-A5C6-A07C8F9C5EAC}"/>
              </a:ext>
            </a:extLst>
          </p:cNvPr>
          <p:cNvSpPr>
            <a:spLocks noGrp="1"/>
          </p:cNvSpPr>
          <p:nvPr/>
        </p:nvSpPr>
        <p:spPr>
          <a:xfrm>
            <a:off x="9953625" y="1943100"/>
            <a:ext cx="2762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 fontScale="65422"/>
          </a:bodyPr>
          <a:lstStyle/>
          <a:p>
            <a:pPr algn="ctr">
              <a:buNone/>
              <a:def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stage-7">
            <a:extLst>
              <a:ext uri="{FF2B5EF4-FFF2-40B4-BE49-F238E27FC236}">
                <a16:creationId xmlns:a16="http://schemas.microsoft.com/office/drawing/2014/main" id="{9BEB3E95-48D0-4787-AC68-05EC2134A2A3}"/>
              </a:ext>
            </a:extLst>
          </p:cNvPr>
          <p:cNvSpPr>
            <a:spLocks noGrp="1"/>
          </p:cNvSpPr>
          <p:nvPr/>
        </p:nvSpPr>
        <p:spPr>
          <a:xfrm>
            <a:off x="10229850" y="1657350"/>
            <a:ext cx="1104900" cy="952500"/>
          </a:xfrm>
          <a:prstGeom prst="roundRect">
            <a:avLst>
              <a:gd name="adj" fmla="val 12000"/>
            </a:avLst>
          </a:prstGeom>
          <a:solidFill>
            <a:srgbClr val="E8F7F0"/>
          </a:solidFill>
          <a:ln w="0">
            <a:solidFill>
              <a:srgbClr val="E8F7F0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35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rPr>
              <a:t>报告</a:t>
            </a:r>
          </a:p>
          <a:p>
            <a:pPr algn="ctr">
              <a:buNone/>
              <a:defRPr sz="135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rPr>
              <a:t>沉淀</a:t>
            </a:r>
          </a:p>
        </p:txBody>
      </p:sp>
      <p:sp>
        <p:nvSpPr>
          <p:cNvPr id="19" name="state-label">
            <a:extLst>
              <a:ext uri="{FF2B5EF4-FFF2-40B4-BE49-F238E27FC236}">
                <a16:creationId xmlns:a16="http://schemas.microsoft.com/office/drawing/2014/main" id="{BD80FFBB-A5C8-4554-A56F-B09BF57235CF}"/>
              </a:ext>
            </a:extLst>
          </p:cNvPr>
          <p:cNvSpPr>
            <a:spLocks noGrp="1"/>
          </p:cNvSpPr>
          <p:nvPr/>
        </p:nvSpPr>
        <p:spPr>
          <a:xfrm>
            <a:off x="495300" y="2857500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主状态机</a:t>
            </a:r>
          </a:p>
        </p:txBody>
      </p:sp>
      <p:sp>
        <p:nvSpPr>
          <p:cNvPr id="20" name="state-code">
            <a:extLst>
              <a:ext uri="{FF2B5EF4-FFF2-40B4-BE49-F238E27FC236}">
                <a16:creationId xmlns:a16="http://schemas.microsoft.com/office/drawing/2014/main" id="{900ADC89-B9DB-46EE-9E45-74756244C6E2}"/>
              </a:ext>
            </a:extLst>
          </p:cNvPr>
          <p:cNvSpPr>
            <a:spLocks noGrp="1"/>
          </p:cNvSpPr>
          <p:nvPr/>
        </p:nvSpPr>
        <p:spPr>
          <a:xfrm>
            <a:off x="495300" y="3143250"/>
            <a:ext cx="10858500" cy="685800"/>
          </a:xfrm>
          <a:prstGeom prst="roundRect">
            <a:avLst>
              <a:gd name="adj" fmla="val 16667"/>
            </a:avLst>
          </a:prstGeom>
          <a:solidFill>
            <a:srgbClr val="101828"/>
          </a:solidFill>
          <a:ln w="0">
            <a:solidFill>
              <a:srgbClr val="101828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200" b="1">
                <a:solidFill>
                  <a:srgbClr val="E7EEF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7EEF7"/>
                </a:solidFill>
                <a:latin typeface="Microsoft YaHei"/>
                <a:ea typeface="Microsoft YaHei"/>
                <a:cs typeface="Microsoft YaHei"/>
              </a:rPr>
              <a:t>RECEIVED → CONSENTED → PARSED → PROFILE_GROUNDED → JOBS_NORMALIZED → MATCHED → COACHED → AUDITED → APPROVAL_PENDING → EXPORTED</a:t>
            </a:r>
          </a:p>
        </p:txBody>
      </p:sp>
      <p:sp>
        <p:nvSpPr>
          <p:cNvPr id="21" name="abnormal-label">
            <a:extLst>
              <a:ext uri="{FF2B5EF4-FFF2-40B4-BE49-F238E27FC236}">
                <a16:creationId xmlns:a16="http://schemas.microsoft.com/office/drawing/2014/main" id="{BF4AA33A-C2C8-4A48-ABC2-42ED045B797D}"/>
              </a:ext>
            </a:extLst>
          </p:cNvPr>
          <p:cNvSpPr>
            <a:spLocks noGrp="1"/>
          </p:cNvSpPr>
          <p:nvPr/>
        </p:nvSpPr>
        <p:spPr>
          <a:xfrm>
            <a:off x="495300" y="4171950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异常分支</a:t>
            </a:r>
          </a:p>
        </p:txBody>
      </p:sp>
      <p:sp>
        <p:nvSpPr>
          <p:cNvPr id="22" name="bad-0">
            <a:extLst>
              <a:ext uri="{FF2B5EF4-FFF2-40B4-BE49-F238E27FC236}">
                <a16:creationId xmlns:a16="http://schemas.microsoft.com/office/drawing/2014/main" id="{ABFFD12D-4030-4868-8DB2-1098C5FDBACF}"/>
              </a:ext>
            </a:extLst>
          </p:cNvPr>
          <p:cNvSpPr>
            <a:spLocks noGrp="1"/>
          </p:cNvSpPr>
          <p:nvPr/>
        </p:nvSpPr>
        <p:spPr>
          <a:xfrm>
            <a:off x="495300" y="4524375"/>
            <a:ext cx="1943100" cy="742950"/>
          </a:xfrm>
          <a:prstGeom prst="roundRect">
            <a:avLst>
              <a:gd name="adj" fmla="val 15385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NEEDS_INPUT</a:t>
            </a:r>
          </a:p>
          <a:p>
            <a:pPr algn="ctr">
              <a:buNone/>
              <a:def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缺材料</a:t>
            </a:r>
          </a:p>
        </p:txBody>
      </p:sp>
      <p:sp>
        <p:nvSpPr>
          <p:cNvPr id="23" name="bad-1">
            <a:extLst>
              <a:ext uri="{FF2B5EF4-FFF2-40B4-BE49-F238E27FC236}">
                <a16:creationId xmlns:a16="http://schemas.microsoft.com/office/drawing/2014/main" id="{E828C125-E8C5-4E34-8516-C285143625BC}"/>
              </a:ext>
            </a:extLst>
          </p:cNvPr>
          <p:cNvSpPr>
            <a:spLocks noGrp="1"/>
          </p:cNvSpPr>
          <p:nvPr/>
        </p:nvSpPr>
        <p:spPr>
          <a:xfrm>
            <a:off x="2667000" y="4524375"/>
            <a:ext cx="1943100" cy="742950"/>
          </a:xfrm>
          <a:prstGeom prst="roundRect">
            <a:avLst>
              <a:gd name="adj" fmla="val 15385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RETRYING</a:t>
            </a:r>
          </a:p>
          <a:p>
            <a:pPr algn="ctr">
              <a:buNone/>
              <a:def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工具失败</a:t>
            </a:r>
          </a:p>
        </p:txBody>
      </p:sp>
      <p:sp>
        <p:nvSpPr>
          <p:cNvPr id="24" name="bad-2">
            <a:extLst>
              <a:ext uri="{FF2B5EF4-FFF2-40B4-BE49-F238E27FC236}">
                <a16:creationId xmlns:a16="http://schemas.microsoft.com/office/drawing/2014/main" id="{36407435-9B4C-4D7C-B561-2FB530009AA6}"/>
              </a:ext>
            </a:extLst>
          </p:cNvPr>
          <p:cNvSpPr>
            <a:spLocks noGrp="1"/>
          </p:cNvSpPr>
          <p:nvPr/>
        </p:nvSpPr>
        <p:spPr>
          <a:xfrm>
            <a:off x="4838700" y="4524375"/>
            <a:ext cx="1943100" cy="742950"/>
          </a:xfrm>
          <a:prstGeom prst="roundRect">
            <a:avLst>
              <a:gd name="adj" fmla="val 15385"/>
            </a:avLst>
          </a:prstGeom>
          <a:solidFill>
            <a:srgbClr val="FDECEC"/>
          </a:solidFill>
          <a:ln w="9525">
            <a:solidFill>
              <a:srgbClr val="F3B7B7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12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BLOCKED</a:t>
            </a:r>
          </a:p>
          <a:p>
            <a:pPr algn="ctr">
              <a:buNone/>
              <a:defRPr sz="112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无证据事实</a:t>
            </a:r>
          </a:p>
        </p:txBody>
      </p:sp>
      <p:sp>
        <p:nvSpPr>
          <p:cNvPr id="25" name="bad-3">
            <a:extLst>
              <a:ext uri="{FF2B5EF4-FFF2-40B4-BE49-F238E27FC236}">
                <a16:creationId xmlns:a16="http://schemas.microsoft.com/office/drawing/2014/main" id="{FB4E0A70-EDA0-43BD-942C-42D4DB3D9DB3}"/>
              </a:ext>
            </a:extLst>
          </p:cNvPr>
          <p:cNvSpPr>
            <a:spLocks noGrp="1"/>
          </p:cNvSpPr>
          <p:nvPr/>
        </p:nvSpPr>
        <p:spPr>
          <a:xfrm>
            <a:off x="7010400" y="4524375"/>
            <a:ext cx="1943100" cy="742950"/>
          </a:xfrm>
          <a:prstGeom prst="roundRect">
            <a:avLst>
              <a:gd name="adj" fmla="val 15385"/>
            </a:avLst>
          </a:prstGeom>
          <a:solidFill>
            <a:srgbClr val="FDECEC"/>
          </a:solidFill>
          <a:ln w="9525">
            <a:solidFill>
              <a:srgbClr val="F3B7B7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12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ESCALATED</a:t>
            </a:r>
          </a:p>
          <a:p>
            <a:pPr algn="ctr">
              <a:buNone/>
              <a:defRPr sz="112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风险条件</a:t>
            </a:r>
          </a:p>
        </p:txBody>
      </p:sp>
      <p:sp>
        <p:nvSpPr>
          <p:cNvPr id="26" name="bad-4">
            <a:extLst>
              <a:ext uri="{FF2B5EF4-FFF2-40B4-BE49-F238E27FC236}">
                <a16:creationId xmlns:a16="http://schemas.microsoft.com/office/drawing/2014/main" id="{AC2C8691-61D8-4738-85BE-DD65AE63966F}"/>
              </a:ext>
            </a:extLst>
          </p:cNvPr>
          <p:cNvSpPr>
            <a:spLocks noGrp="1"/>
          </p:cNvSpPr>
          <p:nvPr/>
        </p:nvSpPr>
        <p:spPr>
          <a:xfrm>
            <a:off x="9182100" y="4524375"/>
            <a:ext cx="1943100" cy="742950"/>
          </a:xfrm>
          <a:prstGeom prst="roundRect">
            <a:avLst>
              <a:gd name="adj" fmla="val 15385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DEGRADED</a:t>
            </a:r>
          </a:p>
          <a:p>
            <a:pPr algn="ctr">
              <a:buNone/>
              <a:def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服务降级</a:t>
            </a:r>
          </a:p>
        </p:txBody>
      </p:sp>
      <p:sp>
        <p:nvSpPr>
          <p:cNvPr id="27" name="human-takeover">
            <a:extLst>
              <a:ext uri="{FF2B5EF4-FFF2-40B4-BE49-F238E27FC236}">
                <a16:creationId xmlns:a16="http://schemas.microsoft.com/office/drawing/2014/main" id="{03C85FD2-745B-4EEF-9681-C0D02EC84CF1}"/>
              </a:ext>
            </a:extLst>
          </p:cNvPr>
          <p:cNvSpPr>
            <a:spLocks noGrp="1"/>
          </p:cNvSpPr>
          <p:nvPr/>
        </p:nvSpPr>
        <p:spPr>
          <a:xfrm>
            <a:off x="495300" y="5562600"/>
            <a:ext cx="10858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98485"/>
          </a:bodyPr>
          <a:lstStyle/>
          <a:p>
            <a:pPr algn="ctr">
              <a:buNone/>
              <a:defRPr sz="1650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rPr>
              <a:t>任意异常均可转人工；导出永远需要审批。</a:t>
            </a:r>
          </a:p>
        </p:txBody>
      </p:sp>
      <p:sp>
        <p:nvSpPr>
          <p:cNvPr id="28" name="footer-5">
            <a:extLst>
              <a:ext uri="{FF2B5EF4-FFF2-40B4-BE49-F238E27FC236}">
                <a16:creationId xmlns:a16="http://schemas.microsoft.com/office/drawing/2014/main" id="{249ACB59-1CF4-4770-987E-531A027569CA}"/>
              </a:ext>
            </a:extLst>
          </p:cNvPr>
          <p:cNvSpPr>
            <a:spLocks noGrp="1"/>
          </p:cNvSpPr>
          <p:nvPr/>
        </p:nvSpPr>
        <p:spPr>
          <a:xfrm>
            <a:off x="495300" y="6477000"/>
            <a:ext cx="8572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复杂任务多 Agent 自主协同｜初赛方案</a:t>
            </a:r>
          </a:p>
        </p:txBody>
      </p:sp>
      <p:sp>
        <p:nvSpPr>
          <p:cNvPr id="29" name="page-5">
            <a:extLst>
              <a:ext uri="{FF2B5EF4-FFF2-40B4-BE49-F238E27FC236}">
                <a16:creationId xmlns:a16="http://schemas.microsoft.com/office/drawing/2014/main" id="{85439CC9-667D-48BA-9E49-762FB73AC24B}"/>
              </a:ext>
            </a:extLst>
          </p:cNvPr>
          <p:cNvSpPr>
            <a:spLocks noGrp="1"/>
          </p:cNvSpPr>
          <p:nvPr/>
        </p:nvSpPr>
        <p:spPr>
          <a:xfrm>
            <a:off x="11144250" y="644842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383672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kicker-6">
            <a:extLst>
              <a:ext uri="{FF2B5EF4-FFF2-40B4-BE49-F238E27FC236}">
                <a16:creationId xmlns:a16="http://schemas.microsoft.com/office/drawing/2014/main" id="{F4656730-E34E-4966-956D-9A2139935EDB}"/>
              </a:ext>
            </a:extLst>
          </p:cNvPr>
          <p:cNvSpPr>
            <a:spLocks noGrp="1"/>
          </p:cNvSpPr>
          <p:nvPr/>
        </p:nvSpPr>
        <p:spPr>
          <a:xfrm>
            <a:off x="495300" y="295275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CAMPUSMATCH</a:t>
            </a:r>
          </a:p>
        </p:txBody>
      </p:sp>
      <p:sp>
        <p:nvSpPr>
          <p:cNvPr id="2" name="title-6">
            <a:extLst>
              <a:ext uri="{FF2B5EF4-FFF2-40B4-BE49-F238E27FC236}">
                <a16:creationId xmlns:a16="http://schemas.microsoft.com/office/drawing/2014/main" id="{C3874C4B-3201-4A83-9E8D-5E9754F46432}"/>
              </a:ext>
            </a:extLst>
          </p:cNvPr>
          <p:cNvSpPr>
            <a:spLocks noGrp="1"/>
          </p:cNvSpPr>
          <p:nvPr/>
        </p:nvSpPr>
        <p:spPr>
          <a:xfrm>
            <a:off x="495300" y="552450"/>
            <a:ext cx="11201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AgentTeams 让六类 Agent 透明协作</a:t>
            </a:r>
          </a:p>
        </p:txBody>
      </p:sp>
      <p:cxnSp>
        <p:nvCxnSpPr>
          <p:cNvPr id="36" name="header-line-6"/>
          <p:cNvCxnSpPr/>
          <p:nvPr/>
        </p:nvCxnSpPr>
        <p:spPr>
          <a:xfrm>
            <a:off x="495300" y="1219200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human-panel">
            <a:extLst>
              <a:ext uri="{FF2B5EF4-FFF2-40B4-BE49-F238E27FC236}">
                <a16:creationId xmlns:a16="http://schemas.microsoft.com/office/drawing/2014/main" id="{22D013D0-7179-495A-A4F2-76571B1F7B68}"/>
              </a:ext>
            </a:extLst>
          </p:cNvPr>
          <p:cNvSpPr>
            <a:spLocks noGrp="1"/>
          </p:cNvSpPr>
          <p:nvPr/>
        </p:nvSpPr>
        <p:spPr>
          <a:xfrm>
            <a:off x="495300" y="1857375"/>
            <a:ext cx="1619250" cy="2571750"/>
          </a:xfrm>
          <a:prstGeom prst="roundRect">
            <a:avLst>
              <a:gd name="adj" fmla="val 7059"/>
            </a:avLst>
          </a:prstGeom>
          <a:solidFill>
            <a:srgbClr val="FAFAFB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5" name="human-title">
            <a:extLst>
              <a:ext uri="{FF2B5EF4-FFF2-40B4-BE49-F238E27FC236}">
                <a16:creationId xmlns:a16="http://schemas.microsoft.com/office/drawing/2014/main" id="{021F9B63-8C4E-47EC-A03D-195835B18C40}"/>
              </a:ext>
            </a:extLst>
          </p:cNvPr>
          <p:cNvSpPr>
            <a:spLocks noGrp="1"/>
          </p:cNvSpPr>
          <p:nvPr/>
        </p:nvSpPr>
        <p:spPr>
          <a:xfrm>
            <a:off x="685800" y="2076450"/>
            <a:ext cx="1238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83333"/>
          </a:bodyPr>
          <a:lstStyle/>
          <a:p>
            <a:pPr algn="ctr">
              <a:buNone/>
              <a:def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人类参与者</a:t>
            </a:r>
          </a:p>
        </p:txBody>
      </p:sp>
      <p:sp>
        <p:nvSpPr>
          <p:cNvPr id="6" name="human-body">
            <a:extLst>
              <a:ext uri="{FF2B5EF4-FFF2-40B4-BE49-F238E27FC236}">
                <a16:creationId xmlns:a16="http://schemas.microsoft.com/office/drawing/2014/main" id="{EAA7873B-E245-48DF-AF7F-7B5ECDD407E4}"/>
              </a:ext>
            </a:extLst>
          </p:cNvPr>
          <p:cNvSpPr>
            <a:spLocks noGrp="1"/>
          </p:cNvSpPr>
          <p:nvPr/>
        </p:nvSpPr>
        <p:spPr>
          <a:xfrm>
            <a:off x="685800" y="2600325"/>
            <a:ext cx="12382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</a:t>
            </a:r>
          </a:p>
          <a:p>
            <a:pPr algn="ctr">
              <a:buNone/>
              <a:def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就业老师</a:t>
            </a:r>
          </a:p>
          <a:p>
            <a:pPr algn="ctr">
              <a:buNone/>
              <a:def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评审者</a:t>
            </a:r>
          </a:p>
        </p:txBody>
      </p:sp>
      <p:sp>
        <p:nvSpPr>
          <p:cNvPr id="7" name="human-approve">
            <a:extLst>
              <a:ext uri="{FF2B5EF4-FFF2-40B4-BE49-F238E27FC236}">
                <a16:creationId xmlns:a16="http://schemas.microsoft.com/office/drawing/2014/main" id="{4D01F286-7038-4087-B366-3F60FE240271}"/>
              </a:ext>
            </a:extLst>
          </p:cNvPr>
          <p:cNvSpPr>
            <a:spLocks noGrp="1"/>
          </p:cNvSpPr>
          <p:nvPr/>
        </p:nvSpPr>
        <p:spPr>
          <a:xfrm>
            <a:off x="638175" y="3876675"/>
            <a:ext cx="1333500" cy="323850"/>
          </a:xfrm>
          <a:prstGeom prst="roundRect">
            <a:avLst>
              <a:gd name="adj" fmla="val 35294"/>
            </a:avLst>
          </a:prstGeom>
          <a:solidFill>
            <a:srgbClr val="E8F7F0"/>
          </a:solidFill>
          <a:ln w="9525">
            <a:solidFill>
              <a:srgbClr val="E8F7F0"/>
            </a:solidFill>
            <a:prstDash val="solid"/>
          </a:ln>
        </p:spPr>
        <p:txBody>
          <a:bodyPr wrap="square" lIns="66675" tIns="38100" rIns="66675" bIns="38100" anchor="ctr">
            <a:normAutofit/>
          </a:bodyPr>
          <a:lstStyle/>
          <a:p>
            <a:pPr algn="ctr">
              <a:buNone/>
              <a:defRPr sz="90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rPr>
              <a:t>观察 · 纠正 · 批准</a:t>
            </a:r>
          </a:p>
        </p:txBody>
      </p:sp>
      <p:sp>
        <p:nvSpPr>
          <p:cNvPr id="8" name="h2m-arrow">
            <a:extLst>
              <a:ext uri="{FF2B5EF4-FFF2-40B4-BE49-F238E27FC236}">
                <a16:creationId xmlns:a16="http://schemas.microsoft.com/office/drawing/2014/main" id="{09C899F1-E660-41BE-96F6-2F8D5CD9DBDC}"/>
              </a:ext>
            </a:extLst>
          </p:cNvPr>
          <p:cNvSpPr>
            <a:spLocks noGrp="1"/>
          </p:cNvSpPr>
          <p:nvPr/>
        </p:nvSpPr>
        <p:spPr>
          <a:xfrm>
            <a:off x="2190750" y="2762250"/>
            <a:ext cx="47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96361"/>
          </a:bodyPr>
          <a:lstStyle/>
          <a:p>
            <a:pPr algn="ctr">
              <a:buNone/>
              <a:defRPr sz="20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↔</a:t>
            </a:r>
          </a:p>
        </p:txBody>
      </p:sp>
      <p:sp>
        <p:nvSpPr>
          <p:cNvPr id="9" name="manager-panel">
            <a:extLst>
              <a:ext uri="{FF2B5EF4-FFF2-40B4-BE49-F238E27FC236}">
                <a16:creationId xmlns:a16="http://schemas.microsoft.com/office/drawing/2014/main" id="{17C096E9-A6CF-4AB5-844E-B782ACFA90BB}"/>
              </a:ext>
            </a:extLst>
          </p:cNvPr>
          <p:cNvSpPr>
            <a:spLocks noGrp="1"/>
          </p:cNvSpPr>
          <p:nvPr/>
        </p:nvSpPr>
        <p:spPr>
          <a:xfrm>
            <a:off x="2733675" y="1781175"/>
            <a:ext cx="2476500" cy="2724150"/>
          </a:xfrm>
          <a:prstGeom prst="roundRect">
            <a:avLst>
              <a:gd name="adj" fmla="val 4615"/>
            </a:avLst>
          </a:prstGeom>
          <a:solidFill>
            <a:srgbClr val="0B3B75"/>
          </a:solidFill>
          <a:ln w="9525">
            <a:solidFill>
              <a:srgbClr val="0B3B75"/>
            </a:solidFill>
            <a:prstDash val="solid"/>
          </a:ln>
        </p:spPr>
      </p:sp>
      <p:sp>
        <p:nvSpPr>
          <p:cNvPr id="10" name="manager-label">
            <a:extLst>
              <a:ext uri="{FF2B5EF4-FFF2-40B4-BE49-F238E27FC236}">
                <a16:creationId xmlns:a16="http://schemas.microsoft.com/office/drawing/2014/main" id="{C33FFB17-6A28-4DB3-AAB3-6C6B66C478A1}"/>
              </a:ext>
            </a:extLst>
          </p:cNvPr>
          <p:cNvSpPr>
            <a:spLocks noGrp="1"/>
          </p:cNvSpPr>
          <p:nvPr/>
        </p:nvSpPr>
        <p:spPr>
          <a:xfrm>
            <a:off x="3019425" y="2066925"/>
            <a:ext cx="1905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89744"/>
          </a:bodyPr>
          <a:lstStyle/>
          <a:p>
            <a:pPr algn="ctr">
              <a:buNone/>
              <a:defRPr sz="975" b="1">
                <a:solidFill>
                  <a:srgbClr val="BBD4F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BBD4F3"/>
                </a:solidFill>
                <a:latin typeface="Microsoft YaHei"/>
                <a:ea typeface="Microsoft YaHei"/>
                <a:cs typeface="Microsoft YaHei"/>
              </a:rPr>
              <a:t>MANAGER</a:t>
            </a:r>
          </a:p>
        </p:txBody>
      </p:sp>
      <p:sp>
        <p:nvSpPr>
          <p:cNvPr id="11" name="manager-title">
            <a:extLst>
              <a:ext uri="{FF2B5EF4-FFF2-40B4-BE49-F238E27FC236}">
                <a16:creationId xmlns:a16="http://schemas.microsoft.com/office/drawing/2014/main" id="{26227E6E-4B09-4A41-8152-5142957AB406}"/>
              </a:ext>
            </a:extLst>
          </p:cNvPr>
          <p:cNvSpPr>
            <a:spLocks noGrp="1"/>
          </p:cNvSpPr>
          <p:nvPr/>
        </p:nvSpPr>
        <p:spPr>
          <a:xfrm>
            <a:off x="2924175" y="2466975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 fontScale="95162"/>
          </a:bodyPr>
          <a:lstStyle/>
          <a:p>
            <a:pPr algn="ctr">
              <a:buNone/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Career Navigator</a:t>
            </a:r>
          </a:p>
        </p:txBody>
      </p:sp>
      <p:sp>
        <p:nvSpPr>
          <p:cNvPr id="12" name="manager-body">
            <a:extLst>
              <a:ext uri="{FF2B5EF4-FFF2-40B4-BE49-F238E27FC236}">
                <a16:creationId xmlns:a16="http://schemas.microsoft.com/office/drawing/2014/main" id="{F5E65DC9-A6F2-4E2A-BB81-28813E3D1F51}"/>
              </a:ext>
            </a:extLst>
          </p:cNvPr>
          <p:cNvSpPr>
            <a:spLocks noGrp="1"/>
          </p:cNvSpPr>
          <p:nvPr/>
        </p:nvSpPr>
        <p:spPr>
          <a:xfrm>
            <a:off x="3162300" y="3171825"/>
            <a:ext cx="16192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350" b="1">
                <a:solidFill>
                  <a:srgbClr val="E1EC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1ECFA"/>
                </a:solidFill>
                <a:latin typeface="Microsoft YaHei"/>
                <a:ea typeface="Microsoft YaHei"/>
                <a:cs typeface="Microsoft YaHei"/>
              </a:rPr>
              <a:t>目标拆解</a:t>
            </a:r>
          </a:p>
          <a:p>
            <a:pPr algn="ctr">
              <a:buNone/>
              <a:defRPr sz="1350" b="1">
                <a:solidFill>
                  <a:srgbClr val="E1EC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1ECFA"/>
                </a:solidFill>
                <a:latin typeface="Microsoft YaHei"/>
                <a:ea typeface="Microsoft YaHei"/>
                <a:cs typeface="Microsoft YaHei"/>
              </a:rPr>
              <a:t>状态传递</a:t>
            </a:r>
          </a:p>
          <a:p>
            <a:pPr algn="ctr">
              <a:buNone/>
              <a:defRPr sz="1350" b="1">
                <a:solidFill>
                  <a:srgbClr val="E1EC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1ECFA"/>
                </a:solidFill>
                <a:latin typeface="Microsoft YaHei"/>
                <a:ea typeface="Microsoft YaHei"/>
                <a:cs typeface="Microsoft YaHei"/>
              </a:rPr>
              <a:t>失败重试</a:t>
            </a:r>
          </a:p>
          <a:p>
            <a:pPr algn="ctr">
              <a:buNone/>
              <a:defRPr sz="1350" b="1">
                <a:solidFill>
                  <a:srgbClr val="E1EC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1ECFA"/>
                </a:solidFill>
                <a:latin typeface="Microsoft YaHei"/>
                <a:ea typeface="Microsoft YaHei"/>
                <a:cs typeface="Microsoft YaHei"/>
              </a:rPr>
              <a:t>结果汇总</a:t>
            </a:r>
          </a:p>
        </p:txBody>
      </p:sp>
      <p:sp>
        <p:nvSpPr>
          <p:cNvPr id="13" name="m2w-arrow">
            <a:extLst>
              <a:ext uri="{FF2B5EF4-FFF2-40B4-BE49-F238E27FC236}">
                <a16:creationId xmlns:a16="http://schemas.microsoft.com/office/drawing/2014/main" id="{C5273C71-C9E9-454E-879A-BC86DDE31F96}"/>
              </a:ext>
            </a:extLst>
          </p:cNvPr>
          <p:cNvSpPr>
            <a:spLocks noGrp="1"/>
          </p:cNvSpPr>
          <p:nvPr/>
        </p:nvSpPr>
        <p:spPr>
          <a:xfrm>
            <a:off x="5257800" y="2790825"/>
            <a:ext cx="47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/>
          </a:bodyPr>
          <a:lstStyle/>
          <a:p>
            <a:pPr algn="ctr">
              <a:buNone/>
              <a:defRPr sz="20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worker-0">
            <a:extLst>
              <a:ext uri="{FF2B5EF4-FFF2-40B4-BE49-F238E27FC236}">
                <a16:creationId xmlns:a16="http://schemas.microsoft.com/office/drawing/2014/main" id="{0570E524-F733-4236-BABD-88DA8B4200BD}"/>
              </a:ext>
            </a:extLst>
          </p:cNvPr>
          <p:cNvSpPr>
            <a:spLocks noGrp="1"/>
          </p:cNvSpPr>
          <p:nvPr/>
        </p:nvSpPr>
        <p:spPr>
          <a:xfrm>
            <a:off x="5810250" y="1685925"/>
            <a:ext cx="1676400" cy="1066800"/>
          </a:xfrm>
          <a:prstGeom prst="roundRect">
            <a:avLst>
              <a:gd name="adj" fmla="val 10714"/>
            </a:avLst>
          </a:prstGeom>
          <a:solidFill>
            <a:srgbClr val="EAF2FF"/>
          </a:solidFill>
          <a:ln w="0">
            <a:solidFill>
              <a:srgbClr val="EAF2FF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Profile Agent</a:t>
            </a:r>
          </a:p>
          <a:p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画像 + 证据</a:t>
            </a:r>
          </a:p>
        </p:txBody>
      </p:sp>
      <p:sp>
        <p:nvSpPr>
          <p:cNvPr id="15" name="worker-1">
            <a:extLst>
              <a:ext uri="{FF2B5EF4-FFF2-40B4-BE49-F238E27FC236}">
                <a16:creationId xmlns:a16="http://schemas.microsoft.com/office/drawing/2014/main" id="{D2C30A61-6C9B-4838-8B9C-C229627DD08F}"/>
              </a:ext>
            </a:extLst>
          </p:cNvPr>
          <p:cNvSpPr>
            <a:spLocks noGrp="1"/>
          </p:cNvSpPr>
          <p:nvPr/>
        </p:nvSpPr>
        <p:spPr>
          <a:xfrm>
            <a:off x="7696200" y="1685925"/>
            <a:ext cx="1676400" cy="1066800"/>
          </a:xfrm>
          <a:prstGeom prst="roundRect">
            <a:avLst>
              <a:gd name="adj" fmla="val 10714"/>
            </a:avLst>
          </a:prstGeom>
          <a:solidFill>
            <a:srgbClr val="EAF2FF"/>
          </a:solidFill>
          <a:ln w="0">
            <a:solidFill>
              <a:srgbClr val="EAF2FF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Job Agent</a:t>
            </a:r>
          </a:p>
          <a:p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JD 分类 + 风险</a:t>
            </a:r>
          </a:p>
        </p:txBody>
      </p:sp>
      <p:sp>
        <p:nvSpPr>
          <p:cNvPr id="16" name="worker-2">
            <a:extLst>
              <a:ext uri="{FF2B5EF4-FFF2-40B4-BE49-F238E27FC236}">
                <a16:creationId xmlns:a16="http://schemas.microsoft.com/office/drawing/2014/main" id="{AABA2766-339C-4C1D-A7C3-DCBB9E42BEF6}"/>
              </a:ext>
            </a:extLst>
          </p:cNvPr>
          <p:cNvSpPr>
            <a:spLocks noGrp="1"/>
          </p:cNvSpPr>
          <p:nvPr/>
        </p:nvSpPr>
        <p:spPr>
          <a:xfrm>
            <a:off x="9582150" y="1685925"/>
            <a:ext cx="1676400" cy="1066800"/>
          </a:xfrm>
          <a:prstGeom prst="roundRect">
            <a:avLst>
              <a:gd name="adj" fmla="val 10714"/>
            </a:avLst>
          </a:prstGeom>
          <a:solidFill>
            <a:srgbClr val="F2ECFF"/>
          </a:solidFill>
          <a:ln w="0">
            <a:solidFill>
              <a:srgbClr val="F2ECFF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350" b="1">
                <a:solidFill>
                  <a:srgbClr val="704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047B8"/>
                </a:solidFill>
                <a:latin typeface="Microsoft YaHei"/>
                <a:ea typeface="Microsoft YaHei"/>
                <a:cs typeface="Microsoft YaHei"/>
              </a:rPr>
              <a:t>Match Agent</a:t>
            </a:r>
          </a:p>
          <a:p>
            <a:pPr algn="ctr">
              <a:buNone/>
              <a:defRPr sz="1350" b="1">
                <a:solidFill>
                  <a:srgbClr val="704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047B8"/>
                </a:solidFill>
                <a:latin typeface="Microsoft YaHei"/>
                <a:ea typeface="Microsoft YaHei"/>
                <a:cs typeface="Microsoft YaHei"/>
              </a:rPr>
              <a:t>逐项匹配</a:t>
            </a:r>
          </a:p>
        </p:txBody>
      </p:sp>
      <p:sp>
        <p:nvSpPr>
          <p:cNvPr id="17" name="worker-3">
            <a:extLst>
              <a:ext uri="{FF2B5EF4-FFF2-40B4-BE49-F238E27FC236}">
                <a16:creationId xmlns:a16="http://schemas.microsoft.com/office/drawing/2014/main" id="{5466891B-2F07-4576-BAFA-0D798C673FC4}"/>
              </a:ext>
            </a:extLst>
          </p:cNvPr>
          <p:cNvSpPr>
            <a:spLocks noGrp="1"/>
          </p:cNvSpPr>
          <p:nvPr/>
        </p:nvSpPr>
        <p:spPr>
          <a:xfrm>
            <a:off x="5810250" y="3067050"/>
            <a:ext cx="1676400" cy="1066800"/>
          </a:xfrm>
          <a:prstGeom prst="roundRect">
            <a:avLst>
              <a:gd name="adj" fmla="val 10714"/>
            </a:avLst>
          </a:prstGeom>
          <a:solidFill>
            <a:srgbClr val="FFF5D6"/>
          </a:solidFill>
          <a:ln w="0">
            <a:solidFill>
              <a:srgbClr val="FFF5D6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350" b="1">
                <a:solidFill>
                  <a:srgbClr val="C778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7800"/>
                </a:solidFill>
                <a:latin typeface="Microsoft YaHei"/>
                <a:ea typeface="Microsoft YaHei"/>
                <a:cs typeface="Microsoft YaHei"/>
              </a:rPr>
              <a:t>Coach Agent</a:t>
            </a:r>
          </a:p>
          <a:p>
            <a:pPr algn="ctr">
              <a:buNone/>
              <a:defRPr sz="1350" b="1">
                <a:solidFill>
                  <a:srgbClr val="C778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77800"/>
                </a:solidFill>
                <a:latin typeface="Microsoft YaHei"/>
                <a:ea typeface="Microsoft YaHei"/>
                <a:cs typeface="Microsoft YaHei"/>
              </a:rPr>
              <a:t>辅导 + 面试</a:t>
            </a:r>
          </a:p>
        </p:txBody>
      </p:sp>
      <p:sp>
        <p:nvSpPr>
          <p:cNvPr id="18" name="worker-4">
            <a:extLst>
              <a:ext uri="{FF2B5EF4-FFF2-40B4-BE49-F238E27FC236}">
                <a16:creationId xmlns:a16="http://schemas.microsoft.com/office/drawing/2014/main" id="{09526F5A-4095-4983-9E4A-E6792F7FF904}"/>
              </a:ext>
            </a:extLst>
          </p:cNvPr>
          <p:cNvSpPr>
            <a:spLocks noGrp="1"/>
          </p:cNvSpPr>
          <p:nvPr/>
        </p:nvSpPr>
        <p:spPr>
          <a:xfrm>
            <a:off x="7696200" y="3067050"/>
            <a:ext cx="1676400" cy="1066800"/>
          </a:xfrm>
          <a:prstGeom prst="roundRect">
            <a:avLst>
              <a:gd name="adj" fmla="val 10714"/>
            </a:avLst>
          </a:prstGeom>
          <a:solidFill>
            <a:srgbClr val="FDECEC"/>
          </a:solidFill>
          <a:ln w="0">
            <a:solidFill>
              <a:srgbClr val="FDECEC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35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Audit Agent</a:t>
            </a:r>
          </a:p>
          <a:p>
            <a:pPr algn="ctr">
              <a:buNone/>
              <a:defRPr sz="135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PASS / BLOCK</a:t>
            </a:r>
          </a:p>
        </p:txBody>
      </p:sp>
      <p:sp>
        <p:nvSpPr>
          <p:cNvPr id="19" name="worker-note">
            <a:extLst>
              <a:ext uri="{FF2B5EF4-FFF2-40B4-BE49-F238E27FC236}">
                <a16:creationId xmlns:a16="http://schemas.microsoft.com/office/drawing/2014/main" id="{0A36D456-CEFE-4BDA-ADB1-2B5AEEE602A8}"/>
              </a:ext>
            </a:extLst>
          </p:cNvPr>
          <p:cNvSpPr>
            <a:spLocks noGrp="1"/>
          </p:cNvSpPr>
          <p:nvPr/>
        </p:nvSpPr>
        <p:spPr>
          <a:xfrm>
            <a:off x="5810250" y="4562475"/>
            <a:ext cx="5448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/>
          </a:bodyPr>
          <a:lstStyle/>
          <a:p>
            <a:pPr algn="ctr">
              <a:buNone/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每个 Worker 只负责单一能力，并提交结构化输出</a:t>
            </a:r>
          </a:p>
        </p:txBody>
      </p:sp>
      <p:sp>
        <p:nvSpPr>
          <p:cNvPr id="20" name="infra-strip">
            <a:extLst>
              <a:ext uri="{FF2B5EF4-FFF2-40B4-BE49-F238E27FC236}">
                <a16:creationId xmlns:a16="http://schemas.microsoft.com/office/drawing/2014/main" id="{D305935F-5C71-4F0A-B6B5-3D2E0E922A4E}"/>
              </a:ext>
            </a:extLst>
          </p:cNvPr>
          <p:cNvSpPr>
            <a:spLocks noGrp="1"/>
          </p:cNvSpPr>
          <p:nvPr/>
        </p:nvSpPr>
        <p:spPr>
          <a:xfrm>
            <a:off x="495300" y="5276850"/>
            <a:ext cx="10763250" cy="781050"/>
          </a:xfrm>
          <a:prstGeom prst="roundRect">
            <a:avLst>
              <a:gd name="adj" fmla="val 14634"/>
            </a:avLst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21" name="infra-0">
            <a:extLst>
              <a:ext uri="{FF2B5EF4-FFF2-40B4-BE49-F238E27FC236}">
                <a16:creationId xmlns:a16="http://schemas.microsoft.com/office/drawing/2014/main" id="{2F331177-1A5D-4167-9F2A-6E2B8090F6EE}"/>
              </a:ext>
            </a:extLst>
          </p:cNvPr>
          <p:cNvSpPr>
            <a:spLocks noGrp="1"/>
          </p:cNvSpPr>
          <p:nvPr/>
        </p:nvSpPr>
        <p:spPr>
          <a:xfrm>
            <a:off x="752475" y="5486400"/>
            <a:ext cx="1714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Skills</a:t>
            </a:r>
          </a:p>
        </p:txBody>
      </p:sp>
      <p:sp>
        <p:nvSpPr>
          <p:cNvPr id="22" name="infra-1">
            <a:extLst>
              <a:ext uri="{FF2B5EF4-FFF2-40B4-BE49-F238E27FC236}">
                <a16:creationId xmlns:a16="http://schemas.microsoft.com/office/drawing/2014/main" id="{B2DB97D9-8256-4337-AF59-BB0610419B44}"/>
              </a:ext>
            </a:extLst>
          </p:cNvPr>
          <p:cNvSpPr>
            <a:spLocks noGrp="1"/>
          </p:cNvSpPr>
          <p:nvPr/>
        </p:nvSpPr>
        <p:spPr>
          <a:xfrm>
            <a:off x="2809875" y="5486400"/>
            <a:ext cx="1714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MCP / 工具</a:t>
            </a:r>
          </a:p>
        </p:txBody>
      </p:sp>
      <p:sp>
        <p:nvSpPr>
          <p:cNvPr id="23" name="infra-2">
            <a:extLst>
              <a:ext uri="{FF2B5EF4-FFF2-40B4-BE49-F238E27FC236}">
                <a16:creationId xmlns:a16="http://schemas.microsoft.com/office/drawing/2014/main" id="{6A2A3BDD-002A-4D83-A807-8CFC955B6536}"/>
              </a:ext>
            </a:extLst>
          </p:cNvPr>
          <p:cNvSpPr>
            <a:spLocks noGrp="1"/>
          </p:cNvSpPr>
          <p:nvPr/>
        </p:nvSpPr>
        <p:spPr>
          <a:xfrm>
            <a:off x="4867275" y="5486400"/>
            <a:ext cx="1714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共享文件</a:t>
            </a:r>
          </a:p>
        </p:txBody>
      </p:sp>
      <p:sp>
        <p:nvSpPr>
          <p:cNvPr id="24" name="infra-3">
            <a:extLst>
              <a:ext uri="{FF2B5EF4-FFF2-40B4-BE49-F238E27FC236}">
                <a16:creationId xmlns:a16="http://schemas.microsoft.com/office/drawing/2014/main" id="{F8EA2667-CB0A-4B93-91B3-8F7EABD457CA}"/>
              </a:ext>
            </a:extLst>
          </p:cNvPr>
          <p:cNvSpPr>
            <a:spLocks noGrp="1"/>
          </p:cNvSpPr>
          <p:nvPr/>
        </p:nvSpPr>
        <p:spPr>
          <a:xfrm>
            <a:off x="6924675" y="5486400"/>
            <a:ext cx="1714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Trace / 日志</a:t>
            </a:r>
          </a:p>
        </p:txBody>
      </p:sp>
      <p:sp>
        <p:nvSpPr>
          <p:cNvPr id="25" name="infra-4">
            <a:extLst>
              <a:ext uri="{FF2B5EF4-FFF2-40B4-BE49-F238E27FC236}">
                <a16:creationId xmlns:a16="http://schemas.microsoft.com/office/drawing/2014/main" id="{FF0AD12E-C9A3-4EE9-BCD5-27C78A947A96}"/>
              </a:ext>
            </a:extLst>
          </p:cNvPr>
          <p:cNvSpPr>
            <a:spLocks noGrp="1"/>
          </p:cNvSpPr>
          <p:nvPr/>
        </p:nvSpPr>
        <p:spPr>
          <a:xfrm>
            <a:off x="8982075" y="5486400"/>
            <a:ext cx="1714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20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rPr>
              <a:t>Human-in-the-loop</a:t>
            </a:r>
          </a:p>
        </p:txBody>
      </p:sp>
      <p:sp>
        <p:nvSpPr>
          <p:cNvPr id="26" name="footer-6">
            <a:extLst>
              <a:ext uri="{FF2B5EF4-FFF2-40B4-BE49-F238E27FC236}">
                <a16:creationId xmlns:a16="http://schemas.microsoft.com/office/drawing/2014/main" id="{27FDDE0D-F4D0-4D21-8D89-5C2416A090CC}"/>
              </a:ext>
            </a:extLst>
          </p:cNvPr>
          <p:cNvSpPr>
            <a:spLocks noGrp="1"/>
          </p:cNvSpPr>
          <p:nvPr/>
        </p:nvSpPr>
        <p:spPr>
          <a:xfrm>
            <a:off x="495300" y="6477000"/>
            <a:ext cx="8572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复杂任务多 Agent 自主协同｜初赛方案</a:t>
            </a:r>
          </a:p>
        </p:txBody>
      </p:sp>
      <p:sp>
        <p:nvSpPr>
          <p:cNvPr id="27" name="page-6">
            <a:extLst>
              <a:ext uri="{FF2B5EF4-FFF2-40B4-BE49-F238E27FC236}">
                <a16:creationId xmlns:a16="http://schemas.microsoft.com/office/drawing/2014/main" id="{BBC60679-3B5B-483A-AD25-8BC5307D28CA}"/>
              </a:ext>
            </a:extLst>
          </p:cNvPr>
          <p:cNvSpPr>
            <a:spLocks noGrp="1"/>
          </p:cNvSpPr>
          <p:nvPr/>
        </p:nvSpPr>
        <p:spPr>
          <a:xfrm>
            <a:off x="11144250" y="644842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0847712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kicker-7">
            <a:extLst>
              <a:ext uri="{FF2B5EF4-FFF2-40B4-BE49-F238E27FC236}">
                <a16:creationId xmlns:a16="http://schemas.microsoft.com/office/drawing/2014/main" id="{FF1297FE-A106-4686-BB72-FACDD6FC1E2B}"/>
              </a:ext>
            </a:extLst>
          </p:cNvPr>
          <p:cNvSpPr>
            <a:spLocks noGrp="1"/>
          </p:cNvSpPr>
          <p:nvPr/>
        </p:nvSpPr>
        <p:spPr>
          <a:xfrm>
            <a:off x="495300" y="295275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CAMPUSMATCH</a:t>
            </a:r>
          </a:p>
        </p:txBody>
      </p:sp>
      <p:sp>
        <p:nvSpPr>
          <p:cNvPr id="2" name="title-7">
            <a:extLst>
              <a:ext uri="{FF2B5EF4-FFF2-40B4-BE49-F238E27FC236}">
                <a16:creationId xmlns:a16="http://schemas.microsoft.com/office/drawing/2014/main" id="{FDC06C22-7A91-4997-A11E-706E0212C716}"/>
              </a:ext>
            </a:extLst>
          </p:cNvPr>
          <p:cNvSpPr>
            <a:spLocks noGrp="1"/>
          </p:cNvSpPr>
          <p:nvPr/>
        </p:nvSpPr>
        <p:spPr>
          <a:xfrm>
            <a:off x="495300" y="552450"/>
            <a:ext cx="11201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每个 Agent 都有明确的自主边界</a:t>
            </a:r>
          </a:p>
        </p:txBody>
      </p:sp>
      <p:cxnSp>
        <p:nvCxnSpPr>
          <p:cNvPr id="33" name="header-line-7"/>
          <p:cNvCxnSpPr/>
          <p:nvPr/>
        </p:nvCxnSpPr>
        <p:spPr>
          <a:xfrm>
            <a:off x="495300" y="1219200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th-0">
            <a:extLst>
              <a:ext uri="{FF2B5EF4-FFF2-40B4-BE49-F238E27FC236}">
                <a16:creationId xmlns:a16="http://schemas.microsoft.com/office/drawing/2014/main" id="{DFB3BB8A-BDA4-4F81-96D8-A21336EAAAF8}"/>
              </a:ext>
            </a:extLst>
          </p:cNvPr>
          <p:cNvSpPr>
            <a:spLocks noGrp="1"/>
          </p:cNvSpPr>
          <p:nvPr/>
        </p:nvSpPr>
        <p:spPr>
          <a:xfrm>
            <a:off x="495300" y="1562100"/>
            <a:ext cx="1714500" cy="514350"/>
          </a:xfrm>
          <a:prstGeom prst="rect">
            <a:avLst/>
          </a:prstGeom>
          <a:solidFill>
            <a:srgbClr val="0B3B75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</a:t>
            </a:r>
          </a:p>
        </p:txBody>
      </p:sp>
      <p:sp>
        <p:nvSpPr>
          <p:cNvPr id="5" name="th-1">
            <a:extLst>
              <a:ext uri="{FF2B5EF4-FFF2-40B4-BE49-F238E27FC236}">
                <a16:creationId xmlns:a16="http://schemas.microsoft.com/office/drawing/2014/main" id="{72A04638-C607-4632-B3F3-C920412ECAD0}"/>
              </a:ext>
            </a:extLst>
          </p:cNvPr>
          <p:cNvSpPr>
            <a:spLocks noGrp="1"/>
          </p:cNvSpPr>
          <p:nvPr/>
        </p:nvSpPr>
        <p:spPr>
          <a:xfrm>
            <a:off x="2209800" y="1562100"/>
            <a:ext cx="3286125" cy="514350"/>
          </a:xfrm>
          <a:prstGeom prst="rect">
            <a:avLst/>
          </a:prstGeom>
          <a:solidFill>
            <a:srgbClr val="0B3B75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l"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主要输出</a:t>
            </a:r>
          </a:p>
        </p:txBody>
      </p:sp>
      <p:sp>
        <p:nvSpPr>
          <p:cNvPr id="6" name="th-2">
            <a:extLst>
              <a:ext uri="{FF2B5EF4-FFF2-40B4-BE49-F238E27FC236}">
                <a16:creationId xmlns:a16="http://schemas.microsoft.com/office/drawing/2014/main" id="{206A2D61-83BC-43C8-978E-82311CF4D445}"/>
              </a:ext>
            </a:extLst>
          </p:cNvPr>
          <p:cNvSpPr>
            <a:spLocks noGrp="1"/>
          </p:cNvSpPr>
          <p:nvPr/>
        </p:nvSpPr>
        <p:spPr>
          <a:xfrm>
            <a:off x="5495925" y="1562100"/>
            <a:ext cx="5286375" cy="514350"/>
          </a:xfrm>
          <a:prstGeom prst="rect">
            <a:avLst/>
          </a:prstGeom>
          <a:solidFill>
            <a:srgbClr val="0B3B75"/>
          </a:solidFill>
          <a:ln w="9525">
            <a:solidFill>
              <a:srgbClr val="FFFFFF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l"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不可越过的边界</a:t>
            </a:r>
          </a:p>
        </p:txBody>
      </p:sp>
      <p:sp>
        <p:nvSpPr>
          <p:cNvPr id="7" name="td-0-0">
            <a:extLst>
              <a:ext uri="{FF2B5EF4-FFF2-40B4-BE49-F238E27FC236}">
                <a16:creationId xmlns:a16="http://schemas.microsoft.com/office/drawing/2014/main" id="{FC1B841B-049C-4836-88F2-7D15A3E299D9}"/>
              </a:ext>
            </a:extLst>
          </p:cNvPr>
          <p:cNvSpPr>
            <a:spLocks noGrp="1"/>
          </p:cNvSpPr>
          <p:nvPr/>
        </p:nvSpPr>
        <p:spPr>
          <a:xfrm>
            <a:off x="495300" y="2076450"/>
            <a:ext cx="1714500" cy="704850"/>
          </a:xfrm>
          <a:prstGeom prst="rect">
            <a:avLst/>
          </a:prstGeom>
          <a:solidFill>
            <a:srgbClr val="FAFAFB"/>
          </a:solidFill>
          <a:ln w="9525">
            <a:solidFill>
              <a:srgbClr val="D0D5DD"/>
            </a:solidFill>
            <a:prstDash val="solid"/>
          </a:ln>
        </p:spPr>
        <p:txBody>
          <a:bodyPr wrap="square" lIns="142875" tIns="76200" rIns="142875" bIns="76200" anchor="ctr">
            <a:normAutofit/>
          </a:bodyPr>
          <a:lstStyle/>
          <a:p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Profile</a:t>
            </a:r>
          </a:p>
        </p:txBody>
      </p:sp>
      <p:sp>
        <p:nvSpPr>
          <p:cNvPr id="8" name="td-0-1">
            <a:extLst>
              <a:ext uri="{FF2B5EF4-FFF2-40B4-BE49-F238E27FC236}">
                <a16:creationId xmlns:a16="http://schemas.microsoft.com/office/drawing/2014/main" id="{1E18A52C-36B8-4CF9-8AE8-CF98C48C19CB}"/>
              </a:ext>
            </a:extLst>
          </p:cNvPr>
          <p:cNvSpPr>
            <a:spLocks noGrp="1"/>
          </p:cNvSpPr>
          <p:nvPr/>
        </p:nvSpPr>
        <p:spPr>
          <a:xfrm>
            <a:off x="2209800" y="2076450"/>
            <a:ext cx="3286125" cy="704850"/>
          </a:xfrm>
          <a:prstGeom prst="rect">
            <a:avLst/>
          </a:prstGeom>
          <a:solidFill>
            <a:srgbClr val="FAFAFB"/>
          </a:solidFill>
          <a:ln w="9525">
            <a:solidFill>
              <a:srgbClr val="D0D5DD"/>
            </a:solidFill>
            <a:prstDash val="solid"/>
          </a:ln>
        </p:spPr>
        <p:txBody>
          <a:bodyPr wrap="square" lIns="142875" tIns="76200" rIns="142875" bIns="76200" anchor="ctr">
            <a:normAutofit/>
          </a:bodyPr>
          <a:lstStyle/>
          <a:p>
            <a:pPr algn="l">
              <a:buNone/>
              <a:defRPr sz="13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学生画像 + 证据</a:t>
            </a:r>
          </a:p>
        </p:txBody>
      </p:sp>
      <p:sp>
        <p:nvSpPr>
          <p:cNvPr id="9" name="td-0-2">
            <a:extLst>
              <a:ext uri="{FF2B5EF4-FFF2-40B4-BE49-F238E27FC236}">
                <a16:creationId xmlns:a16="http://schemas.microsoft.com/office/drawing/2014/main" id="{83A8B1B6-98BD-486A-B04E-47F54020443D}"/>
              </a:ext>
            </a:extLst>
          </p:cNvPr>
          <p:cNvSpPr>
            <a:spLocks noGrp="1"/>
          </p:cNvSpPr>
          <p:nvPr/>
        </p:nvSpPr>
        <p:spPr>
          <a:xfrm>
            <a:off x="5495925" y="2076450"/>
            <a:ext cx="5286375" cy="704850"/>
          </a:xfrm>
          <a:prstGeom prst="rect">
            <a:avLst/>
          </a:prstGeom>
          <a:solidFill>
            <a:srgbClr val="FAFAFB"/>
          </a:solidFill>
          <a:ln w="9525">
            <a:solidFill>
              <a:srgbClr val="D0D5DD"/>
            </a:solidFill>
            <a:prstDash val="solid"/>
          </a:ln>
        </p:spPr>
        <p:txBody>
          <a:bodyPr wrap="square" lIns="142875" tIns="76200" rIns="142875" bIns="76200" anchor="ctr">
            <a:normAutofit/>
          </a:bodyPr>
          <a:lstStyle/>
          <a:p>
            <a:pPr algn="l">
              <a:buNone/>
              <a:defRPr sz="127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不推断无证据能力</a:t>
            </a:r>
          </a:p>
        </p:txBody>
      </p:sp>
      <p:sp>
        <p:nvSpPr>
          <p:cNvPr id="10" name="td-1-0">
            <a:extLst>
              <a:ext uri="{FF2B5EF4-FFF2-40B4-BE49-F238E27FC236}">
                <a16:creationId xmlns:a16="http://schemas.microsoft.com/office/drawing/2014/main" id="{60A96432-421F-4675-8161-0152CD9370D2}"/>
              </a:ext>
            </a:extLst>
          </p:cNvPr>
          <p:cNvSpPr>
            <a:spLocks noGrp="1"/>
          </p:cNvSpPr>
          <p:nvPr/>
        </p:nvSpPr>
        <p:spPr>
          <a:xfrm>
            <a:off x="495300" y="2781300"/>
            <a:ext cx="1714500" cy="7048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 wrap="square" lIns="142875" tIns="76200" rIns="142875" bIns="76200" anchor="ctr">
            <a:normAutofit/>
          </a:bodyPr>
          <a:lstStyle/>
          <a:p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Job</a:t>
            </a:r>
          </a:p>
        </p:txBody>
      </p:sp>
      <p:sp>
        <p:nvSpPr>
          <p:cNvPr id="11" name="td-1-1">
            <a:extLst>
              <a:ext uri="{FF2B5EF4-FFF2-40B4-BE49-F238E27FC236}">
                <a16:creationId xmlns:a16="http://schemas.microsoft.com/office/drawing/2014/main" id="{ED7A8F30-DD76-4B07-A763-49D902E83F42}"/>
              </a:ext>
            </a:extLst>
          </p:cNvPr>
          <p:cNvSpPr>
            <a:spLocks noGrp="1"/>
          </p:cNvSpPr>
          <p:nvPr/>
        </p:nvSpPr>
        <p:spPr>
          <a:xfrm>
            <a:off x="2209800" y="2781300"/>
            <a:ext cx="3286125" cy="7048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 wrap="square" lIns="142875" tIns="76200" rIns="142875" bIns="76200" anchor="ctr">
            <a:normAutofit/>
          </a:bodyPr>
          <a:lstStyle/>
          <a:p>
            <a:pPr algn="l">
              <a:buNone/>
              <a:defRPr sz="13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规范化要求 + 风险</a:t>
            </a:r>
          </a:p>
        </p:txBody>
      </p:sp>
      <p:sp>
        <p:nvSpPr>
          <p:cNvPr id="12" name="td-1-2">
            <a:extLst>
              <a:ext uri="{FF2B5EF4-FFF2-40B4-BE49-F238E27FC236}">
                <a16:creationId xmlns:a16="http://schemas.microsoft.com/office/drawing/2014/main" id="{097EA444-04E8-4032-9015-FABCD05CB833}"/>
              </a:ext>
            </a:extLst>
          </p:cNvPr>
          <p:cNvSpPr>
            <a:spLocks noGrp="1"/>
          </p:cNvSpPr>
          <p:nvPr/>
        </p:nvSpPr>
        <p:spPr>
          <a:xfrm>
            <a:off x="5495925" y="2781300"/>
            <a:ext cx="5286375" cy="7048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 wrap="square" lIns="142875" tIns="76200" rIns="142875" bIns="76200" anchor="ctr">
            <a:normAutofit/>
          </a:bodyPr>
          <a:lstStyle/>
          <a:p>
            <a:pPr algn="l">
              <a:buNone/>
              <a:defRPr sz="127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风险条件不计分</a:t>
            </a:r>
          </a:p>
        </p:txBody>
      </p:sp>
      <p:sp>
        <p:nvSpPr>
          <p:cNvPr id="13" name="td-2-0">
            <a:extLst>
              <a:ext uri="{FF2B5EF4-FFF2-40B4-BE49-F238E27FC236}">
                <a16:creationId xmlns:a16="http://schemas.microsoft.com/office/drawing/2014/main" id="{EDCA6FB8-C457-4957-A6D8-DD6F45C8C7A0}"/>
              </a:ext>
            </a:extLst>
          </p:cNvPr>
          <p:cNvSpPr>
            <a:spLocks noGrp="1"/>
          </p:cNvSpPr>
          <p:nvPr/>
        </p:nvSpPr>
        <p:spPr>
          <a:xfrm>
            <a:off x="495300" y="3486150"/>
            <a:ext cx="1714500" cy="704850"/>
          </a:xfrm>
          <a:prstGeom prst="rect">
            <a:avLst/>
          </a:prstGeom>
          <a:solidFill>
            <a:srgbClr val="FAFAFB"/>
          </a:solidFill>
          <a:ln w="9525">
            <a:solidFill>
              <a:srgbClr val="D0D5DD"/>
            </a:solidFill>
            <a:prstDash val="solid"/>
          </a:ln>
        </p:spPr>
        <p:txBody>
          <a:bodyPr wrap="square" lIns="142875" tIns="76200" rIns="142875" bIns="76200" anchor="ctr">
            <a:normAutofit/>
          </a:bodyPr>
          <a:lstStyle/>
          <a:p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Match</a:t>
            </a:r>
          </a:p>
        </p:txBody>
      </p:sp>
      <p:sp>
        <p:nvSpPr>
          <p:cNvPr id="14" name="td-2-1">
            <a:extLst>
              <a:ext uri="{FF2B5EF4-FFF2-40B4-BE49-F238E27FC236}">
                <a16:creationId xmlns:a16="http://schemas.microsoft.com/office/drawing/2014/main" id="{D9CC237C-28B0-4D2D-8DBF-724A10C3DB4C}"/>
              </a:ext>
            </a:extLst>
          </p:cNvPr>
          <p:cNvSpPr>
            <a:spLocks noGrp="1"/>
          </p:cNvSpPr>
          <p:nvPr/>
        </p:nvSpPr>
        <p:spPr>
          <a:xfrm>
            <a:off x="2209800" y="3486150"/>
            <a:ext cx="3286125" cy="704850"/>
          </a:xfrm>
          <a:prstGeom prst="rect">
            <a:avLst/>
          </a:prstGeom>
          <a:solidFill>
            <a:srgbClr val="FAFAFB"/>
          </a:solidFill>
          <a:ln w="9525">
            <a:solidFill>
              <a:srgbClr val="D0D5DD"/>
            </a:solidFill>
            <a:prstDash val="solid"/>
          </a:ln>
        </p:spPr>
        <p:txBody>
          <a:bodyPr wrap="square" lIns="142875" tIns="76200" rIns="142875" bIns="76200" anchor="ctr">
            <a:normAutofit/>
          </a:bodyPr>
          <a:lstStyle/>
          <a:p>
            <a:pPr algn="l">
              <a:buNone/>
              <a:defRPr sz="13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逐项状态 + 置信度</a:t>
            </a:r>
          </a:p>
        </p:txBody>
      </p:sp>
      <p:sp>
        <p:nvSpPr>
          <p:cNvPr id="15" name="td-2-2">
            <a:extLst>
              <a:ext uri="{FF2B5EF4-FFF2-40B4-BE49-F238E27FC236}">
                <a16:creationId xmlns:a16="http://schemas.microsoft.com/office/drawing/2014/main" id="{67B446A1-489F-4C93-9859-E76EAB2C4EE6}"/>
              </a:ext>
            </a:extLst>
          </p:cNvPr>
          <p:cNvSpPr>
            <a:spLocks noGrp="1"/>
          </p:cNvSpPr>
          <p:nvPr/>
        </p:nvSpPr>
        <p:spPr>
          <a:xfrm>
            <a:off x="5495925" y="3486150"/>
            <a:ext cx="5286375" cy="704850"/>
          </a:xfrm>
          <a:prstGeom prst="rect">
            <a:avLst/>
          </a:prstGeom>
          <a:solidFill>
            <a:srgbClr val="FAFAFB"/>
          </a:solidFill>
          <a:ln w="9525">
            <a:solidFill>
              <a:srgbClr val="D0D5DD"/>
            </a:solidFill>
            <a:prstDash val="solid"/>
          </a:ln>
        </p:spPr>
        <p:txBody>
          <a:bodyPr wrap="square" lIns="142875" tIns="76200" rIns="142875" bIns="76200" anchor="ctr">
            <a:normAutofit/>
          </a:bodyPr>
          <a:lstStyle/>
          <a:p>
            <a:pPr algn="l">
              <a:buNone/>
              <a:defRPr sz="127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不作录用决定</a:t>
            </a:r>
          </a:p>
        </p:txBody>
      </p:sp>
      <p:sp>
        <p:nvSpPr>
          <p:cNvPr id="16" name="td-3-0">
            <a:extLst>
              <a:ext uri="{FF2B5EF4-FFF2-40B4-BE49-F238E27FC236}">
                <a16:creationId xmlns:a16="http://schemas.microsoft.com/office/drawing/2014/main" id="{096A55EF-09B9-4300-AF8C-F2530895A2A9}"/>
              </a:ext>
            </a:extLst>
          </p:cNvPr>
          <p:cNvSpPr>
            <a:spLocks noGrp="1"/>
          </p:cNvSpPr>
          <p:nvPr/>
        </p:nvSpPr>
        <p:spPr>
          <a:xfrm>
            <a:off x="495300" y="4191000"/>
            <a:ext cx="1714500" cy="7048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 wrap="square" lIns="142875" tIns="76200" rIns="142875" bIns="76200" anchor="ctr">
            <a:normAutofit/>
          </a:bodyPr>
          <a:lstStyle/>
          <a:p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Coach</a:t>
            </a:r>
          </a:p>
        </p:txBody>
      </p:sp>
      <p:sp>
        <p:nvSpPr>
          <p:cNvPr id="17" name="td-3-1">
            <a:extLst>
              <a:ext uri="{FF2B5EF4-FFF2-40B4-BE49-F238E27FC236}">
                <a16:creationId xmlns:a16="http://schemas.microsoft.com/office/drawing/2014/main" id="{FAEDDA45-77F7-4070-A961-F3D16546BE59}"/>
              </a:ext>
            </a:extLst>
          </p:cNvPr>
          <p:cNvSpPr>
            <a:spLocks noGrp="1"/>
          </p:cNvSpPr>
          <p:nvPr/>
        </p:nvSpPr>
        <p:spPr>
          <a:xfrm>
            <a:off x="2209800" y="4191000"/>
            <a:ext cx="3286125" cy="7048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 wrap="square" lIns="142875" tIns="76200" rIns="142875" bIns="76200" anchor="ctr">
            <a:normAutofit/>
          </a:bodyPr>
          <a:lstStyle/>
          <a:p>
            <a:pPr algn="l">
              <a:buNone/>
              <a:defRPr sz="13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建议 + 模拟面试</a:t>
            </a:r>
          </a:p>
        </p:txBody>
      </p:sp>
      <p:sp>
        <p:nvSpPr>
          <p:cNvPr id="18" name="td-3-2">
            <a:extLst>
              <a:ext uri="{FF2B5EF4-FFF2-40B4-BE49-F238E27FC236}">
                <a16:creationId xmlns:a16="http://schemas.microsoft.com/office/drawing/2014/main" id="{B86AD12C-EAFC-4066-9CCA-379C2BB180DA}"/>
              </a:ext>
            </a:extLst>
          </p:cNvPr>
          <p:cNvSpPr>
            <a:spLocks noGrp="1"/>
          </p:cNvSpPr>
          <p:nvPr/>
        </p:nvSpPr>
        <p:spPr>
          <a:xfrm>
            <a:off x="5495925" y="4191000"/>
            <a:ext cx="5286375" cy="7048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 wrap="square" lIns="142875" tIns="76200" rIns="142875" bIns="76200" anchor="ctr">
            <a:normAutofit/>
          </a:bodyPr>
          <a:lstStyle/>
          <a:p>
            <a:pPr algn="l">
              <a:buNone/>
              <a:defRPr sz="127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不虚构经历</a:t>
            </a:r>
          </a:p>
        </p:txBody>
      </p:sp>
      <p:sp>
        <p:nvSpPr>
          <p:cNvPr id="19" name="td-4-0">
            <a:extLst>
              <a:ext uri="{FF2B5EF4-FFF2-40B4-BE49-F238E27FC236}">
                <a16:creationId xmlns:a16="http://schemas.microsoft.com/office/drawing/2014/main" id="{46794C99-EE42-41E6-9E40-ADCBB2533F84}"/>
              </a:ext>
            </a:extLst>
          </p:cNvPr>
          <p:cNvSpPr>
            <a:spLocks noGrp="1"/>
          </p:cNvSpPr>
          <p:nvPr/>
        </p:nvSpPr>
        <p:spPr>
          <a:xfrm>
            <a:off x="495300" y="4895850"/>
            <a:ext cx="1714500" cy="704850"/>
          </a:xfrm>
          <a:prstGeom prst="rect">
            <a:avLst/>
          </a:prstGeom>
          <a:solidFill>
            <a:srgbClr val="FAFAFB"/>
          </a:solidFill>
          <a:ln w="9525">
            <a:solidFill>
              <a:srgbClr val="D0D5DD"/>
            </a:solidFill>
            <a:prstDash val="solid"/>
          </a:ln>
        </p:spPr>
        <p:txBody>
          <a:bodyPr wrap="square" lIns="142875" tIns="76200" rIns="142875" bIns="76200" anchor="ctr">
            <a:normAutofit/>
          </a:bodyPr>
          <a:lstStyle/>
          <a:p>
            <a:pPr algn="ctr">
              <a:buNone/>
              <a:def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Audit</a:t>
            </a:r>
          </a:p>
        </p:txBody>
      </p:sp>
      <p:sp>
        <p:nvSpPr>
          <p:cNvPr id="20" name="td-4-1">
            <a:extLst>
              <a:ext uri="{FF2B5EF4-FFF2-40B4-BE49-F238E27FC236}">
                <a16:creationId xmlns:a16="http://schemas.microsoft.com/office/drawing/2014/main" id="{0874702F-F100-48BB-895A-6E1C1644754F}"/>
              </a:ext>
            </a:extLst>
          </p:cNvPr>
          <p:cNvSpPr>
            <a:spLocks noGrp="1"/>
          </p:cNvSpPr>
          <p:nvPr/>
        </p:nvSpPr>
        <p:spPr>
          <a:xfrm>
            <a:off x="2209800" y="4895850"/>
            <a:ext cx="3286125" cy="704850"/>
          </a:xfrm>
          <a:prstGeom prst="rect">
            <a:avLst/>
          </a:prstGeom>
          <a:solidFill>
            <a:srgbClr val="FAFAFB"/>
          </a:solidFill>
          <a:ln w="9525">
            <a:solidFill>
              <a:srgbClr val="D0D5DD"/>
            </a:solidFill>
            <a:prstDash val="solid"/>
          </a:ln>
        </p:spPr>
        <p:txBody>
          <a:bodyPr wrap="square" lIns="142875" tIns="76200" rIns="142875" bIns="76200" anchor="ctr">
            <a:normAutofit/>
          </a:bodyPr>
          <a:lstStyle/>
          <a:p>
            <a:pPr algn="l">
              <a:buNone/>
              <a:defRPr sz="13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PASS / BLOCK / ESCALATE</a:t>
            </a:r>
          </a:p>
        </p:txBody>
      </p:sp>
      <p:sp>
        <p:nvSpPr>
          <p:cNvPr id="21" name="td-4-2">
            <a:extLst>
              <a:ext uri="{FF2B5EF4-FFF2-40B4-BE49-F238E27FC236}">
                <a16:creationId xmlns:a16="http://schemas.microsoft.com/office/drawing/2014/main" id="{25AC5B88-E417-4F83-8109-3CEB0DF36148}"/>
              </a:ext>
            </a:extLst>
          </p:cNvPr>
          <p:cNvSpPr>
            <a:spLocks noGrp="1"/>
          </p:cNvSpPr>
          <p:nvPr/>
        </p:nvSpPr>
        <p:spPr>
          <a:xfrm>
            <a:off x="5495925" y="4895850"/>
            <a:ext cx="5286375" cy="704850"/>
          </a:xfrm>
          <a:prstGeom prst="rect">
            <a:avLst/>
          </a:prstGeom>
          <a:solidFill>
            <a:srgbClr val="FAFAFB"/>
          </a:solidFill>
          <a:ln w="9525">
            <a:solidFill>
              <a:srgbClr val="D0D5DD"/>
            </a:solidFill>
            <a:prstDash val="solid"/>
          </a:ln>
        </p:spPr>
        <p:txBody>
          <a:bodyPr wrap="square" lIns="142875" tIns="76200" rIns="142875" bIns="76200" anchor="ctr">
            <a:normAutofit/>
          </a:bodyPr>
          <a:lstStyle/>
          <a:p>
            <a:pPr algn="l">
              <a:buNone/>
              <a:defRPr sz="127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不自行创造证据</a:t>
            </a:r>
          </a:p>
        </p:txBody>
      </p:sp>
      <p:sp>
        <p:nvSpPr>
          <p:cNvPr id="22" name="boundary-pill">
            <a:extLst>
              <a:ext uri="{FF2B5EF4-FFF2-40B4-BE49-F238E27FC236}">
                <a16:creationId xmlns:a16="http://schemas.microsoft.com/office/drawing/2014/main" id="{4E6FC0BD-57E2-4414-BE32-4B0F0B42AF2F}"/>
              </a:ext>
            </a:extLst>
          </p:cNvPr>
          <p:cNvSpPr>
            <a:spLocks noGrp="1"/>
          </p:cNvSpPr>
          <p:nvPr/>
        </p:nvSpPr>
        <p:spPr>
          <a:xfrm>
            <a:off x="3876675" y="5762625"/>
            <a:ext cx="4476750" cy="323850"/>
          </a:xfrm>
          <a:prstGeom prst="roundRect">
            <a:avLst>
              <a:gd name="adj" fmla="val 35294"/>
            </a:avLst>
          </a:prstGeom>
          <a:solidFill>
            <a:srgbClr val="FDECEC"/>
          </a:solidFill>
          <a:ln w="9525">
            <a:solidFill>
              <a:srgbClr val="FDECEC"/>
            </a:solidFill>
            <a:prstDash val="solid"/>
          </a:ln>
        </p:spPr>
        <p:txBody>
          <a:bodyPr wrap="square" lIns="66675" tIns="38100" rIns="66675" bIns="38100" anchor="ctr">
            <a:normAutofit/>
          </a:bodyPr>
          <a:lstStyle/>
          <a:p>
            <a:pPr algn="ctr">
              <a:buNone/>
              <a:defRPr sz="112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Manager 可重试流程，但不能覆盖 Worker 的安全拒绝</a:t>
            </a:r>
          </a:p>
        </p:txBody>
      </p:sp>
      <p:sp>
        <p:nvSpPr>
          <p:cNvPr id="23" name="footer-7">
            <a:extLst>
              <a:ext uri="{FF2B5EF4-FFF2-40B4-BE49-F238E27FC236}">
                <a16:creationId xmlns:a16="http://schemas.microsoft.com/office/drawing/2014/main" id="{52FBA454-1874-48BF-A5D1-A9B0AC721178}"/>
              </a:ext>
            </a:extLst>
          </p:cNvPr>
          <p:cNvSpPr>
            <a:spLocks noGrp="1"/>
          </p:cNvSpPr>
          <p:nvPr/>
        </p:nvSpPr>
        <p:spPr>
          <a:xfrm>
            <a:off x="495300" y="6477000"/>
            <a:ext cx="8572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复杂任务多 Agent 自主协同｜初赛方案</a:t>
            </a:r>
          </a:p>
        </p:txBody>
      </p:sp>
      <p:sp>
        <p:nvSpPr>
          <p:cNvPr id="24" name="page-7">
            <a:extLst>
              <a:ext uri="{FF2B5EF4-FFF2-40B4-BE49-F238E27FC236}">
                <a16:creationId xmlns:a16="http://schemas.microsoft.com/office/drawing/2014/main" id="{5B34AA78-0D03-4033-B347-7C7321AACD76}"/>
              </a:ext>
            </a:extLst>
          </p:cNvPr>
          <p:cNvSpPr>
            <a:spLocks noGrp="1"/>
          </p:cNvSpPr>
          <p:nvPr/>
        </p:nvSpPr>
        <p:spPr>
          <a:xfrm>
            <a:off x="11144250" y="644842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770457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ev-panel-0">
            <a:extLst>
              <a:ext uri="{FF2B5EF4-FFF2-40B4-BE49-F238E27FC236}">
                <a16:creationId xmlns:a16="http://schemas.microsoft.com/office/drawing/2014/main" id="{32242803-FF36-4721-A544-15B067C874E5}"/>
              </a:ext>
            </a:extLst>
          </p:cNvPr>
          <p:cNvSpPr>
            <a:spLocks noGrp="1"/>
          </p:cNvSpPr>
          <p:nvPr/>
        </p:nvSpPr>
        <p:spPr>
          <a:xfrm>
            <a:off x="495300" y="1562100"/>
            <a:ext cx="3238500" cy="2076450"/>
          </a:xfrm>
          <a:prstGeom prst="roundRect">
            <a:avLst>
              <a:gd name="adj" fmla="val 5505"/>
            </a:avLst>
          </a:prstGeom>
          <a:solidFill>
            <a:srgbClr val="F2F4F7"/>
          </a:solidFill>
          <a:ln w="9525">
            <a:solidFill>
              <a:srgbClr val="F2F4F7"/>
            </a:solidFill>
            <a:prstDash val="solid"/>
          </a:ln>
        </p:spPr>
      </p:sp>
      <p:sp>
        <p:nvSpPr>
          <p:cNvPr id="2" name="ev-title-0">
            <a:extLst>
              <a:ext uri="{FF2B5EF4-FFF2-40B4-BE49-F238E27FC236}">
                <a16:creationId xmlns:a16="http://schemas.microsoft.com/office/drawing/2014/main" id="{9F1B8164-87C6-4FCB-BBA9-E082310642D4}"/>
              </a:ext>
            </a:extLst>
          </p:cNvPr>
          <p:cNvSpPr>
            <a:spLocks noGrp="1"/>
          </p:cNvSpPr>
          <p:nvPr/>
        </p:nvSpPr>
        <p:spPr>
          <a:xfrm>
            <a:off x="704850" y="1781175"/>
            <a:ext cx="2819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/>
          </a:bodyPr>
          <a:lstStyle/>
          <a:p>
            <a:pPr algn="l">
              <a:buNone/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01 原始文件</a:t>
            </a:r>
          </a:p>
        </p:txBody>
      </p:sp>
      <p:sp>
        <p:nvSpPr>
          <p:cNvPr id="3" name="ev-body-0">
            <a:extLst>
              <a:ext uri="{FF2B5EF4-FFF2-40B4-BE49-F238E27FC236}">
                <a16:creationId xmlns:a16="http://schemas.microsoft.com/office/drawing/2014/main" id="{23F2D4BC-0C6F-443C-8589-8EBD8A87C4D2}"/>
              </a:ext>
            </a:extLst>
          </p:cNvPr>
          <p:cNvSpPr>
            <a:spLocks noGrp="1"/>
          </p:cNvSpPr>
          <p:nvPr/>
        </p:nvSpPr>
        <p:spPr>
          <a:xfrm>
            <a:off x="704850" y="2362200"/>
            <a:ext cx="28194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l">
              <a:buNone/>
              <a:def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只读保留</a:t>
            </a:r>
          </a:p>
          <a:p>
            <a:pPr algn="l">
              <a:buNone/>
              <a:def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SHA-256 哈希</a:t>
            </a:r>
          </a:p>
          <a:p>
            <a:pPr algn="l">
              <a:buNone/>
              <a:def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访问授权</a:t>
            </a:r>
          </a:p>
        </p:txBody>
      </p:sp>
      <p:sp>
        <p:nvSpPr>
          <p:cNvPr id="4" name="ev-arrow-0">
            <a:extLst>
              <a:ext uri="{FF2B5EF4-FFF2-40B4-BE49-F238E27FC236}">
                <a16:creationId xmlns:a16="http://schemas.microsoft.com/office/drawing/2014/main" id="{6B11C15C-1BDC-4E7A-BDAB-EB9F4600C1EB}"/>
              </a:ext>
            </a:extLst>
          </p:cNvPr>
          <p:cNvSpPr>
            <a:spLocks noGrp="1"/>
          </p:cNvSpPr>
          <p:nvPr/>
        </p:nvSpPr>
        <p:spPr>
          <a:xfrm>
            <a:off x="3781425" y="2400300"/>
            <a:ext cx="381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96338"/>
          </a:bodyPr>
          <a:lstStyle/>
          <a:p>
            <a:pPr algn="ctr">
              <a:buNone/>
              <a:defRPr sz="187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5" name="ev-panel-1">
            <a:extLst>
              <a:ext uri="{FF2B5EF4-FFF2-40B4-BE49-F238E27FC236}">
                <a16:creationId xmlns:a16="http://schemas.microsoft.com/office/drawing/2014/main" id="{ABEE0AC2-CFE8-4D28-8A3B-C35705520015}"/>
              </a:ext>
            </a:extLst>
          </p:cNvPr>
          <p:cNvSpPr>
            <a:spLocks noGrp="1"/>
          </p:cNvSpPr>
          <p:nvPr/>
        </p:nvSpPr>
        <p:spPr>
          <a:xfrm>
            <a:off x="4210050" y="1562100"/>
            <a:ext cx="3238500" cy="2076450"/>
          </a:xfrm>
          <a:prstGeom prst="roundRect">
            <a:avLst>
              <a:gd name="adj" fmla="val 5505"/>
            </a:avLst>
          </a:prstGeom>
          <a:solidFill>
            <a:srgbClr val="EAF2FF"/>
          </a:solidFill>
          <a:ln w="9525">
            <a:solidFill>
              <a:srgbClr val="EAF2FF"/>
            </a:solidFill>
            <a:prstDash val="solid"/>
          </a:ln>
        </p:spPr>
      </p:sp>
      <p:sp>
        <p:nvSpPr>
          <p:cNvPr id="6" name="ev-title-1">
            <a:extLst>
              <a:ext uri="{FF2B5EF4-FFF2-40B4-BE49-F238E27FC236}">
                <a16:creationId xmlns:a16="http://schemas.microsoft.com/office/drawing/2014/main" id="{03252118-BA7F-4521-A805-D862CEE7082B}"/>
              </a:ext>
            </a:extLst>
          </p:cNvPr>
          <p:cNvSpPr>
            <a:spLocks noGrp="1"/>
          </p:cNvSpPr>
          <p:nvPr/>
        </p:nvSpPr>
        <p:spPr>
          <a:xfrm>
            <a:off x="4419600" y="1781175"/>
            <a:ext cx="2819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/>
          </a:bodyPr>
          <a:lstStyle/>
          <a:p>
            <a:pPr algn="l">
              <a:buNone/>
              <a:defRPr sz="157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02 行号化 Markdown</a:t>
            </a:r>
          </a:p>
        </p:txBody>
      </p:sp>
      <p:sp>
        <p:nvSpPr>
          <p:cNvPr id="7" name="ev-body-1">
            <a:extLst>
              <a:ext uri="{FF2B5EF4-FFF2-40B4-BE49-F238E27FC236}">
                <a16:creationId xmlns:a16="http://schemas.microsoft.com/office/drawing/2014/main" id="{31094793-78E3-447E-9F21-41D6FD7319FB}"/>
              </a:ext>
            </a:extLst>
          </p:cNvPr>
          <p:cNvSpPr>
            <a:spLocks noGrp="1"/>
          </p:cNvSpPr>
          <p:nvPr/>
        </p:nvSpPr>
        <p:spPr>
          <a:xfrm>
            <a:off x="4419600" y="2362200"/>
            <a:ext cx="28194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l">
              <a:buNone/>
              <a:def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学生与 AI 共览</a:t>
            </a:r>
          </a:p>
          <a:p>
            <a:pPr algn="l">
              <a:buNone/>
              <a:def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段落 / 区块锚点</a:t>
            </a:r>
          </a:p>
          <a:p>
            <a:pPr algn="l">
              <a:buNone/>
              <a:def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可人工纠正</a:t>
            </a:r>
          </a:p>
        </p:txBody>
      </p:sp>
      <p:sp>
        <p:nvSpPr>
          <p:cNvPr id="8" name="ev-arrow-1">
            <a:extLst>
              <a:ext uri="{FF2B5EF4-FFF2-40B4-BE49-F238E27FC236}">
                <a16:creationId xmlns:a16="http://schemas.microsoft.com/office/drawing/2014/main" id="{FA44BD2A-1346-44F8-B667-218B27280890}"/>
              </a:ext>
            </a:extLst>
          </p:cNvPr>
          <p:cNvSpPr>
            <a:spLocks noGrp="1"/>
          </p:cNvSpPr>
          <p:nvPr/>
        </p:nvSpPr>
        <p:spPr>
          <a:xfrm>
            <a:off x="7496175" y="2400300"/>
            <a:ext cx="381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96338"/>
          </a:bodyPr>
          <a:lstStyle/>
          <a:p>
            <a:pPr algn="ctr">
              <a:buNone/>
              <a:defRPr sz="187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ev-panel-2">
            <a:extLst>
              <a:ext uri="{FF2B5EF4-FFF2-40B4-BE49-F238E27FC236}">
                <a16:creationId xmlns:a16="http://schemas.microsoft.com/office/drawing/2014/main" id="{E33D1D57-2223-4B89-987C-251762B4B771}"/>
              </a:ext>
            </a:extLst>
          </p:cNvPr>
          <p:cNvSpPr>
            <a:spLocks noGrp="1"/>
          </p:cNvSpPr>
          <p:nvPr/>
        </p:nvSpPr>
        <p:spPr>
          <a:xfrm>
            <a:off x="7924800" y="1562100"/>
            <a:ext cx="3238500" cy="2076450"/>
          </a:xfrm>
          <a:prstGeom prst="roundRect">
            <a:avLst>
              <a:gd name="adj" fmla="val 5505"/>
            </a:avLst>
          </a:prstGeom>
          <a:solidFill>
            <a:srgbClr val="F2ECFF"/>
          </a:solidFill>
          <a:ln w="9525">
            <a:solidFill>
              <a:srgbClr val="F2ECFF"/>
            </a:solidFill>
            <a:prstDash val="solid"/>
          </a:ln>
        </p:spPr>
      </p:sp>
      <p:sp>
        <p:nvSpPr>
          <p:cNvPr id="10" name="ev-title-2">
            <a:extLst>
              <a:ext uri="{FF2B5EF4-FFF2-40B4-BE49-F238E27FC236}">
                <a16:creationId xmlns:a16="http://schemas.microsoft.com/office/drawing/2014/main" id="{258C46B7-FBC9-4443-B5DA-77AC9B96AE0D}"/>
              </a:ext>
            </a:extLst>
          </p:cNvPr>
          <p:cNvSpPr>
            <a:spLocks noGrp="1"/>
          </p:cNvSpPr>
          <p:nvPr/>
        </p:nvSpPr>
        <p:spPr>
          <a:xfrm>
            <a:off x="8134350" y="1781175"/>
            <a:ext cx="2819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/>
          </a:bodyPr>
          <a:lstStyle/>
          <a:p>
            <a:pPr algn="l">
              <a:buNone/>
              <a:defRPr sz="1575" b="1">
                <a:solidFill>
                  <a:srgbClr val="704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7047B8"/>
                </a:solidFill>
                <a:latin typeface="Microsoft YaHei"/>
                <a:ea typeface="Microsoft YaHei"/>
                <a:cs typeface="Microsoft YaHei"/>
              </a:rPr>
              <a:t>03 证据 JSON</a:t>
            </a:r>
          </a:p>
        </p:txBody>
      </p:sp>
      <p:sp>
        <p:nvSpPr>
          <p:cNvPr id="11" name="ev-body-2">
            <a:extLst>
              <a:ext uri="{FF2B5EF4-FFF2-40B4-BE49-F238E27FC236}">
                <a16:creationId xmlns:a16="http://schemas.microsoft.com/office/drawing/2014/main" id="{CD716CAC-0622-4BD8-AFF0-7C39EDBB70F5}"/>
              </a:ext>
            </a:extLst>
          </p:cNvPr>
          <p:cNvSpPr>
            <a:spLocks noGrp="1"/>
          </p:cNvSpPr>
          <p:nvPr/>
        </p:nvSpPr>
        <p:spPr>
          <a:xfrm>
            <a:off x="8134350" y="2362200"/>
            <a:ext cx="28194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l">
              <a:buNone/>
              <a:def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claim + evidence_id</a:t>
            </a:r>
          </a:p>
          <a:p>
            <a:pPr algn="l">
              <a:buNone/>
              <a:def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source_quote</a:t>
            </a:r>
          </a:p>
          <a:p>
            <a:pPr algn="l">
              <a:buNone/>
              <a:def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strength + confirmed</a:t>
            </a:r>
          </a:p>
        </p:txBody>
      </p:sp>
      <p:sp>
        <p:nvSpPr>
          <p:cNvPr id="12" name="ev-example-label">
            <a:extLst>
              <a:ext uri="{FF2B5EF4-FFF2-40B4-BE49-F238E27FC236}">
                <a16:creationId xmlns:a16="http://schemas.microsoft.com/office/drawing/2014/main" id="{6471B457-DBC7-496B-AD11-DC54913100D5}"/>
              </a:ext>
            </a:extLst>
          </p:cNvPr>
          <p:cNvSpPr>
            <a:spLocks noGrp="1"/>
          </p:cNvSpPr>
          <p:nvPr/>
        </p:nvSpPr>
        <p:spPr>
          <a:xfrm>
            <a:off x="495300" y="39433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证据对象（合成示例）</a:t>
            </a:r>
          </a:p>
        </p:txBody>
      </p:sp>
      <p:sp>
        <p:nvSpPr>
          <p:cNvPr id="13" name="ev-code">
            <a:extLst>
              <a:ext uri="{FF2B5EF4-FFF2-40B4-BE49-F238E27FC236}">
                <a16:creationId xmlns:a16="http://schemas.microsoft.com/office/drawing/2014/main" id="{6B3E25DA-AE30-475E-AF8E-38C4B3188346}"/>
              </a:ext>
            </a:extLst>
          </p:cNvPr>
          <p:cNvSpPr>
            <a:spLocks noGrp="1"/>
          </p:cNvSpPr>
          <p:nvPr/>
        </p:nvSpPr>
        <p:spPr>
          <a:xfrm>
            <a:off x="495300" y="4295775"/>
            <a:ext cx="7096125" cy="1619250"/>
          </a:xfrm>
          <a:prstGeom prst="roundRect">
            <a:avLst>
              <a:gd name="adj" fmla="val 7059"/>
            </a:avLst>
          </a:prstGeom>
          <a:solidFill>
            <a:srgbClr val="101828"/>
          </a:solidFill>
          <a:ln w="0">
            <a:solidFill>
              <a:srgbClr val="101828"/>
            </a:solidFill>
            <a:prstDash val="solid"/>
          </a:ln>
        </p:spPr>
        <p:txBody>
          <a:bodyPr wrap="square" lIns="209550" tIns="171450" rIns="209550" bIns="171450" anchor="t">
            <a:normAutofit/>
          </a:bodyPr>
          <a:lstStyle/>
          <a:p>
            <a:pPr algn="l">
              <a:buNone/>
              <a:defRPr sz="1350" b="0">
                <a:solidFill>
                  <a:srgbClr val="E8EEF6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8EEF6"/>
                </a:solidFill>
                <a:latin typeface="Consolas"/>
                <a:ea typeface="Consolas"/>
                <a:cs typeface="Consolas"/>
              </a:rPr>
              <a:t>claim: 具备办公与信息处理经验</a:t>
            </a:r>
          </a:p>
          <a:p>
            <a:pPr algn="l">
              <a:buNone/>
              <a:defRPr sz="1350" b="0">
                <a:solidFill>
                  <a:srgbClr val="E8EEF6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8EEF6"/>
                </a:solidFill>
                <a:latin typeface="Consolas"/>
                <a:ea typeface="Consolas"/>
                <a:cs typeface="Consolas"/>
              </a:rPr>
              <a:t>evidence: E-S001-003</a:t>
            </a:r>
          </a:p>
          <a:p>
            <a:pPr algn="l">
              <a:buNone/>
              <a:defRPr sz="1350" b="0">
                <a:solidFill>
                  <a:srgbClr val="E8EEF6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8EEF6"/>
                </a:solidFill>
                <a:latin typeface="Consolas"/>
                <a:ea typeface="Consolas"/>
                <a:cs typeface="Consolas"/>
              </a:rPr>
              <a:t>source: “我使用 Excel 维护活动报名名单，核对参与者信息。”</a:t>
            </a:r>
          </a:p>
          <a:p>
            <a:pPr algn="l">
              <a:buNone/>
              <a:defRPr sz="1350" b="0">
                <a:solidFill>
                  <a:srgbClr val="E8EEF6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8EEF6"/>
                </a:solidFill>
                <a:latin typeface="Consolas"/>
                <a:ea typeface="Consolas"/>
                <a:cs typeface="Consolas"/>
              </a:rPr>
              <a:t>strength: direct    confirmed: true</a:t>
            </a:r>
          </a:p>
        </p:txBody>
      </p:sp>
      <p:sp>
        <p:nvSpPr>
          <p:cNvPr id="14" name="ev-rule">
            <a:extLst>
              <a:ext uri="{FF2B5EF4-FFF2-40B4-BE49-F238E27FC236}">
                <a16:creationId xmlns:a16="http://schemas.microsoft.com/office/drawing/2014/main" id="{EF529C9D-BCF8-41F8-A7A4-CC5C643F9746}"/>
              </a:ext>
            </a:extLst>
          </p:cNvPr>
          <p:cNvSpPr>
            <a:spLocks noGrp="1"/>
          </p:cNvSpPr>
          <p:nvPr/>
        </p:nvSpPr>
        <p:spPr>
          <a:xfrm>
            <a:off x="7953375" y="4295775"/>
            <a:ext cx="3400425" cy="1619250"/>
          </a:xfrm>
          <a:prstGeom prst="roundRect">
            <a:avLst>
              <a:gd name="adj" fmla="val 7059"/>
            </a:avLst>
          </a:prstGeom>
          <a:solidFill>
            <a:srgbClr val="E8F7F0"/>
          </a:solidFill>
          <a:ln w="9525">
            <a:solidFill>
              <a:srgbClr val="E8F7F0"/>
            </a:solidFill>
            <a:prstDash val="solid"/>
          </a:ln>
        </p:spPr>
      </p:sp>
      <p:sp>
        <p:nvSpPr>
          <p:cNvPr id="15" name="ev-rule-title">
            <a:extLst>
              <a:ext uri="{FF2B5EF4-FFF2-40B4-BE49-F238E27FC236}">
                <a16:creationId xmlns:a16="http://schemas.microsoft.com/office/drawing/2014/main" id="{CB86824F-31BA-4249-82C4-237D926C3FA1}"/>
              </a:ext>
            </a:extLst>
          </p:cNvPr>
          <p:cNvSpPr>
            <a:spLocks noGrp="1"/>
          </p:cNvSpPr>
          <p:nvPr/>
        </p:nvSpPr>
        <p:spPr>
          <a:xfrm>
            <a:off x="8220075" y="449580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91667"/>
          </a:bodyPr>
          <a:lstStyle/>
          <a:p>
            <a:pPr algn="ctr">
              <a:buNone/>
              <a:defRPr sz="150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rPr>
              <a:t>可导出条件</a:t>
            </a:r>
          </a:p>
        </p:txBody>
      </p:sp>
      <p:sp>
        <p:nvSpPr>
          <p:cNvPr id="16" name="ev-rule-body">
            <a:extLst>
              <a:ext uri="{FF2B5EF4-FFF2-40B4-BE49-F238E27FC236}">
                <a16:creationId xmlns:a16="http://schemas.microsoft.com/office/drawing/2014/main" id="{C2B8044B-8C60-479F-AB90-1B887D715CA6}"/>
              </a:ext>
            </a:extLst>
          </p:cNvPr>
          <p:cNvSpPr>
            <a:spLocks noGrp="1"/>
          </p:cNvSpPr>
          <p:nvPr/>
        </p:nvSpPr>
        <p:spPr>
          <a:xfrm>
            <a:off x="8296275" y="4933950"/>
            <a:ext cx="2705100" cy="790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 fontScale="87010"/>
          </a:bodyPr>
          <a:lstStyle/>
          <a:p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重要结论有 evidence_id</a:t>
            </a:r>
          </a:p>
          <a:p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原文可定位</a:t>
            </a:r>
          </a:p>
          <a:p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确认状态明确</a:t>
            </a:r>
          </a:p>
          <a:p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Audit 检查通过</a:t>
            </a:r>
          </a:p>
        </p:txBody>
      </p:sp>
      <p:sp>
        <p:nvSpPr>
          <p:cNvPr id="17" name="ev-header-band">
            <a:extLst>
              <a:ext uri="{FF2B5EF4-FFF2-40B4-BE49-F238E27FC236}">
                <a16:creationId xmlns:a16="http://schemas.microsoft.com/office/drawing/2014/main" id="{FBF58C8C-3756-433A-A308-5852B28451E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81125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8" name="kicker-8">
            <a:extLst>
              <a:ext uri="{FF2B5EF4-FFF2-40B4-BE49-F238E27FC236}">
                <a16:creationId xmlns:a16="http://schemas.microsoft.com/office/drawing/2014/main" id="{7E1F1F9B-5102-461B-9C9A-AC262B4F986A}"/>
              </a:ext>
            </a:extLst>
          </p:cNvPr>
          <p:cNvSpPr>
            <a:spLocks noGrp="1"/>
          </p:cNvSpPr>
          <p:nvPr/>
        </p:nvSpPr>
        <p:spPr>
          <a:xfrm>
            <a:off x="495300" y="295275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CAMPUSMATCH</a:t>
            </a:r>
          </a:p>
        </p:txBody>
      </p:sp>
      <p:sp>
        <p:nvSpPr>
          <p:cNvPr id="19" name="title-8">
            <a:extLst>
              <a:ext uri="{FF2B5EF4-FFF2-40B4-BE49-F238E27FC236}">
                <a16:creationId xmlns:a16="http://schemas.microsoft.com/office/drawing/2014/main" id="{D53A29B9-B308-48B5-9200-01DA35E0A97A}"/>
              </a:ext>
            </a:extLst>
          </p:cNvPr>
          <p:cNvSpPr>
            <a:spLocks noGrp="1"/>
          </p:cNvSpPr>
          <p:nvPr/>
        </p:nvSpPr>
        <p:spPr>
          <a:xfrm>
            <a:off x="495300" y="552450"/>
            <a:ext cx="11201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三层证据链，让每项能力回到原文</a:t>
            </a:r>
          </a:p>
        </p:txBody>
      </p:sp>
      <p:cxnSp>
        <p:nvCxnSpPr>
          <p:cNvPr id="82" name="header-line-8"/>
          <p:cNvCxnSpPr/>
          <p:nvPr/>
        </p:nvCxnSpPr>
        <p:spPr>
          <a:xfrm>
            <a:off x="495300" y="1219200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21" name="footer-8">
            <a:extLst>
              <a:ext uri="{FF2B5EF4-FFF2-40B4-BE49-F238E27FC236}">
                <a16:creationId xmlns:a16="http://schemas.microsoft.com/office/drawing/2014/main" id="{E8F617D8-B1CB-47C1-88F1-C228CB898299}"/>
              </a:ext>
            </a:extLst>
          </p:cNvPr>
          <p:cNvSpPr>
            <a:spLocks noGrp="1"/>
          </p:cNvSpPr>
          <p:nvPr/>
        </p:nvSpPr>
        <p:spPr>
          <a:xfrm>
            <a:off x="495300" y="6477000"/>
            <a:ext cx="8572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复杂任务多 Agent 自主协同｜初赛方案</a:t>
            </a:r>
          </a:p>
        </p:txBody>
      </p:sp>
      <p:sp>
        <p:nvSpPr>
          <p:cNvPr id="22" name="page-8">
            <a:extLst>
              <a:ext uri="{FF2B5EF4-FFF2-40B4-BE49-F238E27FC236}">
                <a16:creationId xmlns:a16="http://schemas.microsoft.com/office/drawing/2014/main" id="{45EFA5DA-4668-421E-B81B-FA86B85F4C05}"/>
              </a:ext>
            </a:extLst>
          </p:cNvPr>
          <p:cNvSpPr>
            <a:spLocks noGrp="1"/>
          </p:cNvSpPr>
          <p:nvPr/>
        </p:nvSpPr>
        <p:spPr>
          <a:xfrm>
            <a:off x="11144250" y="644842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231536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kicker-9">
            <a:extLst>
              <a:ext uri="{FF2B5EF4-FFF2-40B4-BE49-F238E27FC236}">
                <a16:creationId xmlns:a16="http://schemas.microsoft.com/office/drawing/2014/main" id="{BEF755DE-7FC3-46E8-B1A9-E485A2A08F8D}"/>
              </a:ext>
            </a:extLst>
          </p:cNvPr>
          <p:cNvSpPr>
            <a:spLocks noGrp="1"/>
          </p:cNvSpPr>
          <p:nvPr/>
        </p:nvSpPr>
        <p:spPr>
          <a:xfrm>
            <a:off x="495300" y="295275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CAMPUSMATCH</a:t>
            </a:r>
          </a:p>
        </p:txBody>
      </p:sp>
      <p:sp>
        <p:nvSpPr>
          <p:cNvPr id="2" name="title-9">
            <a:extLst>
              <a:ext uri="{FF2B5EF4-FFF2-40B4-BE49-F238E27FC236}">
                <a16:creationId xmlns:a16="http://schemas.microsoft.com/office/drawing/2014/main" id="{060BB934-1FF7-47DE-946D-49A741A48FE6}"/>
              </a:ext>
            </a:extLst>
          </p:cNvPr>
          <p:cNvSpPr>
            <a:spLocks noGrp="1"/>
          </p:cNvSpPr>
          <p:nvPr/>
        </p:nvSpPr>
        <p:spPr>
          <a:xfrm>
            <a:off x="495300" y="552450"/>
            <a:ext cx="11201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匹配度与证据覆盖度分开展示</a:t>
            </a:r>
          </a:p>
        </p:txBody>
      </p:sp>
      <p:cxnSp>
        <p:nvCxnSpPr>
          <p:cNvPr id="95" name="header-line-9"/>
          <p:cNvCxnSpPr/>
          <p:nvPr/>
        </p:nvCxnSpPr>
        <p:spPr>
          <a:xfrm>
            <a:off x="495300" y="1219200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score-panel">
            <a:extLst>
              <a:ext uri="{FF2B5EF4-FFF2-40B4-BE49-F238E27FC236}">
                <a16:creationId xmlns:a16="http://schemas.microsoft.com/office/drawing/2014/main" id="{A2FCF5CC-67FE-4FE7-A4C7-51848B7DE6F0}"/>
              </a:ext>
            </a:extLst>
          </p:cNvPr>
          <p:cNvSpPr>
            <a:spLocks noGrp="1"/>
          </p:cNvSpPr>
          <p:nvPr/>
        </p:nvSpPr>
        <p:spPr>
          <a:xfrm>
            <a:off x="495300" y="1524000"/>
            <a:ext cx="2714625" cy="4362450"/>
          </a:xfrm>
          <a:prstGeom prst="roundRect">
            <a:avLst>
              <a:gd name="adj" fmla="val 4211"/>
            </a:avLst>
          </a:prstGeom>
          <a:solidFill>
            <a:srgbClr val="FAFAFB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5" name="score-title">
            <a:extLst>
              <a:ext uri="{FF2B5EF4-FFF2-40B4-BE49-F238E27FC236}">
                <a16:creationId xmlns:a16="http://schemas.microsoft.com/office/drawing/2014/main" id="{664A0D13-DD50-4646-A4C2-49680374DBE4}"/>
              </a:ext>
            </a:extLst>
          </p:cNvPr>
          <p:cNvSpPr>
            <a:spLocks noGrp="1"/>
          </p:cNvSpPr>
          <p:nvPr/>
        </p:nvSpPr>
        <p:spPr>
          <a:xfrm>
            <a:off x="742950" y="1724025"/>
            <a:ext cx="2219325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/>
          </a:bodyPr>
          <a:lstStyle/>
          <a:p>
            <a:pPr algn="ctr">
              <a:buNone/>
              <a:defRPr sz="14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岗位匹配度</a:t>
            </a:r>
          </a:p>
        </p:txBody>
      </p:sp>
      <p:sp>
        <p:nvSpPr>
          <p:cNvPr id="6" name="score-outer">
            <a:extLst>
              <a:ext uri="{FF2B5EF4-FFF2-40B4-BE49-F238E27FC236}">
                <a16:creationId xmlns:a16="http://schemas.microsoft.com/office/drawing/2014/main" id="{2305290B-47AA-4D9F-A60A-7FF3293CD6B8}"/>
              </a:ext>
            </a:extLst>
          </p:cNvPr>
          <p:cNvSpPr>
            <a:spLocks noGrp="1"/>
          </p:cNvSpPr>
          <p:nvPr/>
        </p:nvSpPr>
        <p:spPr>
          <a:xfrm>
            <a:off x="914400" y="2266950"/>
            <a:ext cx="1866900" cy="1866900"/>
          </a:xfrm>
          <a:prstGeom prst="ellipse">
            <a:avLst/>
          </a:prstGeom>
          <a:solidFill>
            <a:srgbClr val="1666D3"/>
          </a:solidFill>
          <a:ln w="0">
            <a:solidFill>
              <a:srgbClr val="1666D3"/>
            </a:solidFill>
            <a:prstDash val="solid"/>
          </a:ln>
        </p:spPr>
      </p:sp>
      <p:sp>
        <p:nvSpPr>
          <p:cNvPr id="7" name="score-inner">
            <a:extLst>
              <a:ext uri="{FF2B5EF4-FFF2-40B4-BE49-F238E27FC236}">
                <a16:creationId xmlns:a16="http://schemas.microsoft.com/office/drawing/2014/main" id="{527CA6A1-3D69-4D64-9163-44C44CC9F34E}"/>
              </a:ext>
            </a:extLst>
          </p:cNvPr>
          <p:cNvSpPr>
            <a:spLocks noGrp="1"/>
          </p:cNvSpPr>
          <p:nvPr/>
        </p:nvSpPr>
        <p:spPr>
          <a:xfrm>
            <a:off x="1228725" y="2581275"/>
            <a:ext cx="1238250" cy="1238250"/>
          </a:xfrm>
          <a:prstGeom prst="ellipse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8" name="score-num">
            <a:extLst>
              <a:ext uri="{FF2B5EF4-FFF2-40B4-BE49-F238E27FC236}">
                <a16:creationId xmlns:a16="http://schemas.microsoft.com/office/drawing/2014/main" id="{96DAE796-99A8-4B4D-9BB8-F10F635B0C03}"/>
              </a:ext>
            </a:extLst>
          </p:cNvPr>
          <p:cNvSpPr>
            <a:spLocks noGrp="1"/>
          </p:cNvSpPr>
          <p:nvPr/>
        </p:nvSpPr>
        <p:spPr>
          <a:xfrm>
            <a:off x="1304925" y="2819400"/>
            <a:ext cx="10858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 fontScale="90909"/>
          </a:bodyPr>
          <a:lstStyle/>
          <a:p>
            <a:pPr algn="ctr">
              <a:buNone/>
              <a:defRPr sz="3300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rPr>
              <a:t>77</a:t>
            </a:r>
          </a:p>
        </p:txBody>
      </p:sp>
      <p:sp>
        <p:nvSpPr>
          <p:cNvPr id="9" name="score-unit">
            <a:extLst>
              <a:ext uri="{FF2B5EF4-FFF2-40B4-BE49-F238E27FC236}">
                <a16:creationId xmlns:a16="http://schemas.microsoft.com/office/drawing/2014/main" id="{B495AB04-A2B4-4E0F-8C32-05715BEB287B}"/>
              </a:ext>
            </a:extLst>
          </p:cNvPr>
          <p:cNvSpPr>
            <a:spLocks noGrp="1"/>
          </p:cNvSpPr>
          <p:nvPr/>
        </p:nvSpPr>
        <p:spPr>
          <a:xfrm>
            <a:off x="1485900" y="3371850"/>
            <a:ext cx="7143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71429"/>
          </a:bodyPr>
          <a:lstStyle/>
          <a:p>
            <a:pPr algn="ctr">
              <a:buNone/>
              <a:defRPr sz="10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/ 100</a:t>
            </a:r>
          </a:p>
        </p:txBody>
      </p:sp>
      <p:sp>
        <p:nvSpPr>
          <p:cNvPr id="10" name="confidence-label">
            <a:extLst>
              <a:ext uri="{FF2B5EF4-FFF2-40B4-BE49-F238E27FC236}">
                <a16:creationId xmlns:a16="http://schemas.microsoft.com/office/drawing/2014/main" id="{7838CC5A-2A75-4A83-B874-A79BCF62A4A9}"/>
              </a:ext>
            </a:extLst>
          </p:cNvPr>
          <p:cNvSpPr>
            <a:spLocks noGrp="1"/>
          </p:cNvSpPr>
          <p:nvPr/>
        </p:nvSpPr>
        <p:spPr>
          <a:xfrm>
            <a:off x="742950" y="4467225"/>
            <a:ext cx="22193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83333"/>
          </a:bodyPr>
          <a:lstStyle/>
          <a:p>
            <a:pPr algn="ctr">
              <a:buNone/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证据覆盖度 85%</a:t>
            </a:r>
          </a:p>
        </p:txBody>
      </p:sp>
      <p:sp>
        <p:nvSpPr>
          <p:cNvPr id="11" name="conf-bg">
            <a:extLst>
              <a:ext uri="{FF2B5EF4-FFF2-40B4-BE49-F238E27FC236}">
                <a16:creationId xmlns:a16="http://schemas.microsoft.com/office/drawing/2014/main" id="{8AF4A868-7591-4B47-952C-A9E8B76D44AF}"/>
              </a:ext>
            </a:extLst>
          </p:cNvPr>
          <p:cNvSpPr>
            <a:spLocks noGrp="1"/>
          </p:cNvSpPr>
          <p:nvPr/>
        </p:nvSpPr>
        <p:spPr>
          <a:xfrm>
            <a:off x="819150" y="4886325"/>
            <a:ext cx="2066925" cy="123825"/>
          </a:xfrm>
          <a:prstGeom prst="roundRect">
            <a:avLst>
              <a:gd name="adj" fmla="val 50000"/>
            </a:avLst>
          </a:prstGeom>
          <a:solidFill>
            <a:srgbClr val="D0D5DD"/>
          </a:solidFill>
          <a:ln w="0">
            <a:solidFill>
              <a:srgbClr val="D0D5DD"/>
            </a:solidFill>
            <a:prstDash val="solid"/>
          </a:ln>
        </p:spPr>
      </p:sp>
      <p:sp>
        <p:nvSpPr>
          <p:cNvPr id="12" name="conf-fill">
            <a:extLst>
              <a:ext uri="{FF2B5EF4-FFF2-40B4-BE49-F238E27FC236}">
                <a16:creationId xmlns:a16="http://schemas.microsoft.com/office/drawing/2014/main" id="{FAEE291A-9EC0-42A8-93C2-54A7024817F5}"/>
              </a:ext>
            </a:extLst>
          </p:cNvPr>
          <p:cNvSpPr>
            <a:spLocks noGrp="1"/>
          </p:cNvSpPr>
          <p:nvPr/>
        </p:nvSpPr>
        <p:spPr>
          <a:xfrm>
            <a:off x="819150" y="4886325"/>
            <a:ext cx="1752600" cy="123825"/>
          </a:xfrm>
          <a:prstGeom prst="roundRect">
            <a:avLst>
              <a:gd name="adj" fmla="val 50000"/>
            </a:avLst>
          </a:prstGeom>
          <a:solidFill>
            <a:srgbClr val="16865B"/>
          </a:solidFill>
          <a:ln w="0">
            <a:solidFill>
              <a:srgbClr val="16865B"/>
            </a:solidFill>
            <a:prstDash val="solid"/>
          </a:ln>
        </p:spPr>
      </p:sp>
      <p:sp>
        <p:nvSpPr>
          <p:cNvPr id="13" name="score-note">
            <a:extLst>
              <a:ext uri="{FF2B5EF4-FFF2-40B4-BE49-F238E27FC236}">
                <a16:creationId xmlns:a16="http://schemas.microsoft.com/office/drawing/2014/main" id="{85F96D50-A0B1-4510-82C1-00ED2E9F9ECF}"/>
              </a:ext>
            </a:extLst>
          </p:cNvPr>
          <p:cNvSpPr>
            <a:spLocks noGrp="1"/>
          </p:cNvSpPr>
          <p:nvPr/>
        </p:nvSpPr>
        <p:spPr>
          <a:xfrm>
            <a:off x="866775" y="5238750"/>
            <a:ext cx="19716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/>
          </a:bodyPr>
          <a:lstStyle/>
          <a:p>
            <a:pPr algn="ctr">
              <a:buNone/>
              <a:defRPr sz="112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匹配 ≠ 录用概率</a:t>
            </a:r>
          </a:p>
        </p:txBody>
      </p:sp>
      <p:sp>
        <p:nvSpPr>
          <p:cNvPr id="14" name="radar-panel">
            <a:extLst>
              <a:ext uri="{FF2B5EF4-FFF2-40B4-BE49-F238E27FC236}">
                <a16:creationId xmlns:a16="http://schemas.microsoft.com/office/drawing/2014/main" id="{4874527A-1E7C-4B8F-825B-D85C26327909}"/>
              </a:ext>
            </a:extLst>
          </p:cNvPr>
          <p:cNvSpPr>
            <a:spLocks noGrp="1"/>
          </p:cNvSpPr>
          <p:nvPr/>
        </p:nvSpPr>
        <p:spPr>
          <a:xfrm>
            <a:off x="3429000" y="1524000"/>
            <a:ext cx="3857625" cy="436245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5" name="radar-title">
            <a:extLst>
              <a:ext uri="{FF2B5EF4-FFF2-40B4-BE49-F238E27FC236}">
                <a16:creationId xmlns:a16="http://schemas.microsoft.com/office/drawing/2014/main" id="{825816E7-8DBE-4871-B342-375E736F532D}"/>
              </a:ext>
            </a:extLst>
          </p:cNvPr>
          <p:cNvSpPr>
            <a:spLocks noGrp="1"/>
          </p:cNvSpPr>
          <p:nvPr/>
        </p:nvSpPr>
        <p:spPr>
          <a:xfrm>
            <a:off x="3705225" y="1724025"/>
            <a:ext cx="3295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96491"/>
          </a:bodyPr>
          <a:lstStyle/>
          <a:p>
            <a:pPr algn="ctr">
              <a:buNone/>
              <a:defRPr sz="14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五维证据画像</a:t>
            </a:r>
          </a:p>
        </p:txBody>
      </p:sp>
      <p:graphicFrame>
        <p:nvGraphicFramePr>
          <p:cNvPr id="108" name="Chart"/>
          <p:cNvGraphicFramePr/>
          <p:nvPr/>
        </p:nvGraphicFramePr>
        <p:xfrm>
          <a:off x="3676650" y="2133600"/>
          <a:ext cx="3352800" cy="30670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" name="radar-note">
            <a:extLst>
              <a:ext uri="{FF2B5EF4-FFF2-40B4-BE49-F238E27FC236}">
                <a16:creationId xmlns:a16="http://schemas.microsoft.com/office/drawing/2014/main" id="{28BE2759-EE99-4A68-A24E-EA328B9F8242}"/>
              </a:ext>
            </a:extLst>
          </p:cNvPr>
          <p:cNvSpPr>
            <a:spLocks noGrp="1"/>
          </p:cNvSpPr>
          <p:nvPr/>
        </p:nvSpPr>
        <p:spPr>
          <a:xfrm>
            <a:off x="4248150" y="5334000"/>
            <a:ext cx="2209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83333"/>
          </a:bodyPr>
          <a:lstStyle/>
          <a:p>
            <a:pPr algn="ctr">
              <a:buNone/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基于已确认材料</a:t>
            </a:r>
          </a:p>
        </p:txBody>
      </p:sp>
      <p:sp>
        <p:nvSpPr>
          <p:cNvPr id="18" name="matrix-panel">
            <a:extLst>
              <a:ext uri="{FF2B5EF4-FFF2-40B4-BE49-F238E27FC236}">
                <a16:creationId xmlns:a16="http://schemas.microsoft.com/office/drawing/2014/main" id="{1C2F6671-05A5-4782-A259-7204B55BDF98}"/>
              </a:ext>
            </a:extLst>
          </p:cNvPr>
          <p:cNvSpPr>
            <a:spLocks noGrp="1"/>
          </p:cNvSpPr>
          <p:nvPr/>
        </p:nvSpPr>
        <p:spPr>
          <a:xfrm>
            <a:off x="7505700" y="1524000"/>
            <a:ext cx="3848100" cy="4362450"/>
          </a:xfrm>
          <a:prstGeom prst="roundRect">
            <a:avLst>
              <a:gd name="adj" fmla="val 2970"/>
            </a:avLst>
          </a:prstGeom>
          <a:solidFill>
            <a:srgbClr val="FAFAFB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9" name="matrix-title">
            <a:extLst>
              <a:ext uri="{FF2B5EF4-FFF2-40B4-BE49-F238E27FC236}">
                <a16:creationId xmlns:a16="http://schemas.microsoft.com/office/drawing/2014/main" id="{DBCB6D8D-27CB-429E-B706-CB311CA28647}"/>
              </a:ext>
            </a:extLst>
          </p:cNvPr>
          <p:cNvSpPr>
            <a:spLocks noGrp="1"/>
          </p:cNvSpPr>
          <p:nvPr/>
        </p:nvSpPr>
        <p:spPr>
          <a:xfrm>
            <a:off x="7772400" y="1724025"/>
            <a:ext cx="3314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96491"/>
          </a:bodyPr>
          <a:lstStyle/>
          <a:p>
            <a:pPr algn="ctr">
              <a:buNone/>
              <a:defRPr sz="14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要求证据矩阵</a:t>
            </a:r>
          </a:p>
        </p:txBody>
      </p:sp>
      <p:sp>
        <p:nvSpPr>
          <p:cNvPr id="20" name="req-name-0">
            <a:extLst>
              <a:ext uri="{FF2B5EF4-FFF2-40B4-BE49-F238E27FC236}">
                <a16:creationId xmlns:a16="http://schemas.microsoft.com/office/drawing/2014/main" id="{9C349E27-4CF7-42BC-81B6-90C50DB2B0E4}"/>
              </a:ext>
            </a:extLst>
          </p:cNvPr>
          <p:cNvSpPr>
            <a:spLocks noGrp="1"/>
          </p:cNvSpPr>
          <p:nvPr/>
        </p:nvSpPr>
        <p:spPr>
          <a:xfrm>
            <a:off x="7800975" y="2266950"/>
            <a:ext cx="16383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l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Excel 信息整理</a:t>
            </a:r>
          </a:p>
        </p:txBody>
      </p:sp>
      <p:sp>
        <p:nvSpPr>
          <p:cNvPr id="21" name="req-state-0">
            <a:extLst>
              <a:ext uri="{FF2B5EF4-FFF2-40B4-BE49-F238E27FC236}">
                <a16:creationId xmlns:a16="http://schemas.microsoft.com/office/drawing/2014/main" id="{C16FC05B-9FC0-4464-AF0A-27356F4B7A1A}"/>
              </a:ext>
            </a:extLst>
          </p:cNvPr>
          <p:cNvSpPr>
            <a:spLocks noGrp="1"/>
          </p:cNvSpPr>
          <p:nvPr/>
        </p:nvSpPr>
        <p:spPr>
          <a:xfrm>
            <a:off x="9591675" y="2333625"/>
            <a:ext cx="1362075" cy="342900"/>
          </a:xfrm>
          <a:prstGeom prst="roundRect">
            <a:avLst>
              <a:gd name="adj" fmla="val 33333"/>
            </a:avLst>
          </a:prstGeom>
          <a:solidFill>
            <a:srgbClr val="E8F7F0"/>
          </a:solidFill>
          <a:ln w="0">
            <a:solidFill>
              <a:srgbClr val="E8F7F0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05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rPr>
              <a:t>符合</a:t>
            </a:r>
          </a:p>
        </p:txBody>
      </p:sp>
      <p:cxnSp>
        <p:nvCxnSpPr>
          <p:cNvPr id="114" name="req-line-0"/>
          <p:cNvCxnSpPr/>
          <p:nvPr/>
        </p:nvCxnSpPr>
        <p:spPr>
          <a:xfrm>
            <a:off x="7800975" y="2838450"/>
            <a:ext cx="3152775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23" name="req-name-1">
            <a:extLst>
              <a:ext uri="{FF2B5EF4-FFF2-40B4-BE49-F238E27FC236}">
                <a16:creationId xmlns:a16="http://schemas.microsoft.com/office/drawing/2014/main" id="{E26F8B01-6F45-4134-B9E0-5E2668FE0F7E}"/>
              </a:ext>
            </a:extLst>
          </p:cNvPr>
          <p:cNvSpPr>
            <a:spLocks noGrp="1"/>
          </p:cNvSpPr>
          <p:nvPr/>
        </p:nvSpPr>
        <p:spPr>
          <a:xfrm>
            <a:off x="7800975" y="2952750"/>
            <a:ext cx="16383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l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基础文档写作</a:t>
            </a:r>
          </a:p>
        </p:txBody>
      </p:sp>
      <p:sp>
        <p:nvSpPr>
          <p:cNvPr id="24" name="req-state-1">
            <a:extLst>
              <a:ext uri="{FF2B5EF4-FFF2-40B4-BE49-F238E27FC236}">
                <a16:creationId xmlns:a16="http://schemas.microsoft.com/office/drawing/2014/main" id="{C03DE9C1-68FB-4169-8DA7-4EA570793C08}"/>
              </a:ext>
            </a:extLst>
          </p:cNvPr>
          <p:cNvSpPr>
            <a:spLocks noGrp="1"/>
          </p:cNvSpPr>
          <p:nvPr/>
        </p:nvSpPr>
        <p:spPr>
          <a:xfrm>
            <a:off x="9591675" y="3019425"/>
            <a:ext cx="1362075" cy="342900"/>
          </a:xfrm>
          <a:prstGeom prst="roundRect">
            <a:avLst>
              <a:gd name="adj" fmla="val 33333"/>
            </a:avLst>
          </a:prstGeom>
          <a:solidFill>
            <a:srgbClr val="FFF5D6"/>
          </a:solidFill>
          <a:ln w="0">
            <a:solidFill>
              <a:srgbClr val="FFF5D6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050" b="1">
                <a:solidFill>
                  <a:srgbClr val="C778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77800"/>
                </a:solidFill>
                <a:latin typeface="Microsoft YaHei"/>
                <a:ea typeface="Microsoft YaHei"/>
                <a:cs typeface="Microsoft YaHei"/>
              </a:rPr>
              <a:t>部分符合</a:t>
            </a:r>
          </a:p>
        </p:txBody>
      </p:sp>
      <p:cxnSp>
        <p:nvCxnSpPr>
          <p:cNvPr id="117" name="req-line-1"/>
          <p:cNvCxnSpPr/>
          <p:nvPr/>
        </p:nvCxnSpPr>
        <p:spPr>
          <a:xfrm>
            <a:off x="7800975" y="3524250"/>
            <a:ext cx="3152775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26" name="req-name-2">
            <a:extLst>
              <a:ext uri="{FF2B5EF4-FFF2-40B4-BE49-F238E27FC236}">
                <a16:creationId xmlns:a16="http://schemas.microsoft.com/office/drawing/2014/main" id="{93C43003-3ACC-4599-84FB-62E1E83F90CD}"/>
              </a:ext>
            </a:extLst>
          </p:cNvPr>
          <p:cNvSpPr>
            <a:spLocks noGrp="1"/>
          </p:cNvSpPr>
          <p:nvPr/>
        </p:nvSpPr>
        <p:spPr>
          <a:xfrm>
            <a:off x="7800975" y="3638550"/>
            <a:ext cx="16383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l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内容发布经验</a:t>
            </a:r>
          </a:p>
        </p:txBody>
      </p:sp>
      <p:sp>
        <p:nvSpPr>
          <p:cNvPr id="27" name="req-state-2">
            <a:extLst>
              <a:ext uri="{FF2B5EF4-FFF2-40B4-BE49-F238E27FC236}">
                <a16:creationId xmlns:a16="http://schemas.microsoft.com/office/drawing/2014/main" id="{82DAD9D8-DBFC-49DF-AE99-FD63B6880523}"/>
              </a:ext>
            </a:extLst>
          </p:cNvPr>
          <p:cNvSpPr>
            <a:spLocks noGrp="1"/>
          </p:cNvSpPr>
          <p:nvPr/>
        </p:nvSpPr>
        <p:spPr>
          <a:xfrm>
            <a:off x="9591675" y="3705225"/>
            <a:ext cx="1362075" cy="342900"/>
          </a:xfrm>
          <a:prstGeom prst="roundRect">
            <a:avLst>
              <a:gd name="adj" fmla="val 33333"/>
            </a:avLst>
          </a:prstGeom>
          <a:solidFill>
            <a:srgbClr val="F2F4F7"/>
          </a:solidFill>
          <a:ln w="0">
            <a:solidFill>
              <a:srgbClr val="F2F4F7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05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缺少证据</a:t>
            </a:r>
          </a:p>
        </p:txBody>
      </p:sp>
      <p:cxnSp>
        <p:nvCxnSpPr>
          <p:cNvPr id="120" name="req-line-2"/>
          <p:cNvCxnSpPr/>
          <p:nvPr/>
        </p:nvCxnSpPr>
        <p:spPr>
          <a:xfrm>
            <a:off x="7800975" y="4210050"/>
            <a:ext cx="3152775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31" name="state-legend">
            <a:extLst>
              <a:ext uri="{FF2B5EF4-FFF2-40B4-BE49-F238E27FC236}">
                <a16:creationId xmlns:a16="http://schemas.microsoft.com/office/drawing/2014/main" id="{4133CC8F-A415-431C-8706-C42E0D932071}"/>
              </a:ext>
            </a:extLst>
          </p:cNvPr>
          <p:cNvSpPr>
            <a:spLocks noGrp="1"/>
          </p:cNvSpPr>
          <p:nvPr/>
        </p:nvSpPr>
        <p:spPr>
          <a:xfrm>
            <a:off x="7762875" y="5219700"/>
            <a:ext cx="3333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状态：符合 / 部分符合 / 缺证 / 冲突 / 风险排除</a:t>
            </a:r>
          </a:p>
        </p:txBody>
      </p:sp>
      <p:sp>
        <p:nvSpPr>
          <p:cNvPr id="32" name="synthetic-note">
            <a:extLst>
              <a:ext uri="{FF2B5EF4-FFF2-40B4-BE49-F238E27FC236}">
                <a16:creationId xmlns:a16="http://schemas.microsoft.com/office/drawing/2014/main" id="{999CB6CA-8C68-4594-8651-BCD245DC8AE7}"/>
              </a:ext>
            </a:extLst>
          </p:cNvPr>
          <p:cNvSpPr>
            <a:spLocks noGrp="1"/>
          </p:cNvSpPr>
          <p:nvPr/>
        </p:nvSpPr>
        <p:spPr>
          <a:xfrm>
            <a:off x="495300" y="6067425"/>
            <a:ext cx="1085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97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合成演示数据，不代表录用概率</a:t>
            </a:r>
          </a:p>
        </p:txBody>
      </p:sp>
      <p:sp>
        <p:nvSpPr>
          <p:cNvPr id="33" name="footer-9">
            <a:extLst>
              <a:ext uri="{FF2B5EF4-FFF2-40B4-BE49-F238E27FC236}">
                <a16:creationId xmlns:a16="http://schemas.microsoft.com/office/drawing/2014/main" id="{EBE37E2B-8B04-4BA8-8404-F082E5C5D942}"/>
              </a:ext>
            </a:extLst>
          </p:cNvPr>
          <p:cNvSpPr>
            <a:spLocks noGrp="1"/>
          </p:cNvSpPr>
          <p:nvPr/>
        </p:nvSpPr>
        <p:spPr>
          <a:xfrm>
            <a:off x="495300" y="6477000"/>
            <a:ext cx="8572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复杂任务多 Agent 自主协同｜合成演示数据</a:t>
            </a:r>
          </a:p>
        </p:txBody>
      </p:sp>
      <p:sp>
        <p:nvSpPr>
          <p:cNvPr id="34" name="page-9">
            <a:extLst>
              <a:ext uri="{FF2B5EF4-FFF2-40B4-BE49-F238E27FC236}">
                <a16:creationId xmlns:a16="http://schemas.microsoft.com/office/drawing/2014/main" id="{A8990A7D-E925-4F55-8375-2C744FF0A9E3}"/>
              </a:ext>
            </a:extLst>
          </p:cNvPr>
          <p:cNvSpPr>
            <a:spLocks noGrp="1"/>
          </p:cNvSpPr>
          <p:nvPr/>
        </p:nvSpPr>
        <p:spPr>
          <a:xfrm>
            <a:off x="11144250" y="644842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3887719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kicker-10">
            <a:extLst>
              <a:ext uri="{FF2B5EF4-FFF2-40B4-BE49-F238E27FC236}">
                <a16:creationId xmlns:a16="http://schemas.microsoft.com/office/drawing/2014/main" id="{59D419DA-087D-45E5-A102-52171D31CCF5}"/>
              </a:ext>
            </a:extLst>
          </p:cNvPr>
          <p:cNvSpPr>
            <a:spLocks noGrp="1"/>
          </p:cNvSpPr>
          <p:nvPr/>
        </p:nvSpPr>
        <p:spPr>
          <a:xfrm>
            <a:off x="495300" y="295275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CAMPUSMATCH</a:t>
            </a:r>
          </a:p>
        </p:txBody>
      </p:sp>
      <p:sp>
        <p:nvSpPr>
          <p:cNvPr id="2" name="title-10">
            <a:extLst>
              <a:ext uri="{FF2B5EF4-FFF2-40B4-BE49-F238E27FC236}">
                <a16:creationId xmlns:a16="http://schemas.microsoft.com/office/drawing/2014/main" id="{34D68778-42D2-4555-B7E7-5AB3366309F1}"/>
              </a:ext>
            </a:extLst>
          </p:cNvPr>
          <p:cNvSpPr>
            <a:spLocks noGrp="1"/>
          </p:cNvSpPr>
          <p:nvPr/>
        </p:nvSpPr>
        <p:spPr>
          <a:xfrm>
            <a:off x="495300" y="552450"/>
            <a:ext cx="11201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Audit Agent 在导出前设置两道门</a:t>
            </a:r>
          </a:p>
        </p:txBody>
      </p:sp>
      <p:cxnSp>
        <p:nvCxnSpPr>
          <p:cNvPr id="38" name="header-line-10"/>
          <p:cNvCxnSpPr/>
          <p:nvPr/>
        </p:nvCxnSpPr>
        <p:spPr>
          <a:xfrm>
            <a:off x="495300" y="1219200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pre-audit">
            <a:extLst>
              <a:ext uri="{FF2B5EF4-FFF2-40B4-BE49-F238E27FC236}">
                <a16:creationId xmlns:a16="http://schemas.microsoft.com/office/drawing/2014/main" id="{5E5817A4-E645-4EF7-BA09-08DDF566C485}"/>
              </a:ext>
            </a:extLst>
          </p:cNvPr>
          <p:cNvSpPr>
            <a:spLocks noGrp="1"/>
          </p:cNvSpPr>
          <p:nvPr/>
        </p:nvSpPr>
        <p:spPr>
          <a:xfrm>
            <a:off x="495300" y="1571625"/>
            <a:ext cx="2857500" cy="1790700"/>
          </a:xfrm>
          <a:prstGeom prst="roundRect">
            <a:avLst>
              <a:gd name="adj" fmla="val 6383"/>
            </a:avLst>
          </a:prstGeom>
          <a:solidFill>
            <a:srgbClr val="EAF2FF"/>
          </a:solidFill>
          <a:ln w="9525">
            <a:solidFill>
              <a:srgbClr val="EAF2FF"/>
            </a:solidFill>
            <a:prstDash val="solid"/>
          </a:ln>
        </p:spPr>
      </p:sp>
      <p:sp>
        <p:nvSpPr>
          <p:cNvPr id="5" name="pre-num">
            <a:extLst>
              <a:ext uri="{FF2B5EF4-FFF2-40B4-BE49-F238E27FC236}">
                <a16:creationId xmlns:a16="http://schemas.microsoft.com/office/drawing/2014/main" id="{364D2ADE-016B-48F3-85F3-C3D20FB3F475}"/>
              </a:ext>
            </a:extLst>
          </p:cNvPr>
          <p:cNvSpPr>
            <a:spLocks noGrp="1"/>
          </p:cNvSpPr>
          <p:nvPr/>
        </p:nvSpPr>
        <p:spPr>
          <a:xfrm>
            <a:off x="704850" y="1762125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95238"/>
          </a:bodyPr>
          <a:lstStyle/>
          <a:p>
            <a:pPr algn="l">
              <a:buNone/>
              <a:defRPr sz="10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pre-title">
            <a:extLst>
              <a:ext uri="{FF2B5EF4-FFF2-40B4-BE49-F238E27FC236}">
                <a16:creationId xmlns:a16="http://schemas.microsoft.com/office/drawing/2014/main" id="{9D121E3D-FEA2-4A8F-80F9-4E7BDD0EDAF2}"/>
              </a:ext>
            </a:extLst>
          </p:cNvPr>
          <p:cNvSpPr>
            <a:spLocks noGrp="1"/>
          </p:cNvSpPr>
          <p:nvPr/>
        </p:nvSpPr>
        <p:spPr>
          <a:xfrm>
            <a:off x="704850" y="2114550"/>
            <a:ext cx="22860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83333"/>
          </a:bodyPr>
          <a:lstStyle/>
          <a:p>
            <a:pPr algn="l">
              <a:buNone/>
              <a:defRPr sz="1725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rPr>
              <a:t>前置审查</a:t>
            </a:r>
          </a:p>
        </p:txBody>
      </p:sp>
      <p:sp>
        <p:nvSpPr>
          <p:cNvPr id="7" name="pre-body">
            <a:extLst>
              <a:ext uri="{FF2B5EF4-FFF2-40B4-BE49-F238E27FC236}">
                <a16:creationId xmlns:a16="http://schemas.microsoft.com/office/drawing/2014/main" id="{2F40ABBF-87EB-4D25-BD6B-4576916874F2}"/>
              </a:ext>
            </a:extLst>
          </p:cNvPr>
          <p:cNvSpPr>
            <a:spLocks noGrp="1"/>
          </p:cNvSpPr>
          <p:nvPr/>
        </p:nvSpPr>
        <p:spPr>
          <a:xfrm>
            <a:off x="704850" y="2562225"/>
            <a:ext cx="2286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78125"/>
          </a:bodyPr>
          <a:lstStyle/>
          <a:p>
            <a:pPr algn="l">
              <a:buNone/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授权与目标</a:t>
            </a:r>
          </a:p>
          <a:p>
            <a:pPr algn="l">
              <a:buNone/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最小化收集</a:t>
            </a:r>
          </a:p>
          <a:p>
            <a:pPr algn="l">
              <a:buNone/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JD 公平条件</a:t>
            </a:r>
          </a:p>
          <a:p>
            <a:pPr algn="l">
              <a:buNone/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工具权限</a:t>
            </a:r>
          </a:p>
        </p:txBody>
      </p:sp>
      <p:sp>
        <p:nvSpPr>
          <p:cNvPr id="8" name="audit-arrow1">
            <a:extLst>
              <a:ext uri="{FF2B5EF4-FFF2-40B4-BE49-F238E27FC236}">
                <a16:creationId xmlns:a16="http://schemas.microsoft.com/office/drawing/2014/main" id="{018349F9-23C2-42FA-82D9-2495D8C43F62}"/>
              </a:ext>
            </a:extLst>
          </p:cNvPr>
          <p:cNvSpPr>
            <a:spLocks noGrp="1"/>
          </p:cNvSpPr>
          <p:nvPr/>
        </p:nvSpPr>
        <p:spPr>
          <a:xfrm>
            <a:off x="3438525" y="2228850"/>
            <a:ext cx="4572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/>
          </a:bodyPr>
          <a:lstStyle/>
          <a:p>
            <a:pPr algn="ctr">
              <a:buNone/>
              <a:defRPr sz="187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work-stage">
            <a:extLst>
              <a:ext uri="{FF2B5EF4-FFF2-40B4-BE49-F238E27FC236}">
                <a16:creationId xmlns:a16="http://schemas.microsoft.com/office/drawing/2014/main" id="{40A770B7-FFCA-4240-ADE0-340DE99C8A83}"/>
              </a:ext>
            </a:extLst>
          </p:cNvPr>
          <p:cNvSpPr>
            <a:spLocks noGrp="1"/>
          </p:cNvSpPr>
          <p:nvPr/>
        </p:nvSpPr>
        <p:spPr>
          <a:xfrm>
            <a:off x="3981450" y="1571625"/>
            <a:ext cx="2857500" cy="1790700"/>
          </a:xfrm>
          <a:prstGeom prst="roundRect">
            <a:avLst>
              <a:gd name="adj" fmla="val 6383"/>
            </a:avLst>
          </a:prstGeom>
          <a:solidFill>
            <a:srgbClr val="FAFAFB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work-num">
            <a:extLst>
              <a:ext uri="{FF2B5EF4-FFF2-40B4-BE49-F238E27FC236}">
                <a16:creationId xmlns:a16="http://schemas.microsoft.com/office/drawing/2014/main" id="{991F16BA-D3F8-4058-9976-D32B2F182692}"/>
              </a:ext>
            </a:extLst>
          </p:cNvPr>
          <p:cNvSpPr>
            <a:spLocks noGrp="1"/>
          </p:cNvSpPr>
          <p:nvPr/>
        </p:nvSpPr>
        <p:spPr>
          <a:xfrm>
            <a:off x="4191000" y="1762125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95238"/>
          </a:bodyPr>
          <a:lstStyle/>
          <a:p>
            <a:pPr algn="l">
              <a:buNone/>
              <a:defRPr sz="10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1" name="work-title">
            <a:extLst>
              <a:ext uri="{FF2B5EF4-FFF2-40B4-BE49-F238E27FC236}">
                <a16:creationId xmlns:a16="http://schemas.microsoft.com/office/drawing/2014/main" id="{8B9B089A-E970-4ECF-8E7C-9DB4C9F77B82}"/>
              </a:ext>
            </a:extLst>
          </p:cNvPr>
          <p:cNvSpPr>
            <a:spLocks noGrp="1"/>
          </p:cNvSpPr>
          <p:nvPr/>
        </p:nvSpPr>
        <p:spPr>
          <a:xfrm>
            <a:off x="4191000" y="2114550"/>
            <a:ext cx="22860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83333"/>
          </a:bodyPr>
          <a:lstStyle/>
          <a:p>
            <a:pPr algn="l">
              <a:buNone/>
              <a:defRPr sz="17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Agent 协同执行</a:t>
            </a:r>
          </a:p>
        </p:txBody>
      </p:sp>
      <p:sp>
        <p:nvSpPr>
          <p:cNvPr id="12" name="work-body">
            <a:extLst>
              <a:ext uri="{FF2B5EF4-FFF2-40B4-BE49-F238E27FC236}">
                <a16:creationId xmlns:a16="http://schemas.microsoft.com/office/drawing/2014/main" id="{DD34B59E-9A0B-4B1E-B4A7-39354DBD8E14}"/>
              </a:ext>
            </a:extLst>
          </p:cNvPr>
          <p:cNvSpPr>
            <a:spLocks noGrp="1"/>
          </p:cNvSpPr>
          <p:nvPr/>
        </p:nvSpPr>
        <p:spPr>
          <a:xfrm>
            <a:off x="4191000" y="2619375"/>
            <a:ext cx="228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/>
          </a:bodyPr>
          <a:lstStyle/>
          <a:p>
            <a:pPr algn="ctr">
              <a:buNone/>
              <a:defRPr sz="127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画像 → 解析 → 匹配</a:t>
            </a:r>
          </a:p>
          <a:p>
            <a:pPr algn="ctr">
              <a:buNone/>
              <a:defRPr sz="127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→ 辅导 → 结果汇总</a:t>
            </a:r>
          </a:p>
        </p:txBody>
      </p:sp>
      <p:sp>
        <p:nvSpPr>
          <p:cNvPr id="13" name="audit-arrow2">
            <a:extLst>
              <a:ext uri="{FF2B5EF4-FFF2-40B4-BE49-F238E27FC236}">
                <a16:creationId xmlns:a16="http://schemas.microsoft.com/office/drawing/2014/main" id="{C62FACDB-BAF9-4890-9B8F-D92044543B0D}"/>
              </a:ext>
            </a:extLst>
          </p:cNvPr>
          <p:cNvSpPr>
            <a:spLocks noGrp="1"/>
          </p:cNvSpPr>
          <p:nvPr/>
        </p:nvSpPr>
        <p:spPr>
          <a:xfrm>
            <a:off x="6924675" y="2228850"/>
            <a:ext cx="4572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/>
          </a:bodyPr>
          <a:lstStyle/>
          <a:p>
            <a:pPr algn="ctr">
              <a:buNone/>
              <a:defRPr sz="187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post-audit">
            <a:extLst>
              <a:ext uri="{FF2B5EF4-FFF2-40B4-BE49-F238E27FC236}">
                <a16:creationId xmlns:a16="http://schemas.microsoft.com/office/drawing/2014/main" id="{7CFBB4E7-4038-40C8-8538-2B8FCE507099}"/>
              </a:ext>
            </a:extLst>
          </p:cNvPr>
          <p:cNvSpPr>
            <a:spLocks noGrp="1"/>
          </p:cNvSpPr>
          <p:nvPr/>
        </p:nvSpPr>
        <p:spPr>
          <a:xfrm>
            <a:off x="7467600" y="1571625"/>
            <a:ext cx="3886200" cy="1790700"/>
          </a:xfrm>
          <a:prstGeom prst="roundRect">
            <a:avLst>
              <a:gd name="adj" fmla="val 6383"/>
            </a:avLst>
          </a:prstGeom>
          <a:solidFill>
            <a:srgbClr val="FDECEC"/>
          </a:solidFill>
          <a:ln w="9525">
            <a:solidFill>
              <a:srgbClr val="FDECEC"/>
            </a:solidFill>
            <a:prstDash val="solid"/>
          </a:ln>
        </p:spPr>
      </p:sp>
      <p:sp>
        <p:nvSpPr>
          <p:cNvPr id="15" name="post-num">
            <a:extLst>
              <a:ext uri="{FF2B5EF4-FFF2-40B4-BE49-F238E27FC236}">
                <a16:creationId xmlns:a16="http://schemas.microsoft.com/office/drawing/2014/main" id="{52A82060-D204-44DC-BF6A-3DD6003A1724}"/>
              </a:ext>
            </a:extLst>
          </p:cNvPr>
          <p:cNvSpPr>
            <a:spLocks noGrp="1"/>
          </p:cNvSpPr>
          <p:nvPr/>
        </p:nvSpPr>
        <p:spPr>
          <a:xfrm>
            <a:off x="7677150" y="1762125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95238"/>
          </a:bodyPr>
          <a:lstStyle/>
          <a:p>
            <a:pPr algn="l">
              <a:buNone/>
              <a:defRPr sz="105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post-title">
            <a:extLst>
              <a:ext uri="{FF2B5EF4-FFF2-40B4-BE49-F238E27FC236}">
                <a16:creationId xmlns:a16="http://schemas.microsoft.com/office/drawing/2014/main" id="{E5558DBD-6DB0-4F29-8841-8C13D156DFBD}"/>
              </a:ext>
            </a:extLst>
          </p:cNvPr>
          <p:cNvSpPr>
            <a:spLocks noGrp="1"/>
          </p:cNvSpPr>
          <p:nvPr/>
        </p:nvSpPr>
        <p:spPr>
          <a:xfrm>
            <a:off x="7677150" y="2114550"/>
            <a:ext cx="33337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83333"/>
          </a:bodyPr>
          <a:lstStyle/>
          <a:p>
            <a:pPr algn="l">
              <a:buNone/>
              <a:defRPr sz="172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后置审查 + 人工批准</a:t>
            </a:r>
          </a:p>
        </p:txBody>
      </p:sp>
      <p:sp>
        <p:nvSpPr>
          <p:cNvPr id="17" name="post-body">
            <a:extLst>
              <a:ext uri="{FF2B5EF4-FFF2-40B4-BE49-F238E27FC236}">
                <a16:creationId xmlns:a16="http://schemas.microsoft.com/office/drawing/2014/main" id="{58DA9848-D6FD-4CBE-92A7-37F834788B87}"/>
              </a:ext>
            </a:extLst>
          </p:cNvPr>
          <p:cNvSpPr>
            <a:spLocks noGrp="1"/>
          </p:cNvSpPr>
          <p:nvPr/>
        </p:nvSpPr>
        <p:spPr>
          <a:xfrm>
            <a:off x="7677150" y="2638425"/>
            <a:ext cx="3333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/>
          </a:bodyPr>
          <a:lstStyle/>
          <a:p>
            <a:pPr algn="ctr">
              <a:buNone/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经历真实性 · 证据覆盖 · 隐私</a:t>
            </a:r>
          </a:p>
          <a:p>
            <a:pPr algn="ctr">
              <a:buNone/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内容安全 · Trace 完整性</a:t>
            </a:r>
          </a:p>
        </p:txBody>
      </p:sp>
      <p:sp>
        <p:nvSpPr>
          <p:cNvPr id="18" name="case-label">
            <a:extLst>
              <a:ext uri="{FF2B5EF4-FFF2-40B4-BE49-F238E27FC236}">
                <a16:creationId xmlns:a16="http://schemas.microsoft.com/office/drawing/2014/main" id="{4FA1244A-1E2C-4DCD-9F68-D8F2C18A0765}"/>
              </a:ext>
            </a:extLst>
          </p:cNvPr>
          <p:cNvSpPr>
            <a:spLocks noGrp="1"/>
          </p:cNvSpPr>
          <p:nvPr/>
        </p:nvSpPr>
        <p:spPr>
          <a:xfrm>
            <a:off x="495300" y="3752850"/>
            <a:ext cx="285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演示案例：无证据量化被阻断</a:t>
            </a:r>
          </a:p>
        </p:txBody>
      </p:sp>
      <p:sp>
        <p:nvSpPr>
          <p:cNvPr id="19" name="bad-claim">
            <a:extLst>
              <a:ext uri="{FF2B5EF4-FFF2-40B4-BE49-F238E27FC236}">
                <a16:creationId xmlns:a16="http://schemas.microsoft.com/office/drawing/2014/main" id="{60D12448-91FD-4E73-A855-851D5342B8FC}"/>
              </a:ext>
            </a:extLst>
          </p:cNvPr>
          <p:cNvSpPr>
            <a:spLocks noGrp="1"/>
          </p:cNvSpPr>
          <p:nvPr/>
        </p:nvSpPr>
        <p:spPr>
          <a:xfrm>
            <a:off x="495300" y="4143375"/>
            <a:ext cx="2781300" cy="1066800"/>
          </a:xfrm>
          <a:prstGeom prst="roundRect">
            <a:avLst>
              <a:gd name="adj" fmla="val 10714"/>
            </a:avLst>
          </a:prstGeom>
          <a:solidFill>
            <a:srgbClr val="FFF5D6"/>
          </a:solidFill>
          <a:ln w="0">
            <a:solidFill>
              <a:srgbClr val="FFF5D6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425" b="1">
                <a:solidFill>
                  <a:srgbClr val="C778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77800"/>
                </a:solidFill>
                <a:latin typeface="Microsoft YaHei"/>
                <a:ea typeface="Microsoft YaHei"/>
                <a:cs typeface="Microsoft YaHei"/>
              </a:rPr>
              <a:t>Coach 输出</a:t>
            </a:r>
          </a:p>
          <a:p>
            <a:pPr algn="ctr">
              <a:buNone/>
              <a:defRPr sz="1425" b="1">
                <a:solidFill>
                  <a:srgbClr val="C778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77800"/>
                </a:solidFill>
                <a:latin typeface="Microsoft YaHei"/>
                <a:ea typeface="Microsoft YaHei"/>
                <a:cs typeface="Microsoft YaHei"/>
              </a:rPr>
              <a:t>“将处理效率提升 30%”</a:t>
            </a:r>
          </a:p>
        </p:txBody>
      </p:sp>
      <p:sp>
        <p:nvSpPr>
          <p:cNvPr id="20" name="case-arrow1">
            <a:extLst>
              <a:ext uri="{FF2B5EF4-FFF2-40B4-BE49-F238E27FC236}">
                <a16:creationId xmlns:a16="http://schemas.microsoft.com/office/drawing/2014/main" id="{09BB73A2-CEE6-4966-AF65-90315CC107CA}"/>
              </a:ext>
            </a:extLst>
          </p:cNvPr>
          <p:cNvSpPr>
            <a:spLocks noGrp="1"/>
          </p:cNvSpPr>
          <p:nvPr/>
        </p:nvSpPr>
        <p:spPr>
          <a:xfrm>
            <a:off x="3343275" y="4448175"/>
            <a:ext cx="4381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97222"/>
          </a:bodyPr>
          <a:lstStyle/>
          <a:p>
            <a:pPr algn="ctr">
              <a:buNone/>
              <a:defRPr sz="180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1" name="blocked">
            <a:extLst>
              <a:ext uri="{FF2B5EF4-FFF2-40B4-BE49-F238E27FC236}">
                <a16:creationId xmlns:a16="http://schemas.microsoft.com/office/drawing/2014/main" id="{35E3D892-D130-4636-BAFB-C1FF88B4DA78}"/>
              </a:ext>
            </a:extLst>
          </p:cNvPr>
          <p:cNvSpPr>
            <a:spLocks noGrp="1"/>
          </p:cNvSpPr>
          <p:nvPr/>
        </p:nvSpPr>
        <p:spPr>
          <a:xfrm>
            <a:off x="3867150" y="4143375"/>
            <a:ext cx="2343150" cy="1066800"/>
          </a:xfrm>
          <a:prstGeom prst="roundRect">
            <a:avLst>
              <a:gd name="adj" fmla="val 10714"/>
            </a:avLst>
          </a:prstGeom>
          <a:solidFill>
            <a:srgbClr val="C83838"/>
          </a:solidFill>
          <a:ln w="0">
            <a:solidFill>
              <a:srgbClr val="C83838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BLOCK</a:t>
            </a:r>
          </a:p>
          <a:p>
            <a:pPr algn="ctr"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材料中没有证据</a:t>
            </a:r>
          </a:p>
        </p:txBody>
      </p:sp>
      <p:sp>
        <p:nvSpPr>
          <p:cNvPr id="22" name="case-arrow2">
            <a:extLst>
              <a:ext uri="{FF2B5EF4-FFF2-40B4-BE49-F238E27FC236}">
                <a16:creationId xmlns:a16="http://schemas.microsoft.com/office/drawing/2014/main" id="{0E817351-EA41-46B7-96D1-6DA3D5912591}"/>
              </a:ext>
            </a:extLst>
          </p:cNvPr>
          <p:cNvSpPr>
            <a:spLocks noGrp="1"/>
          </p:cNvSpPr>
          <p:nvPr/>
        </p:nvSpPr>
        <p:spPr>
          <a:xfrm>
            <a:off x="6276975" y="4448175"/>
            <a:ext cx="4381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97222"/>
          </a:bodyPr>
          <a:lstStyle/>
          <a:p>
            <a:pPr algn="ctr">
              <a:buNone/>
              <a:defRPr sz="180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3" name="fix">
            <a:extLst>
              <a:ext uri="{FF2B5EF4-FFF2-40B4-BE49-F238E27FC236}">
                <a16:creationId xmlns:a16="http://schemas.microsoft.com/office/drawing/2014/main" id="{4CA8EC74-6143-4DBE-97E8-8390EF186867}"/>
              </a:ext>
            </a:extLst>
          </p:cNvPr>
          <p:cNvSpPr>
            <a:spLocks noGrp="1"/>
          </p:cNvSpPr>
          <p:nvPr/>
        </p:nvSpPr>
        <p:spPr>
          <a:xfrm>
            <a:off x="6800850" y="4143375"/>
            <a:ext cx="2343150" cy="1066800"/>
          </a:xfrm>
          <a:prstGeom prst="roundRect">
            <a:avLst>
              <a:gd name="adj" fmla="val 10714"/>
            </a:avLst>
          </a:prstGeom>
          <a:solidFill>
            <a:srgbClr val="EAF2FF"/>
          </a:solidFill>
          <a:ln w="0">
            <a:solidFill>
              <a:srgbClr val="EAF2FF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42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删除数字 / 补充证据</a:t>
            </a:r>
          </a:p>
          <a:p>
            <a:pPr algn="ctr">
              <a:buNone/>
              <a:defRPr sz="142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用户确认</a:t>
            </a:r>
          </a:p>
        </p:txBody>
      </p:sp>
      <p:sp>
        <p:nvSpPr>
          <p:cNvPr id="24" name="case-arrow3">
            <a:extLst>
              <a:ext uri="{FF2B5EF4-FFF2-40B4-BE49-F238E27FC236}">
                <a16:creationId xmlns:a16="http://schemas.microsoft.com/office/drawing/2014/main" id="{E7636814-8AD6-4732-84E0-80191122A45C}"/>
              </a:ext>
            </a:extLst>
          </p:cNvPr>
          <p:cNvSpPr>
            <a:spLocks noGrp="1"/>
          </p:cNvSpPr>
          <p:nvPr/>
        </p:nvSpPr>
        <p:spPr>
          <a:xfrm>
            <a:off x="9210675" y="4448175"/>
            <a:ext cx="4381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97222"/>
          </a:bodyPr>
          <a:lstStyle/>
          <a:p>
            <a:pPr algn="ctr">
              <a:buNone/>
              <a:defRPr sz="180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5" name="passed">
            <a:extLst>
              <a:ext uri="{FF2B5EF4-FFF2-40B4-BE49-F238E27FC236}">
                <a16:creationId xmlns:a16="http://schemas.microsoft.com/office/drawing/2014/main" id="{532C9E08-5532-4DA0-BF90-41DE8C80F864}"/>
              </a:ext>
            </a:extLst>
          </p:cNvPr>
          <p:cNvSpPr>
            <a:spLocks noGrp="1"/>
          </p:cNvSpPr>
          <p:nvPr/>
        </p:nvSpPr>
        <p:spPr>
          <a:xfrm>
            <a:off x="9734550" y="4143375"/>
            <a:ext cx="1619250" cy="1066800"/>
          </a:xfrm>
          <a:prstGeom prst="roundRect">
            <a:avLst>
              <a:gd name="adj" fmla="val 10714"/>
            </a:avLst>
          </a:prstGeom>
          <a:solidFill>
            <a:srgbClr val="16865B"/>
          </a:solidFill>
          <a:ln w="0">
            <a:solidFill>
              <a:srgbClr val="16865B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  <a:p>
            <a:pPr algn="ctr"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允许导出</a:t>
            </a:r>
          </a:p>
        </p:txBody>
      </p:sp>
      <p:sp>
        <p:nvSpPr>
          <p:cNvPr id="26" name="audit-bottom">
            <a:extLst>
              <a:ext uri="{FF2B5EF4-FFF2-40B4-BE49-F238E27FC236}">
                <a16:creationId xmlns:a16="http://schemas.microsoft.com/office/drawing/2014/main" id="{2AF4C7DC-205E-4FA4-97CF-701526C589D4}"/>
              </a:ext>
            </a:extLst>
          </p:cNvPr>
          <p:cNvSpPr>
            <a:spLocks noGrp="1"/>
          </p:cNvSpPr>
          <p:nvPr/>
        </p:nvSpPr>
        <p:spPr>
          <a:xfrm>
            <a:off x="1590675" y="5562600"/>
            <a:ext cx="8667750" cy="323850"/>
          </a:xfrm>
          <a:prstGeom prst="roundRect">
            <a:avLst>
              <a:gd name="adj" fmla="val 35294"/>
            </a:avLst>
          </a:prstGeom>
          <a:solidFill>
            <a:srgbClr val="F2F4F7"/>
          </a:solidFill>
          <a:ln w="9525">
            <a:solidFill>
              <a:srgbClr val="F2F4F7"/>
            </a:solidFill>
            <a:prstDash val="solid"/>
          </a:ln>
        </p:spPr>
        <p:txBody>
          <a:bodyPr wrap="square" lIns="66675" tIns="38100" rIns="66675" bIns="38100" anchor="ctr">
            <a:normAutofit/>
          </a:bodyPr>
          <a:lstStyle/>
          <a:p>
            <a:pPr algn="ctr">
              <a:buNone/>
              <a:defRPr sz="10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安全规则：隐私最小化 · 禁止违法内容 · 不基于敏感属性排序 · 高风险信号转人工</a:t>
            </a:r>
          </a:p>
        </p:txBody>
      </p:sp>
      <p:sp>
        <p:nvSpPr>
          <p:cNvPr id="27" name="law-hint">
            <a:extLst>
              <a:ext uri="{FF2B5EF4-FFF2-40B4-BE49-F238E27FC236}">
                <a16:creationId xmlns:a16="http://schemas.microsoft.com/office/drawing/2014/main" id="{3C911BB6-7492-4C9E-A8B7-32C5CE2EF213}"/>
              </a:ext>
            </a:extLst>
          </p:cNvPr>
          <p:cNvSpPr>
            <a:spLocks noGrp="1"/>
          </p:cNvSpPr>
          <p:nvPr/>
        </p:nvSpPr>
        <p:spPr>
          <a:xfrm>
            <a:off x="9667875" y="5943600"/>
            <a:ext cx="16859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66667"/>
          </a:bodyPr>
          <a:lstStyle/>
          <a:p>
            <a:pPr algn="r">
              <a:buNone/>
              <a:def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法规来源见备注</a:t>
            </a:r>
          </a:p>
        </p:txBody>
      </p:sp>
      <p:sp>
        <p:nvSpPr>
          <p:cNvPr id="28" name="footer-10">
            <a:extLst>
              <a:ext uri="{FF2B5EF4-FFF2-40B4-BE49-F238E27FC236}">
                <a16:creationId xmlns:a16="http://schemas.microsoft.com/office/drawing/2014/main" id="{A737F96D-48D3-4ED3-9400-E74B615B9957}"/>
              </a:ext>
            </a:extLst>
          </p:cNvPr>
          <p:cNvSpPr>
            <a:spLocks noGrp="1"/>
          </p:cNvSpPr>
          <p:nvPr/>
        </p:nvSpPr>
        <p:spPr>
          <a:xfrm>
            <a:off x="495300" y="6477000"/>
            <a:ext cx="8572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复杂任务多 Agent 自主协同｜初赛方案</a:t>
            </a:r>
          </a:p>
        </p:txBody>
      </p:sp>
      <p:sp>
        <p:nvSpPr>
          <p:cNvPr id="29" name="page-10">
            <a:extLst>
              <a:ext uri="{FF2B5EF4-FFF2-40B4-BE49-F238E27FC236}">
                <a16:creationId xmlns:a16="http://schemas.microsoft.com/office/drawing/2014/main" id="{A642D932-4EC5-407B-8F7E-438A23A3F4EF}"/>
              </a:ext>
            </a:extLst>
          </p:cNvPr>
          <p:cNvSpPr>
            <a:spLocks noGrp="1"/>
          </p:cNvSpPr>
          <p:nvPr/>
        </p:nvSpPr>
        <p:spPr>
          <a:xfrm>
            <a:off x="11144250" y="644842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7633322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kicker-11">
            <a:extLst>
              <a:ext uri="{FF2B5EF4-FFF2-40B4-BE49-F238E27FC236}">
                <a16:creationId xmlns:a16="http://schemas.microsoft.com/office/drawing/2014/main" id="{A54353AE-4165-4CD5-8672-7E20F4FCEE40}"/>
              </a:ext>
            </a:extLst>
          </p:cNvPr>
          <p:cNvSpPr>
            <a:spLocks noGrp="1"/>
          </p:cNvSpPr>
          <p:nvPr/>
        </p:nvSpPr>
        <p:spPr>
          <a:xfrm>
            <a:off x="495300" y="295275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CAMPUSMATCH</a:t>
            </a:r>
          </a:p>
        </p:txBody>
      </p:sp>
      <p:sp>
        <p:nvSpPr>
          <p:cNvPr id="2" name="title-11">
            <a:extLst>
              <a:ext uri="{FF2B5EF4-FFF2-40B4-BE49-F238E27FC236}">
                <a16:creationId xmlns:a16="http://schemas.microsoft.com/office/drawing/2014/main" id="{D8A82C31-6158-41BB-8CA0-9DA828956922}"/>
              </a:ext>
            </a:extLst>
          </p:cNvPr>
          <p:cNvSpPr>
            <a:spLocks noGrp="1"/>
          </p:cNvSpPr>
          <p:nvPr/>
        </p:nvSpPr>
        <p:spPr>
          <a:xfrm>
            <a:off x="495300" y="552450"/>
            <a:ext cx="11201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Skills 把专家流程沉淀为可复用能力</a:t>
            </a:r>
          </a:p>
        </p:txBody>
      </p:sp>
      <p:cxnSp>
        <p:nvCxnSpPr>
          <p:cNvPr id="54" name="header-line-11"/>
          <p:cNvCxnSpPr/>
          <p:nvPr/>
        </p:nvCxnSpPr>
        <p:spPr>
          <a:xfrm>
            <a:off x="495300" y="1219200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skill-group-0">
            <a:extLst>
              <a:ext uri="{FF2B5EF4-FFF2-40B4-BE49-F238E27FC236}">
                <a16:creationId xmlns:a16="http://schemas.microsoft.com/office/drawing/2014/main" id="{99471229-3CD2-42DC-A157-FBE172C48BE4}"/>
              </a:ext>
            </a:extLst>
          </p:cNvPr>
          <p:cNvSpPr>
            <a:spLocks noGrp="1"/>
          </p:cNvSpPr>
          <p:nvPr/>
        </p:nvSpPr>
        <p:spPr>
          <a:xfrm>
            <a:off x="495300" y="1581150"/>
            <a:ext cx="5257800" cy="1809750"/>
          </a:xfrm>
          <a:prstGeom prst="roundRect">
            <a:avLst>
              <a:gd name="adj" fmla="val 6316"/>
            </a:avLst>
          </a:prstGeom>
          <a:solidFill>
            <a:srgbClr val="EAF2FF"/>
          </a:solidFill>
          <a:ln w="9525">
            <a:solidFill>
              <a:srgbClr val="EAF2FF"/>
            </a:solidFill>
            <a:prstDash val="solid"/>
          </a:ln>
        </p:spPr>
      </p:sp>
      <p:sp>
        <p:nvSpPr>
          <p:cNvPr id="5" name="skill-label-0">
            <a:extLst>
              <a:ext uri="{FF2B5EF4-FFF2-40B4-BE49-F238E27FC236}">
                <a16:creationId xmlns:a16="http://schemas.microsoft.com/office/drawing/2014/main" id="{3836B8EE-C097-4FE5-9B1D-661EA7A59613}"/>
              </a:ext>
            </a:extLst>
          </p:cNvPr>
          <p:cNvSpPr>
            <a:spLocks noGrp="1"/>
          </p:cNvSpPr>
          <p:nvPr/>
        </p:nvSpPr>
        <p:spPr>
          <a:xfrm>
            <a:off x="704850" y="1771650"/>
            <a:ext cx="781050" cy="361950"/>
          </a:xfrm>
          <a:prstGeom prst="roundRect">
            <a:avLst>
              <a:gd name="adj" fmla="val 31579"/>
            </a:avLst>
          </a:prstGeom>
          <a:solidFill>
            <a:srgbClr val="1666D3"/>
          </a:solidFill>
          <a:ln w="0">
            <a:solidFill>
              <a:srgbClr val="1666D3"/>
            </a:solidFill>
            <a:prstDash val="solid"/>
          </a:ln>
        </p:spPr>
        <p:txBody>
          <a:bodyPr wrap="square" lIns="76200" tIns="57150" rIns="76200" bIns="57150" anchor="ctr">
            <a:normAutofit fontScale="92993"/>
          </a:bodyPr>
          <a:lstStyle/>
          <a:p>
            <a:pPr algn="ctr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材料</a:t>
            </a:r>
          </a:p>
        </p:txBody>
      </p:sp>
      <p:sp>
        <p:nvSpPr>
          <p:cNvPr id="6" name="skill-list-0">
            <a:extLst>
              <a:ext uri="{FF2B5EF4-FFF2-40B4-BE49-F238E27FC236}">
                <a16:creationId xmlns:a16="http://schemas.microsoft.com/office/drawing/2014/main" id="{81FDC63A-14B7-4DE5-8BC5-816A6910D5FE}"/>
              </a:ext>
            </a:extLst>
          </p:cNvPr>
          <p:cNvSpPr>
            <a:spLocks noGrp="1"/>
          </p:cNvSpPr>
          <p:nvPr/>
        </p:nvSpPr>
        <p:spPr>
          <a:xfrm>
            <a:off x="1695450" y="1819275"/>
            <a:ext cx="3714750" cy="1285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l">
              <a:buNone/>
              <a:defRPr sz="1350" b="1">
                <a:solidFill>
                  <a:srgbClr val="101828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01828"/>
                </a:solidFill>
                <a:latin typeface="Consolas"/>
                <a:ea typeface="Consolas"/>
                <a:cs typeface="Consolas"/>
              </a:rPr>
              <a:t>document_to_markdown</a:t>
            </a:r>
          </a:p>
          <a:p>
            <a:pPr algn="l">
              <a:buNone/>
              <a:defRPr sz="1350" b="1">
                <a:solidFill>
                  <a:srgbClr val="101828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01828"/>
                </a:solidFill>
                <a:latin typeface="Consolas"/>
                <a:ea typeface="Consolas"/>
                <a:cs typeface="Consolas"/>
              </a:rPr>
              <a:t>evidence_extractor</a:t>
            </a:r>
          </a:p>
          <a:p>
            <a:pPr algn="l">
              <a:buNone/>
              <a:defRPr sz="1350" b="1">
                <a:solidFill>
                  <a:srgbClr val="101828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01828"/>
                </a:solidFill>
                <a:latin typeface="Consolas"/>
                <a:ea typeface="Consolas"/>
                <a:cs typeface="Consolas"/>
              </a:rPr>
              <a:t>privacy_minimizer</a:t>
            </a:r>
          </a:p>
        </p:txBody>
      </p:sp>
      <p:sp>
        <p:nvSpPr>
          <p:cNvPr id="7" name="skill-group-1">
            <a:extLst>
              <a:ext uri="{FF2B5EF4-FFF2-40B4-BE49-F238E27FC236}">
                <a16:creationId xmlns:a16="http://schemas.microsoft.com/office/drawing/2014/main" id="{E3902FB2-4163-409A-806B-B7E63C54BE39}"/>
              </a:ext>
            </a:extLst>
          </p:cNvPr>
          <p:cNvSpPr>
            <a:spLocks noGrp="1"/>
          </p:cNvSpPr>
          <p:nvPr/>
        </p:nvSpPr>
        <p:spPr>
          <a:xfrm>
            <a:off x="6000750" y="1581150"/>
            <a:ext cx="5257800" cy="1809750"/>
          </a:xfrm>
          <a:prstGeom prst="roundRect">
            <a:avLst>
              <a:gd name="adj" fmla="val 6316"/>
            </a:avLst>
          </a:prstGeom>
          <a:solidFill>
            <a:srgbClr val="F2ECFF"/>
          </a:solidFill>
          <a:ln w="9525">
            <a:solidFill>
              <a:srgbClr val="F2ECFF"/>
            </a:solidFill>
            <a:prstDash val="solid"/>
          </a:ln>
        </p:spPr>
      </p:sp>
      <p:sp>
        <p:nvSpPr>
          <p:cNvPr id="8" name="skill-label-1">
            <a:extLst>
              <a:ext uri="{FF2B5EF4-FFF2-40B4-BE49-F238E27FC236}">
                <a16:creationId xmlns:a16="http://schemas.microsoft.com/office/drawing/2014/main" id="{97742401-78AC-482F-AEA4-50FB25440829}"/>
              </a:ext>
            </a:extLst>
          </p:cNvPr>
          <p:cNvSpPr>
            <a:spLocks noGrp="1"/>
          </p:cNvSpPr>
          <p:nvPr/>
        </p:nvSpPr>
        <p:spPr>
          <a:xfrm>
            <a:off x="6210300" y="1771650"/>
            <a:ext cx="781050" cy="361950"/>
          </a:xfrm>
          <a:prstGeom prst="roundRect">
            <a:avLst>
              <a:gd name="adj" fmla="val 31579"/>
            </a:avLst>
          </a:prstGeom>
          <a:solidFill>
            <a:srgbClr val="7047B8"/>
          </a:solidFill>
          <a:ln w="0">
            <a:solidFill>
              <a:srgbClr val="7047B8"/>
            </a:solidFill>
            <a:prstDash val="solid"/>
          </a:ln>
        </p:spPr>
        <p:txBody>
          <a:bodyPr wrap="square" lIns="76200" tIns="57150" rIns="76200" bIns="57150" anchor="ctr">
            <a:normAutofit fontScale="92993"/>
          </a:bodyPr>
          <a:lstStyle/>
          <a:p>
            <a:pPr algn="ctr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岗位</a:t>
            </a:r>
          </a:p>
        </p:txBody>
      </p:sp>
      <p:sp>
        <p:nvSpPr>
          <p:cNvPr id="9" name="skill-list-1">
            <a:extLst>
              <a:ext uri="{FF2B5EF4-FFF2-40B4-BE49-F238E27FC236}">
                <a16:creationId xmlns:a16="http://schemas.microsoft.com/office/drawing/2014/main" id="{45899716-35C9-41A5-9E01-59F262EA2412}"/>
              </a:ext>
            </a:extLst>
          </p:cNvPr>
          <p:cNvSpPr>
            <a:spLocks noGrp="1"/>
          </p:cNvSpPr>
          <p:nvPr/>
        </p:nvSpPr>
        <p:spPr>
          <a:xfrm>
            <a:off x="7200900" y="1819275"/>
            <a:ext cx="3714750" cy="1285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l">
              <a:buNone/>
              <a:defRPr sz="1350" b="1">
                <a:solidFill>
                  <a:srgbClr val="101828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01828"/>
                </a:solidFill>
                <a:latin typeface="Consolas"/>
                <a:ea typeface="Consolas"/>
                <a:cs typeface="Consolas"/>
              </a:rPr>
              <a:t>jd_normalizer</a:t>
            </a:r>
          </a:p>
          <a:p>
            <a:pPr algn="l">
              <a:buNone/>
              <a:defRPr sz="1350" b="1">
                <a:solidFill>
                  <a:srgbClr val="101828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01828"/>
                </a:solidFill>
                <a:latin typeface="Consolas"/>
                <a:ea typeface="Consolas"/>
                <a:cs typeface="Consolas"/>
              </a:rPr>
              <a:t>fairness_scanner</a:t>
            </a:r>
          </a:p>
          <a:p>
            <a:pPr algn="l">
              <a:buNone/>
              <a:defRPr sz="1350" b="1">
                <a:solidFill>
                  <a:srgbClr val="101828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01828"/>
                </a:solidFill>
                <a:latin typeface="Consolas"/>
                <a:ea typeface="Consolas"/>
                <a:cs typeface="Consolas"/>
              </a:rPr>
              <a:t>requirement_classifier</a:t>
            </a:r>
          </a:p>
        </p:txBody>
      </p:sp>
      <p:sp>
        <p:nvSpPr>
          <p:cNvPr id="10" name="skill-group-2">
            <a:extLst>
              <a:ext uri="{FF2B5EF4-FFF2-40B4-BE49-F238E27FC236}">
                <a16:creationId xmlns:a16="http://schemas.microsoft.com/office/drawing/2014/main" id="{E3D94A83-EE98-45BC-BF61-F55678D2C92D}"/>
              </a:ext>
            </a:extLst>
          </p:cNvPr>
          <p:cNvSpPr>
            <a:spLocks noGrp="1"/>
          </p:cNvSpPr>
          <p:nvPr/>
        </p:nvSpPr>
        <p:spPr>
          <a:xfrm>
            <a:off x="495300" y="3695700"/>
            <a:ext cx="5257800" cy="1809750"/>
          </a:xfrm>
          <a:prstGeom prst="roundRect">
            <a:avLst>
              <a:gd name="adj" fmla="val 6316"/>
            </a:avLst>
          </a:prstGeom>
          <a:solidFill>
            <a:srgbClr val="FFF5D6"/>
          </a:solidFill>
          <a:ln w="9525">
            <a:solidFill>
              <a:srgbClr val="FFF5D6"/>
            </a:solidFill>
            <a:prstDash val="solid"/>
          </a:ln>
        </p:spPr>
      </p:sp>
      <p:sp>
        <p:nvSpPr>
          <p:cNvPr id="11" name="skill-label-2">
            <a:extLst>
              <a:ext uri="{FF2B5EF4-FFF2-40B4-BE49-F238E27FC236}">
                <a16:creationId xmlns:a16="http://schemas.microsoft.com/office/drawing/2014/main" id="{0B0CBA47-9F3C-407C-AF2C-A7165BD16E19}"/>
              </a:ext>
            </a:extLst>
          </p:cNvPr>
          <p:cNvSpPr>
            <a:spLocks noGrp="1"/>
          </p:cNvSpPr>
          <p:nvPr/>
        </p:nvSpPr>
        <p:spPr>
          <a:xfrm>
            <a:off x="704850" y="3886200"/>
            <a:ext cx="781050" cy="361950"/>
          </a:xfrm>
          <a:prstGeom prst="roundRect">
            <a:avLst>
              <a:gd name="adj" fmla="val 31579"/>
            </a:avLst>
          </a:prstGeom>
          <a:solidFill>
            <a:srgbClr val="C77800"/>
          </a:solidFill>
          <a:ln w="0">
            <a:solidFill>
              <a:srgbClr val="C77800"/>
            </a:solidFill>
            <a:prstDash val="solid"/>
          </a:ln>
        </p:spPr>
        <p:txBody>
          <a:bodyPr wrap="square" lIns="76200" tIns="57150" rIns="76200" bIns="57150" anchor="ctr">
            <a:normAutofit fontScale="92993"/>
          </a:bodyPr>
          <a:lstStyle/>
          <a:p>
            <a:pPr algn="ctr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决策</a:t>
            </a:r>
          </a:p>
        </p:txBody>
      </p:sp>
      <p:sp>
        <p:nvSpPr>
          <p:cNvPr id="12" name="skill-list-2">
            <a:extLst>
              <a:ext uri="{FF2B5EF4-FFF2-40B4-BE49-F238E27FC236}">
                <a16:creationId xmlns:a16="http://schemas.microsoft.com/office/drawing/2014/main" id="{2E0BC0B2-0F8E-4572-9F58-A907C44F1AD8}"/>
              </a:ext>
            </a:extLst>
          </p:cNvPr>
          <p:cNvSpPr>
            <a:spLocks noGrp="1"/>
          </p:cNvSpPr>
          <p:nvPr/>
        </p:nvSpPr>
        <p:spPr>
          <a:xfrm>
            <a:off x="1695450" y="3933825"/>
            <a:ext cx="3714750" cy="1285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l">
              <a:buNone/>
              <a:defRPr sz="1350" b="1">
                <a:solidFill>
                  <a:srgbClr val="101828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01828"/>
                </a:solidFill>
                <a:latin typeface="Consolas"/>
                <a:ea typeface="Consolas"/>
                <a:cs typeface="Consolas"/>
              </a:rPr>
              <a:t>evidence_matcher</a:t>
            </a:r>
          </a:p>
          <a:p>
            <a:pPr algn="l">
              <a:buNone/>
              <a:defRPr sz="1350" b="1">
                <a:solidFill>
                  <a:srgbClr val="101828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01828"/>
                </a:solidFill>
                <a:latin typeface="Consolas"/>
                <a:ea typeface="Consolas"/>
                <a:cs typeface="Consolas"/>
              </a:rPr>
              <a:t>score_explainer</a:t>
            </a:r>
          </a:p>
          <a:p>
            <a:pPr algn="l">
              <a:buNone/>
              <a:defRPr sz="1350" b="1">
                <a:solidFill>
                  <a:srgbClr val="101828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01828"/>
                </a:solidFill>
                <a:latin typeface="Consolas"/>
                <a:ea typeface="Consolas"/>
                <a:cs typeface="Consolas"/>
              </a:rPr>
              <a:t>gap_plan_builder</a:t>
            </a:r>
          </a:p>
        </p:txBody>
      </p:sp>
      <p:sp>
        <p:nvSpPr>
          <p:cNvPr id="13" name="skill-group-3">
            <a:extLst>
              <a:ext uri="{FF2B5EF4-FFF2-40B4-BE49-F238E27FC236}">
                <a16:creationId xmlns:a16="http://schemas.microsoft.com/office/drawing/2014/main" id="{4A09F0C9-362F-4221-A432-988D575B1519}"/>
              </a:ext>
            </a:extLst>
          </p:cNvPr>
          <p:cNvSpPr>
            <a:spLocks noGrp="1"/>
          </p:cNvSpPr>
          <p:nvPr/>
        </p:nvSpPr>
        <p:spPr>
          <a:xfrm>
            <a:off x="6000750" y="3695700"/>
            <a:ext cx="5257800" cy="1809750"/>
          </a:xfrm>
          <a:prstGeom prst="roundRect">
            <a:avLst>
              <a:gd name="adj" fmla="val 6316"/>
            </a:avLst>
          </a:prstGeom>
          <a:solidFill>
            <a:srgbClr val="E8F7F0"/>
          </a:solidFill>
          <a:ln w="9525">
            <a:solidFill>
              <a:srgbClr val="E8F7F0"/>
            </a:solidFill>
            <a:prstDash val="solid"/>
          </a:ln>
        </p:spPr>
      </p:sp>
      <p:sp>
        <p:nvSpPr>
          <p:cNvPr id="14" name="skill-label-3">
            <a:extLst>
              <a:ext uri="{FF2B5EF4-FFF2-40B4-BE49-F238E27FC236}">
                <a16:creationId xmlns:a16="http://schemas.microsoft.com/office/drawing/2014/main" id="{08AC33BC-95A5-45C3-9A38-ACFDC70901A0}"/>
              </a:ext>
            </a:extLst>
          </p:cNvPr>
          <p:cNvSpPr>
            <a:spLocks noGrp="1"/>
          </p:cNvSpPr>
          <p:nvPr/>
        </p:nvSpPr>
        <p:spPr>
          <a:xfrm>
            <a:off x="6210300" y="3886200"/>
            <a:ext cx="781050" cy="361950"/>
          </a:xfrm>
          <a:prstGeom prst="roundRect">
            <a:avLst>
              <a:gd name="adj" fmla="val 31579"/>
            </a:avLst>
          </a:prstGeom>
          <a:solidFill>
            <a:srgbClr val="16865B"/>
          </a:solidFill>
          <a:ln w="0">
            <a:solidFill>
              <a:srgbClr val="16865B"/>
            </a:solidFill>
            <a:prstDash val="solid"/>
          </a:ln>
        </p:spPr>
        <p:txBody>
          <a:bodyPr wrap="square" lIns="76200" tIns="57150" rIns="76200" bIns="57150" anchor="ctr">
            <a:normAutofit fontScale="92993"/>
          </a:bodyPr>
          <a:lstStyle/>
          <a:p>
            <a:pPr algn="ctr">
              <a:buNone/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治理</a:t>
            </a:r>
          </a:p>
        </p:txBody>
      </p:sp>
      <p:sp>
        <p:nvSpPr>
          <p:cNvPr id="15" name="skill-list-3">
            <a:extLst>
              <a:ext uri="{FF2B5EF4-FFF2-40B4-BE49-F238E27FC236}">
                <a16:creationId xmlns:a16="http://schemas.microsoft.com/office/drawing/2014/main" id="{4790014F-A971-4495-9D71-AC6E18E5B3AB}"/>
              </a:ext>
            </a:extLst>
          </p:cNvPr>
          <p:cNvSpPr>
            <a:spLocks noGrp="1"/>
          </p:cNvSpPr>
          <p:nvPr/>
        </p:nvSpPr>
        <p:spPr>
          <a:xfrm>
            <a:off x="7200900" y="3933825"/>
            <a:ext cx="3714750" cy="1285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l">
              <a:buNone/>
              <a:defRPr sz="1350" b="1">
                <a:solidFill>
                  <a:srgbClr val="101828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01828"/>
                </a:solidFill>
                <a:latin typeface="Consolas"/>
                <a:ea typeface="Consolas"/>
                <a:cs typeface="Consolas"/>
              </a:rPr>
              <a:t>claim_auditor</a:t>
            </a:r>
          </a:p>
          <a:p>
            <a:pPr algn="l">
              <a:buNone/>
              <a:defRPr sz="1350" b="1">
                <a:solidFill>
                  <a:srgbClr val="101828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01828"/>
                </a:solidFill>
                <a:latin typeface="Consolas"/>
                <a:ea typeface="Consolas"/>
                <a:cs typeface="Consolas"/>
              </a:rPr>
              <a:t>report_exporter</a:t>
            </a:r>
          </a:p>
          <a:p>
            <a:pPr algn="l">
              <a:buNone/>
              <a:defRPr sz="1350" b="1">
                <a:solidFill>
                  <a:srgbClr val="101828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01828"/>
                </a:solidFill>
                <a:latin typeface="Consolas"/>
                <a:ea typeface="Consolas"/>
                <a:cs typeface="Consolas"/>
              </a:rPr>
              <a:t>sls_trace_query</a:t>
            </a:r>
          </a:p>
        </p:txBody>
      </p:sp>
      <p:cxnSp>
        <p:nvCxnSpPr>
          <p:cNvPr id="67" name="skills-rule"/>
          <p:cNvCxnSpPr/>
          <p:nvPr/>
        </p:nvCxnSpPr>
        <p:spPr>
          <a:xfrm>
            <a:off x="495300" y="5829300"/>
            <a:ext cx="108585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17" name="skills-thesis">
            <a:extLst>
              <a:ext uri="{FF2B5EF4-FFF2-40B4-BE49-F238E27FC236}">
                <a16:creationId xmlns:a16="http://schemas.microsoft.com/office/drawing/2014/main" id="{C86AFEC0-26DC-4087-BF9F-453F9640F860}"/>
              </a:ext>
            </a:extLst>
          </p:cNvPr>
          <p:cNvSpPr>
            <a:spLocks noGrp="1"/>
          </p:cNvSpPr>
          <p:nvPr/>
        </p:nvSpPr>
        <p:spPr>
          <a:xfrm>
            <a:off x="762000" y="5962650"/>
            <a:ext cx="103251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/>
          </a:bodyPr>
          <a:lstStyle/>
          <a:p>
            <a:pPr algn="ctr">
              <a:buNone/>
              <a:defRPr sz="1275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rPr>
              <a:t>Skill 定义输入、输出、失败处理与安全边界；MCP / 等价契约连接文件、岗位、知识库和日志。</a:t>
            </a:r>
          </a:p>
        </p:txBody>
      </p:sp>
      <p:sp>
        <p:nvSpPr>
          <p:cNvPr id="18" name="footer-11">
            <a:extLst>
              <a:ext uri="{FF2B5EF4-FFF2-40B4-BE49-F238E27FC236}">
                <a16:creationId xmlns:a16="http://schemas.microsoft.com/office/drawing/2014/main" id="{F272335B-272E-41A9-86C2-B17C8B608B3C}"/>
              </a:ext>
            </a:extLst>
          </p:cNvPr>
          <p:cNvSpPr>
            <a:spLocks noGrp="1"/>
          </p:cNvSpPr>
          <p:nvPr/>
        </p:nvSpPr>
        <p:spPr>
          <a:xfrm>
            <a:off x="495300" y="6477000"/>
            <a:ext cx="8572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复杂任务多 Agent 自主协同｜初赛方案</a:t>
            </a:r>
          </a:p>
        </p:txBody>
      </p:sp>
      <p:sp>
        <p:nvSpPr>
          <p:cNvPr id="19" name="page-11">
            <a:extLst>
              <a:ext uri="{FF2B5EF4-FFF2-40B4-BE49-F238E27FC236}">
                <a16:creationId xmlns:a16="http://schemas.microsoft.com/office/drawing/2014/main" id="{90C612CB-A63D-42E2-93E3-80244E6E07B6}"/>
              </a:ext>
            </a:extLst>
          </p:cNvPr>
          <p:cNvSpPr>
            <a:spLocks noGrp="1"/>
          </p:cNvSpPr>
          <p:nvPr/>
        </p:nvSpPr>
        <p:spPr>
          <a:xfrm>
            <a:off x="11144250" y="644842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774006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kicker-12">
            <a:extLst>
              <a:ext uri="{FF2B5EF4-FFF2-40B4-BE49-F238E27FC236}">
                <a16:creationId xmlns:a16="http://schemas.microsoft.com/office/drawing/2014/main" id="{1A9B7DDF-820D-495D-83F2-FB6546767328}"/>
              </a:ext>
            </a:extLst>
          </p:cNvPr>
          <p:cNvSpPr>
            <a:spLocks noGrp="1"/>
          </p:cNvSpPr>
          <p:nvPr/>
        </p:nvSpPr>
        <p:spPr>
          <a:xfrm>
            <a:off x="495300" y="295275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CAMPUSMATCH</a:t>
            </a:r>
          </a:p>
        </p:txBody>
      </p:sp>
      <p:sp>
        <p:nvSpPr>
          <p:cNvPr id="2" name="title-12">
            <a:extLst>
              <a:ext uri="{FF2B5EF4-FFF2-40B4-BE49-F238E27FC236}">
                <a16:creationId xmlns:a16="http://schemas.microsoft.com/office/drawing/2014/main" id="{638C582F-44CD-48F9-962F-9F1D92C51487}"/>
              </a:ext>
            </a:extLst>
          </p:cNvPr>
          <p:cNvSpPr>
            <a:spLocks noGrp="1"/>
          </p:cNvSpPr>
          <p:nvPr/>
        </p:nvSpPr>
        <p:spPr>
          <a:xfrm>
            <a:off x="495300" y="552450"/>
            <a:ext cx="11201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固定异常分支，验证系统真正可控</a:t>
            </a:r>
          </a:p>
        </p:txBody>
      </p:sp>
      <p:cxnSp>
        <p:nvCxnSpPr>
          <p:cNvPr id="41" name="header-line-12"/>
          <p:cNvCxnSpPr/>
          <p:nvPr/>
        </p:nvCxnSpPr>
        <p:spPr>
          <a:xfrm>
            <a:off x="495300" y="1219200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demo-n-0">
            <a:extLst>
              <a:ext uri="{FF2B5EF4-FFF2-40B4-BE49-F238E27FC236}">
                <a16:creationId xmlns:a16="http://schemas.microsoft.com/office/drawing/2014/main" id="{14A1CC9E-8E15-41EA-965D-3EE3B0D70BAE}"/>
              </a:ext>
            </a:extLst>
          </p:cNvPr>
          <p:cNvSpPr>
            <a:spLocks noGrp="1"/>
          </p:cNvSpPr>
          <p:nvPr/>
        </p:nvSpPr>
        <p:spPr>
          <a:xfrm>
            <a:off x="952500" y="1657350"/>
            <a:ext cx="381000" cy="381000"/>
          </a:xfrm>
          <a:prstGeom prst="ellipse">
            <a:avLst/>
          </a:prstGeom>
          <a:solidFill>
            <a:srgbClr val="1666D3"/>
          </a:solidFill>
          <a:ln w="0">
            <a:solidFill>
              <a:srgbClr val="1666D3"/>
            </a:solidFill>
            <a:prstDash val="solid"/>
          </a:ln>
        </p:spPr>
        <p:txBody>
          <a:bodyPr wrap="square" lIns="76200" tIns="57150" rIns="76200" bIns="57150" anchor="ctr">
            <a:normAutofit fontScale="84814"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5" name="demo-box-0">
            <a:extLst>
              <a:ext uri="{FF2B5EF4-FFF2-40B4-BE49-F238E27FC236}">
                <a16:creationId xmlns:a16="http://schemas.microsoft.com/office/drawing/2014/main" id="{620204AF-70E9-41B0-8CB6-72AA87B1455E}"/>
              </a:ext>
            </a:extLst>
          </p:cNvPr>
          <p:cNvSpPr>
            <a:spLocks noGrp="1"/>
          </p:cNvSpPr>
          <p:nvPr/>
        </p:nvSpPr>
        <p:spPr>
          <a:xfrm>
            <a:off x="495300" y="2228850"/>
            <a:ext cx="1295400" cy="838200"/>
          </a:xfrm>
          <a:prstGeom prst="roundRect">
            <a:avLst>
              <a:gd name="adj" fmla="val 13636"/>
            </a:avLst>
          </a:prstGeom>
          <a:solidFill>
            <a:srgbClr val="EAF2FF"/>
          </a:solidFill>
          <a:ln w="0">
            <a:solidFill>
              <a:srgbClr val="EAF2FF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2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合成简历 + JD</a:t>
            </a:r>
          </a:p>
        </p:txBody>
      </p:sp>
      <p:sp>
        <p:nvSpPr>
          <p:cNvPr id="6" name="demo-arrow-0">
            <a:extLst>
              <a:ext uri="{FF2B5EF4-FFF2-40B4-BE49-F238E27FC236}">
                <a16:creationId xmlns:a16="http://schemas.microsoft.com/office/drawing/2014/main" id="{A0C6891D-9624-4914-95D6-2D6626DF8226}"/>
              </a:ext>
            </a:extLst>
          </p:cNvPr>
          <p:cNvSpPr>
            <a:spLocks noGrp="1"/>
          </p:cNvSpPr>
          <p:nvPr/>
        </p:nvSpPr>
        <p:spPr>
          <a:xfrm>
            <a:off x="1800225" y="2457450"/>
            <a:ext cx="2571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61586"/>
          </a:bodyPr>
          <a:lstStyle/>
          <a:p>
            <a:pPr algn="ctr">
              <a:buNone/>
              <a:defRPr sz="13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demo-n-1">
            <a:extLst>
              <a:ext uri="{FF2B5EF4-FFF2-40B4-BE49-F238E27FC236}">
                <a16:creationId xmlns:a16="http://schemas.microsoft.com/office/drawing/2014/main" id="{D53027B2-D667-4B5D-9E93-F91C5737BDCA}"/>
              </a:ext>
            </a:extLst>
          </p:cNvPr>
          <p:cNvSpPr>
            <a:spLocks noGrp="1"/>
          </p:cNvSpPr>
          <p:nvPr/>
        </p:nvSpPr>
        <p:spPr>
          <a:xfrm>
            <a:off x="2514600" y="1657350"/>
            <a:ext cx="381000" cy="381000"/>
          </a:xfrm>
          <a:prstGeom prst="ellipse">
            <a:avLst/>
          </a:prstGeom>
          <a:solidFill>
            <a:srgbClr val="1666D3"/>
          </a:solidFill>
          <a:ln w="0">
            <a:solidFill>
              <a:srgbClr val="1666D3"/>
            </a:solidFill>
            <a:prstDash val="solid"/>
          </a:ln>
        </p:spPr>
        <p:txBody>
          <a:bodyPr wrap="square" lIns="76200" tIns="57150" rIns="76200" bIns="57150" anchor="ctr">
            <a:normAutofit fontScale="84814"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8" name="demo-box-1">
            <a:extLst>
              <a:ext uri="{FF2B5EF4-FFF2-40B4-BE49-F238E27FC236}">
                <a16:creationId xmlns:a16="http://schemas.microsoft.com/office/drawing/2014/main" id="{4E8DDA24-0D2B-4A5F-A1DA-B9AD30EA3BC3}"/>
              </a:ext>
            </a:extLst>
          </p:cNvPr>
          <p:cNvSpPr>
            <a:spLocks noGrp="1"/>
          </p:cNvSpPr>
          <p:nvPr/>
        </p:nvSpPr>
        <p:spPr>
          <a:xfrm>
            <a:off x="2057400" y="2228850"/>
            <a:ext cx="1295400" cy="838200"/>
          </a:xfrm>
          <a:prstGeom prst="roundRect">
            <a:avLst>
              <a:gd name="adj" fmla="val 13636"/>
            </a:avLst>
          </a:prstGeom>
          <a:solidFill>
            <a:srgbClr val="EAF2FF"/>
          </a:solidFill>
          <a:ln w="0">
            <a:solidFill>
              <a:srgbClr val="EAF2FF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2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证据画像</a:t>
            </a:r>
          </a:p>
        </p:txBody>
      </p:sp>
      <p:sp>
        <p:nvSpPr>
          <p:cNvPr id="9" name="demo-arrow-1">
            <a:extLst>
              <a:ext uri="{FF2B5EF4-FFF2-40B4-BE49-F238E27FC236}">
                <a16:creationId xmlns:a16="http://schemas.microsoft.com/office/drawing/2014/main" id="{37EB3C68-A425-4E2D-89BB-9D63215E025A}"/>
              </a:ext>
            </a:extLst>
          </p:cNvPr>
          <p:cNvSpPr>
            <a:spLocks noGrp="1"/>
          </p:cNvSpPr>
          <p:nvPr/>
        </p:nvSpPr>
        <p:spPr>
          <a:xfrm>
            <a:off x="3362325" y="2457450"/>
            <a:ext cx="2571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61586"/>
          </a:bodyPr>
          <a:lstStyle/>
          <a:p>
            <a:pPr algn="ctr">
              <a:buNone/>
              <a:defRPr sz="13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demo-n-2">
            <a:extLst>
              <a:ext uri="{FF2B5EF4-FFF2-40B4-BE49-F238E27FC236}">
                <a16:creationId xmlns:a16="http://schemas.microsoft.com/office/drawing/2014/main" id="{A5F728C4-910E-4D18-A5FA-7FB651BD1202}"/>
              </a:ext>
            </a:extLst>
          </p:cNvPr>
          <p:cNvSpPr>
            <a:spLocks noGrp="1"/>
          </p:cNvSpPr>
          <p:nvPr/>
        </p:nvSpPr>
        <p:spPr>
          <a:xfrm>
            <a:off x="4076700" y="1657350"/>
            <a:ext cx="381000" cy="381000"/>
          </a:xfrm>
          <a:prstGeom prst="ellipse">
            <a:avLst/>
          </a:prstGeom>
          <a:solidFill>
            <a:srgbClr val="1666D3"/>
          </a:solidFill>
          <a:ln w="0">
            <a:solidFill>
              <a:srgbClr val="1666D3"/>
            </a:solidFill>
            <a:prstDash val="solid"/>
          </a:ln>
        </p:spPr>
        <p:txBody>
          <a:bodyPr wrap="square" lIns="76200" tIns="57150" rIns="76200" bIns="57150" anchor="ctr">
            <a:normAutofit fontScale="84814"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demo-box-2">
            <a:extLst>
              <a:ext uri="{FF2B5EF4-FFF2-40B4-BE49-F238E27FC236}">
                <a16:creationId xmlns:a16="http://schemas.microsoft.com/office/drawing/2014/main" id="{C5D6DD06-6361-450A-96DF-73A3198EA49E}"/>
              </a:ext>
            </a:extLst>
          </p:cNvPr>
          <p:cNvSpPr>
            <a:spLocks noGrp="1"/>
          </p:cNvSpPr>
          <p:nvPr/>
        </p:nvSpPr>
        <p:spPr>
          <a:xfrm>
            <a:off x="3619500" y="2228850"/>
            <a:ext cx="1295400" cy="838200"/>
          </a:xfrm>
          <a:prstGeom prst="roundRect">
            <a:avLst>
              <a:gd name="adj" fmla="val 13636"/>
            </a:avLst>
          </a:prstGeom>
          <a:solidFill>
            <a:srgbClr val="EAF2FF"/>
          </a:solidFill>
          <a:ln w="0">
            <a:solidFill>
              <a:srgbClr val="EAF2FF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2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匹配可视化</a:t>
            </a:r>
          </a:p>
        </p:txBody>
      </p:sp>
      <p:sp>
        <p:nvSpPr>
          <p:cNvPr id="12" name="demo-arrow-2">
            <a:extLst>
              <a:ext uri="{FF2B5EF4-FFF2-40B4-BE49-F238E27FC236}">
                <a16:creationId xmlns:a16="http://schemas.microsoft.com/office/drawing/2014/main" id="{543833CD-B382-4160-BC7D-A33438E7C227}"/>
              </a:ext>
            </a:extLst>
          </p:cNvPr>
          <p:cNvSpPr>
            <a:spLocks noGrp="1"/>
          </p:cNvSpPr>
          <p:nvPr/>
        </p:nvSpPr>
        <p:spPr>
          <a:xfrm>
            <a:off x="4924425" y="2457450"/>
            <a:ext cx="2571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61586"/>
          </a:bodyPr>
          <a:lstStyle/>
          <a:p>
            <a:pPr algn="ctr">
              <a:buNone/>
              <a:defRPr sz="13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demo-n-3">
            <a:extLst>
              <a:ext uri="{FF2B5EF4-FFF2-40B4-BE49-F238E27FC236}">
                <a16:creationId xmlns:a16="http://schemas.microsoft.com/office/drawing/2014/main" id="{1E59BC9F-93C4-487F-A907-620338031259}"/>
              </a:ext>
            </a:extLst>
          </p:cNvPr>
          <p:cNvSpPr>
            <a:spLocks noGrp="1"/>
          </p:cNvSpPr>
          <p:nvPr/>
        </p:nvSpPr>
        <p:spPr>
          <a:xfrm>
            <a:off x="5638800" y="1657350"/>
            <a:ext cx="381000" cy="381000"/>
          </a:xfrm>
          <a:prstGeom prst="ellipse">
            <a:avLst/>
          </a:prstGeom>
          <a:solidFill>
            <a:srgbClr val="1666D3"/>
          </a:solidFill>
          <a:ln w="0">
            <a:solidFill>
              <a:srgbClr val="1666D3"/>
            </a:solidFill>
            <a:prstDash val="solid"/>
          </a:ln>
        </p:spPr>
        <p:txBody>
          <a:bodyPr wrap="square" lIns="76200" tIns="57150" rIns="76200" bIns="57150" anchor="ctr">
            <a:normAutofit fontScale="84814"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4" name="demo-box-3">
            <a:extLst>
              <a:ext uri="{FF2B5EF4-FFF2-40B4-BE49-F238E27FC236}">
                <a16:creationId xmlns:a16="http://schemas.microsoft.com/office/drawing/2014/main" id="{F643479B-1109-4D63-BB13-887BA56F557D}"/>
              </a:ext>
            </a:extLst>
          </p:cNvPr>
          <p:cNvSpPr>
            <a:spLocks noGrp="1"/>
          </p:cNvSpPr>
          <p:nvPr/>
        </p:nvSpPr>
        <p:spPr>
          <a:xfrm>
            <a:off x="5181600" y="2228850"/>
            <a:ext cx="1295400" cy="838200"/>
          </a:xfrm>
          <a:prstGeom prst="roundRect">
            <a:avLst>
              <a:gd name="adj" fmla="val 13636"/>
            </a:avLst>
          </a:prstGeom>
          <a:solidFill>
            <a:srgbClr val="EAF2FF"/>
          </a:solidFill>
          <a:ln w="0">
            <a:solidFill>
              <a:srgbClr val="EAF2FF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2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Coach 生成建议</a:t>
            </a:r>
          </a:p>
        </p:txBody>
      </p:sp>
      <p:sp>
        <p:nvSpPr>
          <p:cNvPr id="15" name="demo-arrow-3">
            <a:extLst>
              <a:ext uri="{FF2B5EF4-FFF2-40B4-BE49-F238E27FC236}">
                <a16:creationId xmlns:a16="http://schemas.microsoft.com/office/drawing/2014/main" id="{A4682CCF-4851-48EF-803B-9896138BB0D2}"/>
              </a:ext>
            </a:extLst>
          </p:cNvPr>
          <p:cNvSpPr>
            <a:spLocks noGrp="1"/>
          </p:cNvSpPr>
          <p:nvPr/>
        </p:nvSpPr>
        <p:spPr>
          <a:xfrm>
            <a:off x="6486525" y="2457450"/>
            <a:ext cx="2571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61586"/>
          </a:bodyPr>
          <a:lstStyle/>
          <a:p>
            <a:pPr algn="ctr">
              <a:buNone/>
              <a:defRPr sz="13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demo-n-4">
            <a:extLst>
              <a:ext uri="{FF2B5EF4-FFF2-40B4-BE49-F238E27FC236}">
                <a16:creationId xmlns:a16="http://schemas.microsoft.com/office/drawing/2014/main" id="{4DCB3FBD-8890-4276-9EB8-D36C0D7A516F}"/>
              </a:ext>
            </a:extLst>
          </p:cNvPr>
          <p:cNvSpPr>
            <a:spLocks noGrp="1"/>
          </p:cNvSpPr>
          <p:nvPr/>
        </p:nvSpPr>
        <p:spPr>
          <a:xfrm>
            <a:off x="7200900" y="1657350"/>
            <a:ext cx="381000" cy="381000"/>
          </a:xfrm>
          <a:prstGeom prst="ellipse">
            <a:avLst/>
          </a:prstGeom>
          <a:solidFill>
            <a:srgbClr val="C83838"/>
          </a:solidFill>
          <a:ln w="0">
            <a:solidFill>
              <a:srgbClr val="C83838"/>
            </a:solidFill>
            <a:prstDash val="solid"/>
          </a:ln>
        </p:spPr>
        <p:txBody>
          <a:bodyPr wrap="square" lIns="76200" tIns="57150" rIns="76200" bIns="57150" anchor="ctr">
            <a:normAutofit fontScale="84814"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7" name="demo-box-4">
            <a:extLst>
              <a:ext uri="{FF2B5EF4-FFF2-40B4-BE49-F238E27FC236}">
                <a16:creationId xmlns:a16="http://schemas.microsoft.com/office/drawing/2014/main" id="{83F15E70-ED21-4345-80F2-734023059B75}"/>
              </a:ext>
            </a:extLst>
          </p:cNvPr>
          <p:cNvSpPr>
            <a:spLocks noGrp="1"/>
          </p:cNvSpPr>
          <p:nvPr/>
        </p:nvSpPr>
        <p:spPr>
          <a:xfrm>
            <a:off x="6743700" y="2228850"/>
            <a:ext cx="1295400" cy="838200"/>
          </a:xfrm>
          <a:prstGeom prst="roundRect">
            <a:avLst>
              <a:gd name="adj" fmla="val 13636"/>
            </a:avLst>
          </a:prstGeom>
          <a:solidFill>
            <a:srgbClr val="FDECEC"/>
          </a:solidFill>
          <a:ln w="0">
            <a:solidFill>
              <a:srgbClr val="FDECEC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20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Audit 阻断</a:t>
            </a:r>
          </a:p>
        </p:txBody>
      </p:sp>
      <p:sp>
        <p:nvSpPr>
          <p:cNvPr id="18" name="demo-arrow-4">
            <a:extLst>
              <a:ext uri="{FF2B5EF4-FFF2-40B4-BE49-F238E27FC236}">
                <a16:creationId xmlns:a16="http://schemas.microsoft.com/office/drawing/2014/main" id="{53CE5216-CA0F-4AE1-A6B6-1020B8F21050}"/>
              </a:ext>
            </a:extLst>
          </p:cNvPr>
          <p:cNvSpPr>
            <a:spLocks noGrp="1"/>
          </p:cNvSpPr>
          <p:nvPr/>
        </p:nvSpPr>
        <p:spPr>
          <a:xfrm>
            <a:off x="8048625" y="2457450"/>
            <a:ext cx="2571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61586"/>
          </a:bodyPr>
          <a:lstStyle/>
          <a:p>
            <a:pPr algn="ctr">
              <a:buNone/>
              <a:defRPr sz="13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9" name="demo-n-5">
            <a:extLst>
              <a:ext uri="{FF2B5EF4-FFF2-40B4-BE49-F238E27FC236}">
                <a16:creationId xmlns:a16="http://schemas.microsoft.com/office/drawing/2014/main" id="{C27C6D87-2E20-4289-B8A4-31C43EE2D880}"/>
              </a:ext>
            </a:extLst>
          </p:cNvPr>
          <p:cNvSpPr>
            <a:spLocks noGrp="1"/>
          </p:cNvSpPr>
          <p:nvPr/>
        </p:nvSpPr>
        <p:spPr>
          <a:xfrm>
            <a:off x="8763000" y="1657350"/>
            <a:ext cx="381000" cy="381000"/>
          </a:xfrm>
          <a:prstGeom prst="ellipse">
            <a:avLst/>
          </a:prstGeom>
          <a:solidFill>
            <a:srgbClr val="16865B"/>
          </a:solidFill>
          <a:ln w="0">
            <a:solidFill>
              <a:srgbClr val="16865B"/>
            </a:solidFill>
            <a:prstDash val="solid"/>
          </a:ln>
        </p:spPr>
        <p:txBody>
          <a:bodyPr wrap="square" lIns="76200" tIns="57150" rIns="76200" bIns="57150" anchor="ctr">
            <a:normAutofit fontScale="84814"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0" name="demo-box-5">
            <a:extLst>
              <a:ext uri="{FF2B5EF4-FFF2-40B4-BE49-F238E27FC236}">
                <a16:creationId xmlns:a16="http://schemas.microsoft.com/office/drawing/2014/main" id="{844251AB-2EF3-4497-8A84-D05EDA20CF9F}"/>
              </a:ext>
            </a:extLst>
          </p:cNvPr>
          <p:cNvSpPr>
            <a:spLocks noGrp="1"/>
          </p:cNvSpPr>
          <p:nvPr/>
        </p:nvSpPr>
        <p:spPr>
          <a:xfrm>
            <a:off x="8305800" y="2228850"/>
            <a:ext cx="1295400" cy="838200"/>
          </a:xfrm>
          <a:prstGeom prst="roundRect">
            <a:avLst>
              <a:gd name="adj" fmla="val 13636"/>
            </a:avLst>
          </a:prstGeom>
          <a:solidFill>
            <a:srgbClr val="E8F7F0"/>
          </a:solidFill>
          <a:ln w="0">
            <a:solidFill>
              <a:srgbClr val="E8F7F0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20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rPr>
              <a:t>人工修复批准</a:t>
            </a:r>
          </a:p>
        </p:txBody>
      </p:sp>
      <p:sp>
        <p:nvSpPr>
          <p:cNvPr id="21" name="demo-arrow-5">
            <a:extLst>
              <a:ext uri="{FF2B5EF4-FFF2-40B4-BE49-F238E27FC236}">
                <a16:creationId xmlns:a16="http://schemas.microsoft.com/office/drawing/2014/main" id="{52198B4E-5253-4B14-A88C-67B30B2214DD}"/>
              </a:ext>
            </a:extLst>
          </p:cNvPr>
          <p:cNvSpPr>
            <a:spLocks noGrp="1"/>
          </p:cNvSpPr>
          <p:nvPr/>
        </p:nvSpPr>
        <p:spPr>
          <a:xfrm>
            <a:off x="9610725" y="2457450"/>
            <a:ext cx="25717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 fontScale="61586"/>
          </a:bodyPr>
          <a:lstStyle/>
          <a:p>
            <a:pPr algn="ctr">
              <a:buNone/>
              <a:defRPr sz="13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2" name="demo-n-6">
            <a:extLst>
              <a:ext uri="{FF2B5EF4-FFF2-40B4-BE49-F238E27FC236}">
                <a16:creationId xmlns:a16="http://schemas.microsoft.com/office/drawing/2014/main" id="{D6434F4E-4BEE-4B21-994E-6FC4F45AF947}"/>
              </a:ext>
            </a:extLst>
          </p:cNvPr>
          <p:cNvSpPr>
            <a:spLocks noGrp="1"/>
          </p:cNvSpPr>
          <p:nvPr/>
        </p:nvSpPr>
        <p:spPr>
          <a:xfrm>
            <a:off x="10325100" y="1657350"/>
            <a:ext cx="381000" cy="381000"/>
          </a:xfrm>
          <a:prstGeom prst="ellipse">
            <a:avLst/>
          </a:prstGeom>
          <a:solidFill>
            <a:srgbClr val="16865B"/>
          </a:solidFill>
          <a:ln w="0">
            <a:solidFill>
              <a:srgbClr val="16865B"/>
            </a:solidFill>
            <a:prstDash val="solid"/>
          </a:ln>
        </p:spPr>
        <p:txBody>
          <a:bodyPr wrap="square" lIns="76200" tIns="57150" rIns="76200" bIns="57150" anchor="ctr">
            <a:normAutofit fontScale="84814"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23" name="demo-box-6">
            <a:extLst>
              <a:ext uri="{FF2B5EF4-FFF2-40B4-BE49-F238E27FC236}">
                <a16:creationId xmlns:a16="http://schemas.microsoft.com/office/drawing/2014/main" id="{1B066B55-536B-4CF9-98A7-757BEC42A329}"/>
              </a:ext>
            </a:extLst>
          </p:cNvPr>
          <p:cNvSpPr>
            <a:spLocks noGrp="1"/>
          </p:cNvSpPr>
          <p:nvPr/>
        </p:nvSpPr>
        <p:spPr>
          <a:xfrm>
            <a:off x="9867900" y="2228850"/>
            <a:ext cx="1295400" cy="838200"/>
          </a:xfrm>
          <a:prstGeom prst="roundRect">
            <a:avLst>
              <a:gd name="adj" fmla="val 13636"/>
            </a:avLst>
          </a:prstGeom>
          <a:solidFill>
            <a:srgbClr val="E8F7F0"/>
          </a:solidFill>
          <a:ln w="0">
            <a:solidFill>
              <a:srgbClr val="E8F7F0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20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rPr>
              <a:t>报告 + Trace</a:t>
            </a:r>
          </a:p>
        </p:txBody>
      </p:sp>
      <p:sp>
        <p:nvSpPr>
          <p:cNvPr id="24" name="demo-exception">
            <a:extLst>
              <a:ext uri="{FF2B5EF4-FFF2-40B4-BE49-F238E27FC236}">
                <a16:creationId xmlns:a16="http://schemas.microsoft.com/office/drawing/2014/main" id="{39D67DD7-FA93-476A-BE2E-6EF06DEBF7FC}"/>
              </a:ext>
            </a:extLst>
          </p:cNvPr>
          <p:cNvSpPr>
            <a:spLocks noGrp="1"/>
          </p:cNvSpPr>
          <p:nvPr/>
        </p:nvSpPr>
        <p:spPr>
          <a:xfrm>
            <a:off x="495300" y="3467100"/>
            <a:ext cx="10858500" cy="1438275"/>
          </a:xfrm>
          <a:prstGeom prst="roundRect">
            <a:avLst>
              <a:gd name="adj" fmla="val 7947"/>
            </a:avLst>
          </a:prstGeom>
          <a:solidFill>
            <a:srgbClr val="FAFAFB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25" name="demo-ex-title">
            <a:extLst>
              <a:ext uri="{FF2B5EF4-FFF2-40B4-BE49-F238E27FC236}">
                <a16:creationId xmlns:a16="http://schemas.microsoft.com/office/drawing/2014/main" id="{A520B2CC-3045-48FA-BD4A-EB249D27EB0B}"/>
              </a:ext>
            </a:extLst>
          </p:cNvPr>
          <p:cNvSpPr>
            <a:spLocks noGrp="1"/>
          </p:cNvSpPr>
          <p:nvPr/>
        </p:nvSpPr>
        <p:spPr>
          <a:xfrm>
            <a:off x="771525" y="3676650"/>
            <a:ext cx="5143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/>
          </a:bodyPr>
          <a:lstStyle/>
          <a:p>
            <a:pPr algn="l">
              <a:buNone/>
              <a:defRPr sz="165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固定异常：建议中出现材料未支持的“提升 30%”</a:t>
            </a:r>
          </a:p>
        </p:txBody>
      </p:sp>
      <p:sp>
        <p:nvSpPr>
          <p:cNvPr id="26" name="demo-ex-body">
            <a:extLst>
              <a:ext uri="{FF2B5EF4-FFF2-40B4-BE49-F238E27FC236}">
                <a16:creationId xmlns:a16="http://schemas.microsoft.com/office/drawing/2014/main" id="{4583109C-3E2E-4739-A723-B8D04F982D46}"/>
              </a:ext>
            </a:extLst>
          </p:cNvPr>
          <p:cNvSpPr>
            <a:spLocks noGrp="1"/>
          </p:cNvSpPr>
          <p:nvPr/>
        </p:nvSpPr>
        <p:spPr>
          <a:xfrm>
            <a:off x="771525" y="4238625"/>
            <a:ext cx="9906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/>
          </a:bodyPr>
          <a:lstStyle/>
          <a:p>
            <a:pPr algn="ctr">
              <a:buNone/>
              <a:def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Audit → BLOCK → 回传 evidence_gap → Coach 删除无证据数字 → 用户确认 → PASS</a:t>
            </a:r>
          </a:p>
        </p:txBody>
      </p:sp>
      <p:sp>
        <p:nvSpPr>
          <p:cNvPr id="27" name="offline">
            <a:extLst>
              <a:ext uri="{FF2B5EF4-FFF2-40B4-BE49-F238E27FC236}">
                <a16:creationId xmlns:a16="http://schemas.microsoft.com/office/drawing/2014/main" id="{F76D54C4-7A26-49AF-A8F6-21481ACE31FB}"/>
              </a:ext>
            </a:extLst>
          </p:cNvPr>
          <p:cNvSpPr>
            <a:spLocks noGrp="1"/>
          </p:cNvSpPr>
          <p:nvPr/>
        </p:nvSpPr>
        <p:spPr>
          <a:xfrm>
            <a:off x="1047750" y="5295900"/>
            <a:ext cx="2428875" cy="590550"/>
          </a:xfrm>
          <a:prstGeom prst="roundRect">
            <a:avLst>
              <a:gd name="adj" fmla="val 19355"/>
            </a:avLst>
          </a:prstGeom>
          <a:solidFill>
            <a:srgbClr val="0B3B75"/>
          </a:solidFill>
          <a:ln w="0">
            <a:solidFill>
              <a:srgbClr val="0B3B75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浏览器确定性链路</a:t>
            </a:r>
          </a:p>
        </p:txBody>
      </p:sp>
      <p:sp>
        <p:nvSpPr>
          <p:cNvPr id="28" name="offline-desc">
            <a:extLst>
              <a:ext uri="{FF2B5EF4-FFF2-40B4-BE49-F238E27FC236}">
                <a16:creationId xmlns:a16="http://schemas.microsoft.com/office/drawing/2014/main" id="{3CD74C9D-38CF-4EB3-9C17-942BA6E00682}"/>
              </a:ext>
            </a:extLst>
          </p:cNvPr>
          <p:cNvSpPr>
            <a:spLocks noGrp="1"/>
          </p:cNvSpPr>
          <p:nvPr/>
        </p:nvSpPr>
        <p:spPr>
          <a:xfrm>
            <a:off x="3629025" y="5391150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l">
              <a:buNone/>
              <a:defRPr sz="12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50 项测试，77 / 85 可复现</a:t>
            </a:r>
          </a:p>
        </p:txBody>
      </p:sp>
      <p:sp>
        <p:nvSpPr>
          <p:cNvPr id="29" name="online">
            <a:extLst>
              <a:ext uri="{FF2B5EF4-FFF2-40B4-BE49-F238E27FC236}">
                <a16:creationId xmlns:a16="http://schemas.microsoft.com/office/drawing/2014/main" id="{770427FA-8071-4152-BCA9-9503FE3A9CD7}"/>
              </a:ext>
            </a:extLst>
          </p:cNvPr>
          <p:cNvSpPr>
            <a:spLocks noGrp="1"/>
          </p:cNvSpPr>
          <p:nvPr/>
        </p:nvSpPr>
        <p:spPr>
          <a:xfrm>
            <a:off x="6477000" y="5295900"/>
            <a:ext cx="2590800" cy="590550"/>
          </a:xfrm>
          <a:prstGeom prst="roundRect">
            <a:avLst>
              <a:gd name="adj" fmla="val 19355"/>
            </a:avLst>
          </a:prstGeom>
          <a:solidFill>
            <a:srgbClr val="EAF2FF"/>
          </a:solidFill>
          <a:ln w="19050">
            <a:solidFill>
              <a:srgbClr val="1666D3"/>
            </a:solidFill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42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HiClaw Team 实机链路</a:t>
            </a:r>
          </a:p>
        </p:txBody>
      </p:sp>
      <p:sp>
        <p:nvSpPr>
          <p:cNvPr id="30" name="online-desc">
            <a:extLst>
              <a:ext uri="{FF2B5EF4-FFF2-40B4-BE49-F238E27FC236}">
                <a16:creationId xmlns:a16="http://schemas.microsoft.com/office/drawing/2014/main" id="{1BBA2675-50BE-4D0A-981A-6BC456382201}"/>
              </a:ext>
            </a:extLst>
          </p:cNvPr>
          <p:cNvSpPr>
            <a:spLocks noGrp="1"/>
          </p:cNvSpPr>
          <p:nvPr/>
        </p:nvSpPr>
        <p:spPr>
          <a:xfrm>
            <a:off x="9220200" y="5391150"/>
            <a:ext cx="21336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 fontScale="84891"/>
          </a:bodyPr>
          <a:lstStyle/>
          <a:p>
            <a:pPr algn="l">
              <a:buNone/>
              <a:defRPr sz="12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6 Worker，5 阶段，状态 READY</a:t>
            </a:r>
          </a:p>
        </p:txBody>
      </p:sp>
      <p:sp>
        <p:nvSpPr>
          <p:cNvPr id="31" name="footer-12">
            <a:extLst>
              <a:ext uri="{FF2B5EF4-FFF2-40B4-BE49-F238E27FC236}">
                <a16:creationId xmlns:a16="http://schemas.microsoft.com/office/drawing/2014/main" id="{0180D700-C9A6-49FE-BA53-BA443FF1F035}"/>
              </a:ext>
            </a:extLst>
          </p:cNvPr>
          <p:cNvSpPr>
            <a:spLocks noGrp="1"/>
          </p:cNvSpPr>
          <p:nvPr/>
        </p:nvSpPr>
        <p:spPr>
          <a:xfrm>
            <a:off x="495300" y="6477000"/>
            <a:ext cx="8572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复杂任务多 Agent 自主协同｜本地 MVP 实测</a:t>
            </a:r>
          </a:p>
        </p:txBody>
      </p:sp>
      <p:sp>
        <p:nvSpPr>
          <p:cNvPr id="32" name="page-12">
            <a:extLst>
              <a:ext uri="{FF2B5EF4-FFF2-40B4-BE49-F238E27FC236}">
                <a16:creationId xmlns:a16="http://schemas.microsoft.com/office/drawing/2014/main" id="{61B51EBC-C83C-41C8-9D72-A15D649CD61F}"/>
              </a:ext>
            </a:extLst>
          </p:cNvPr>
          <p:cNvSpPr>
            <a:spLocks noGrp="1"/>
          </p:cNvSpPr>
          <p:nvPr/>
        </p:nvSpPr>
        <p:spPr>
          <a:xfrm>
            <a:off x="11144250" y="644842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178961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kicker-13">
            <a:extLst>
              <a:ext uri="{FF2B5EF4-FFF2-40B4-BE49-F238E27FC236}">
                <a16:creationId xmlns:a16="http://schemas.microsoft.com/office/drawing/2014/main" id="{89E2F4E1-9AE0-426D-B9DE-897EBCA2C28E}"/>
              </a:ext>
            </a:extLst>
          </p:cNvPr>
          <p:cNvSpPr>
            <a:spLocks noGrp="1"/>
          </p:cNvSpPr>
          <p:nvPr/>
        </p:nvSpPr>
        <p:spPr>
          <a:xfrm>
            <a:off x="495300" y="295275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CAMPUSMATCH</a:t>
            </a:r>
          </a:p>
        </p:txBody>
      </p:sp>
      <p:sp>
        <p:nvSpPr>
          <p:cNvPr id="2" name="title-13">
            <a:extLst>
              <a:ext uri="{FF2B5EF4-FFF2-40B4-BE49-F238E27FC236}">
                <a16:creationId xmlns:a16="http://schemas.microsoft.com/office/drawing/2014/main" id="{1EB5C7F7-0B8B-4124-A144-C2D985885EFB}"/>
              </a:ext>
            </a:extLst>
          </p:cNvPr>
          <p:cNvSpPr>
            <a:spLocks noGrp="1"/>
          </p:cNvSpPr>
          <p:nvPr/>
        </p:nvSpPr>
        <p:spPr>
          <a:xfrm>
            <a:off x="495300" y="552450"/>
            <a:ext cx="11201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固定数据 + 实机链路：当前可复现证据</a:t>
            </a:r>
          </a:p>
        </p:txBody>
      </p:sp>
      <p:cxnSp>
        <p:nvCxnSpPr>
          <p:cNvPr id="34" name="header-line-13"/>
          <p:cNvCxnSpPr/>
          <p:nvPr/>
        </p:nvCxnSpPr>
        <p:spPr>
          <a:xfrm>
            <a:off x="495300" y="1219200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target-disclaimer">
            <a:extLst>
              <a:ext uri="{FF2B5EF4-FFF2-40B4-BE49-F238E27FC236}">
                <a16:creationId xmlns:a16="http://schemas.microsoft.com/office/drawing/2014/main" id="{9C279EC4-4C81-4451-9D44-52961E9EC1F8}"/>
              </a:ext>
            </a:extLst>
          </p:cNvPr>
          <p:cNvSpPr>
            <a:spLocks noGrp="1"/>
          </p:cNvSpPr>
          <p:nvPr/>
        </p:nvSpPr>
        <p:spPr>
          <a:xfrm>
            <a:off x="495300" y="1438275"/>
            <a:ext cx="2571750" cy="323850"/>
          </a:xfrm>
          <a:prstGeom prst="roundRect">
            <a:avLst>
              <a:gd name="adj" fmla="val 35294"/>
            </a:avLst>
          </a:prstGeom>
          <a:solidFill>
            <a:srgbClr val="FDECEC"/>
          </a:solidFill>
          <a:ln w="9525">
            <a:solidFill>
              <a:srgbClr val="FDECEC"/>
            </a:solidFill>
            <a:prstDash val="solid"/>
          </a:ln>
        </p:spPr>
        <p:txBody>
          <a:bodyPr wrap="square" lIns="66675" tIns="38100" rIns="66675" bIns="38100" anchor="ctr">
            <a:normAutofit/>
          </a:bodyPr>
          <a:lstStyle/>
          <a:p>
            <a:pPr algn="ctr">
              <a:buNone/>
              <a:defRPr sz="105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本地 MVP 实测｜2026-08-14</a:t>
            </a:r>
          </a:p>
        </p:txBody>
      </p:sp>
      <p:sp>
        <p:nvSpPr>
          <p:cNvPr id="5" name="metric-0">
            <a:extLst>
              <a:ext uri="{FF2B5EF4-FFF2-40B4-BE49-F238E27FC236}">
                <a16:creationId xmlns:a16="http://schemas.microsoft.com/office/drawing/2014/main" id="{22D01F08-0F70-423A-BE1D-925BE9F1C219}"/>
              </a:ext>
            </a:extLst>
          </p:cNvPr>
          <p:cNvSpPr>
            <a:spLocks noGrp="1"/>
          </p:cNvSpPr>
          <p:nvPr/>
        </p:nvSpPr>
        <p:spPr>
          <a:xfrm>
            <a:off x="495300" y="1981200"/>
            <a:ext cx="3429000" cy="1485900"/>
          </a:xfrm>
          <a:prstGeom prst="roundRect">
            <a:avLst>
              <a:gd name="adj" fmla="val 7692"/>
            </a:avLst>
          </a:prstGeom>
          <a:solidFill>
            <a:srgbClr val="FAFAFB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6" name="metric-num-0">
            <a:extLst>
              <a:ext uri="{FF2B5EF4-FFF2-40B4-BE49-F238E27FC236}">
                <a16:creationId xmlns:a16="http://schemas.microsoft.com/office/drawing/2014/main" id="{7F97A311-1E37-4825-9979-DF451EE665CE}"/>
              </a:ext>
            </a:extLst>
          </p:cNvPr>
          <p:cNvSpPr>
            <a:spLocks noGrp="1"/>
          </p:cNvSpPr>
          <p:nvPr/>
        </p:nvSpPr>
        <p:spPr>
          <a:xfrm>
            <a:off x="704850" y="2171700"/>
            <a:ext cx="300990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30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50</a:t>
            </a:r>
          </a:p>
        </p:txBody>
      </p:sp>
      <p:sp>
        <p:nvSpPr>
          <p:cNvPr id="7" name="metric-label-0">
            <a:extLst>
              <a:ext uri="{FF2B5EF4-FFF2-40B4-BE49-F238E27FC236}">
                <a16:creationId xmlns:a16="http://schemas.microsoft.com/office/drawing/2014/main" id="{7DD772E1-3539-4392-9935-1243543F80D0}"/>
              </a:ext>
            </a:extLst>
          </p:cNvPr>
          <p:cNvSpPr>
            <a:spLocks noGrp="1"/>
          </p:cNvSpPr>
          <p:nvPr/>
        </p:nvSpPr>
        <p:spPr>
          <a:xfrm>
            <a:off x="723900" y="2895600"/>
            <a:ext cx="29718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自动化测试全部通过</a:t>
            </a:r>
          </a:p>
        </p:txBody>
      </p:sp>
      <p:sp>
        <p:nvSpPr>
          <p:cNvPr id="8" name="metric-1">
            <a:extLst>
              <a:ext uri="{FF2B5EF4-FFF2-40B4-BE49-F238E27FC236}">
                <a16:creationId xmlns:a16="http://schemas.microsoft.com/office/drawing/2014/main" id="{AAF07F70-07D0-4AB3-AF2A-87CB5450434E}"/>
              </a:ext>
            </a:extLst>
          </p:cNvPr>
          <p:cNvSpPr>
            <a:spLocks noGrp="1"/>
          </p:cNvSpPr>
          <p:nvPr/>
        </p:nvSpPr>
        <p:spPr>
          <a:xfrm>
            <a:off x="4171950" y="1981200"/>
            <a:ext cx="3429000" cy="1485900"/>
          </a:xfrm>
          <a:prstGeom prst="roundRect">
            <a:avLst>
              <a:gd name="adj" fmla="val 7692"/>
            </a:avLst>
          </a:prstGeom>
          <a:solidFill>
            <a:srgbClr val="FAFAFB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9" name="metric-num-1">
            <a:extLst>
              <a:ext uri="{FF2B5EF4-FFF2-40B4-BE49-F238E27FC236}">
                <a16:creationId xmlns:a16="http://schemas.microsoft.com/office/drawing/2014/main" id="{6133667A-B18E-4482-86E7-9D44657E21D3}"/>
              </a:ext>
            </a:extLst>
          </p:cNvPr>
          <p:cNvSpPr>
            <a:spLocks noGrp="1"/>
          </p:cNvSpPr>
          <p:nvPr/>
        </p:nvSpPr>
        <p:spPr>
          <a:xfrm>
            <a:off x="4381500" y="2171700"/>
            <a:ext cx="300990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300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" name="metric-label-1">
            <a:extLst>
              <a:ext uri="{FF2B5EF4-FFF2-40B4-BE49-F238E27FC236}">
                <a16:creationId xmlns:a16="http://schemas.microsoft.com/office/drawing/2014/main" id="{F647EEF2-7B53-4F15-B92C-1E0FA44005ED}"/>
              </a:ext>
            </a:extLst>
          </p:cNvPr>
          <p:cNvSpPr>
            <a:spLocks noGrp="1"/>
          </p:cNvSpPr>
          <p:nvPr/>
        </p:nvSpPr>
        <p:spPr>
          <a:xfrm>
            <a:off x="4400550" y="2895600"/>
            <a:ext cx="29718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浏览器控制台错误</a:t>
            </a:r>
          </a:p>
        </p:txBody>
      </p:sp>
      <p:sp>
        <p:nvSpPr>
          <p:cNvPr id="11" name="metric-2">
            <a:extLst>
              <a:ext uri="{FF2B5EF4-FFF2-40B4-BE49-F238E27FC236}">
                <a16:creationId xmlns:a16="http://schemas.microsoft.com/office/drawing/2014/main" id="{8BEF2AA4-94FE-4083-8271-9AEB5DEFAA1A}"/>
              </a:ext>
            </a:extLst>
          </p:cNvPr>
          <p:cNvSpPr>
            <a:spLocks noGrp="1"/>
          </p:cNvSpPr>
          <p:nvPr/>
        </p:nvSpPr>
        <p:spPr>
          <a:xfrm>
            <a:off x="7848600" y="1981200"/>
            <a:ext cx="3429000" cy="1485900"/>
          </a:xfrm>
          <a:prstGeom prst="roundRect">
            <a:avLst>
              <a:gd name="adj" fmla="val 7692"/>
            </a:avLst>
          </a:prstGeom>
          <a:solidFill>
            <a:srgbClr val="FAFAFB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2" name="metric-num-2">
            <a:extLst>
              <a:ext uri="{FF2B5EF4-FFF2-40B4-BE49-F238E27FC236}">
                <a16:creationId xmlns:a16="http://schemas.microsoft.com/office/drawing/2014/main" id="{6C9A36EA-A955-461B-8659-C9EA926E3536}"/>
              </a:ext>
            </a:extLst>
          </p:cNvPr>
          <p:cNvSpPr>
            <a:spLocks noGrp="1"/>
          </p:cNvSpPr>
          <p:nvPr/>
        </p:nvSpPr>
        <p:spPr>
          <a:xfrm>
            <a:off x="8058150" y="2171700"/>
            <a:ext cx="300990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300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C83838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" name="metric-label-2">
            <a:extLst>
              <a:ext uri="{FF2B5EF4-FFF2-40B4-BE49-F238E27FC236}">
                <a16:creationId xmlns:a16="http://schemas.microsoft.com/office/drawing/2014/main" id="{2795E0CF-AE7E-4C8E-91A5-3D5D8F6F657E}"/>
              </a:ext>
            </a:extLst>
          </p:cNvPr>
          <p:cNvSpPr>
            <a:spLocks noGrp="1"/>
          </p:cNvSpPr>
          <p:nvPr/>
        </p:nvSpPr>
        <p:spPr>
          <a:xfrm>
            <a:off x="8077200" y="2895600"/>
            <a:ext cx="29718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歧视条件进入评分</a:t>
            </a:r>
          </a:p>
        </p:txBody>
      </p:sp>
      <p:sp>
        <p:nvSpPr>
          <p:cNvPr id="14" name="metric-3">
            <a:extLst>
              <a:ext uri="{FF2B5EF4-FFF2-40B4-BE49-F238E27FC236}">
                <a16:creationId xmlns:a16="http://schemas.microsoft.com/office/drawing/2014/main" id="{5FDFDB80-1955-41CF-8140-768AF662935E}"/>
              </a:ext>
            </a:extLst>
          </p:cNvPr>
          <p:cNvSpPr>
            <a:spLocks noGrp="1"/>
          </p:cNvSpPr>
          <p:nvPr/>
        </p:nvSpPr>
        <p:spPr>
          <a:xfrm>
            <a:off x="495300" y="3790950"/>
            <a:ext cx="3429000" cy="1485900"/>
          </a:xfrm>
          <a:prstGeom prst="roundRect">
            <a:avLst>
              <a:gd name="adj" fmla="val 7692"/>
            </a:avLst>
          </a:prstGeom>
          <a:solidFill>
            <a:srgbClr val="FAFAFB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5" name="metric-num-3">
            <a:extLst>
              <a:ext uri="{FF2B5EF4-FFF2-40B4-BE49-F238E27FC236}">
                <a16:creationId xmlns:a16="http://schemas.microsoft.com/office/drawing/2014/main" id="{D876DB57-FE73-4301-87AA-43C4FA46FAE5}"/>
              </a:ext>
            </a:extLst>
          </p:cNvPr>
          <p:cNvSpPr>
            <a:spLocks noGrp="1"/>
          </p:cNvSpPr>
          <p:nvPr/>
        </p:nvSpPr>
        <p:spPr>
          <a:xfrm>
            <a:off x="704850" y="3981450"/>
            <a:ext cx="300990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300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rPr>
              <a:t>6 / 6</a:t>
            </a:r>
          </a:p>
        </p:txBody>
      </p:sp>
      <p:sp>
        <p:nvSpPr>
          <p:cNvPr id="16" name="metric-label-3">
            <a:extLst>
              <a:ext uri="{FF2B5EF4-FFF2-40B4-BE49-F238E27FC236}">
                <a16:creationId xmlns:a16="http://schemas.microsoft.com/office/drawing/2014/main" id="{F4C3CAB3-EC96-47FF-97DF-88D730AA4829}"/>
              </a:ext>
            </a:extLst>
          </p:cNvPr>
          <p:cNvSpPr>
            <a:spLocks noGrp="1"/>
          </p:cNvSpPr>
          <p:nvPr/>
        </p:nvSpPr>
        <p:spPr>
          <a:xfrm>
            <a:off x="723900" y="4705350"/>
            <a:ext cx="29718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Worker MCP 健康</a:t>
            </a:r>
          </a:p>
        </p:txBody>
      </p:sp>
      <p:sp>
        <p:nvSpPr>
          <p:cNvPr id="17" name="metric-4">
            <a:extLst>
              <a:ext uri="{FF2B5EF4-FFF2-40B4-BE49-F238E27FC236}">
                <a16:creationId xmlns:a16="http://schemas.microsoft.com/office/drawing/2014/main" id="{DE3CC01A-B84F-4C15-952D-928124E4B1B9}"/>
              </a:ext>
            </a:extLst>
          </p:cNvPr>
          <p:cNvSpPr>
            <a:spLocks noGrp="1"/>
          </p:cNvSpPr>
          <p:nvPr/>
        </p:nvSpPr>
        <p:spPr>
          <a:xfrm>
            <a:off x="4171950" y="3790950"/>
            <a:ext cx="3429000" cy="1485900"/>
          </a:xfrm>
          <a:prstGeom prst="roundRect">
            <a:avLst>
              <a:gd name="adj" fmla="val 7692"/>
            </a:avLst>
          </a:prstGeom>
          <a:solidFill>
            <a:srgbClr val="FAFAFB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metric-num-4">
            <a:extLst>
              <a:ext uri="{FF2B5EF4-FFF2-40B4-BE49-F238E27FC236}">
                <a16:creationId xmlns:a16="http://schemas.microsoft.com/office/drawing/2014/main" id="{0D66E191-760E-45A6-8C73-87A64567B5C8}"/>
              </a:ext>
            </a:extLst>
          </p:cNvPr>
          <p:cNvSpPr>
            <a:spLocks noGrp="1"/>
          </p:cNvSpPr>
          <p:nvPr/>
        </p:nvSpPr>
        <p:spPr>
          <a:xfrm>
            <a:off x="4381500" y="3981450"/>
            <a:ext cx="300990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300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rPr>
              <a:t>5 / 5</a:t>
            </a:r>
          </a:p>
        </p:txBody>
      </p:sp>
      <p:sp>
        <p:nvSpPr>
          <p:cNvPr id="19" name="metric-label-4">
            <a:extLst>
              <a:ext uri="{FF2B5EF4-FFF2-40B4-BE49-F238E27FC236}">
                <a16:creationId xmlns:a16="http://schemas.microsoft.com/office/drawing/2014/main" id="{4383D30C-604F-45BD-AB13-672FC45F31A6}"/>
              </a:ext>
            </a:extLst>
          </p:cNvPr>
          <p:cNvSpPr>
            <a:spLocks noGrp="1"/>
          </p:cNvSpPr>
          <p:nvPr/>
        </p:nvSpPr>
        <p:spPr>
          <a:xfrm>
            <a:off x="4400550" y="4705350"/>
            <a:ext cx="29718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Team 专业阶段完成</a:t>
            </a:r>
          </a:p>
        </p:txBody>
      </p:sp>
      <p:sp>
        <p:nvSpPr>
          <p:cNvPr id="20" name="metric-5">
            <a:extLst>
              <a:ext uri="{FF2B5EF4-FFF2-40B4-BE49-F238E27FC236}">
                <a16:creationId xmlns:a16="http://schemas.microsoft.com/office/drawing/2014/main" id="{001540AE-F3F0-46CD-9240-7C663840D01D}"/>
              </a:ext>
            </a:extLst>
          </p:cNvPr>
          <p:cNvSpPr>
            <a:spLocks noGrp="1"/>
          </p:cNvSpPr>
          <p:nvPr/>
        </p:nvSpPr>
        <p:spPr>
          <a:xfrm>
            <a:off x="7848600" y="3790950"/>
            <a:ext cx="3429000" cy="1485900"/>
          </a:xfrm>
          <a:prstGeom prst="roundRect">
            <a:avLst>
              <a:gd name="adj" fmla="val 7692"/>
            </a:avLst>
          </a:prstGeom>
          <a:solidFill>
            <a:srgbClr val="FAFAFB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21" name="metric-num-5">
            <a:extLst>
              <a:ext uri="{FF2B5EF4-FFF2-40B4-BE49-F238E27FC236}">
                <a16:creationId xmlns:a16="http://schemas.microsoft.com/office/drawing/2014/main" id="{836970F1-E064-4654-91E6-26DF1F3C4639}"/>
              </a:ext>
            </a:extLst>
          </p:cNvPr>
          <p:cNvSpPr>
            <a:spLocks noGrp="1"/>
          </p:cNvSpPr>
          <p:nvPr/>
        </p:nvSpPr>
        <p:spPr>
          <a:xfrm>
            <a:off x="8058150" y="3981450"/>
            <a:ext cx="300990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30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READY</a:t>
            </a:r>
          </a:p>
        </p:txBody>
      </p:sp>
      <p:sp>
        <p:nvSpPr>
          <p:cNvPr id="22" name="metric-label-5">
            <a:extLst>
              <a:ext uri="{FF2B5EF4-FFF2-40B4-BE49-F238E27FC236}">
                <a16:creationId xmlns:a16="http://schemas.microsoft.com/office/drawing/2014/main" id="{CBCF9F00-ABB4-4F84-95BC-2379E3596D01}"/>
              </a:ext>
            </a:extLst>
          </p:cNvPr>
          <p:cNvSpPr>
            <a:spLocks noGrp="1"/>
          </p:cNvSpPr>
          <p:nvPr/>
        </p:nvSpPr>
        <p:spPr>
          <a:xfrm>
            <a:off x="8077200" y="4705350"/>
            <a:ext cx="29718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最终业务状态</a:t>
            </a:r>
          </a:p>
        </p:txBody>
      </p:sp>
      <p:sp>
        <p:nvSpPr>
          <p:cNvPr id="23" name="metric-method">
            <a:extLst>
              <a:ext uri="{FF2B5EF4-FFF2-40B4-BE49-F238E27FC236}">
                <a16:creationId xmlns:a16="http://schemas.microsoft.com/office/drawing/2014/main" id="{85878B90-CA1B-41E0-9813-3E8A3AD92CA5}"/>
              </a:ext>
            </a:extLst>
          </p:cNvPr>
          <p:cNvSpPr>
            <a:spLocks noGrp="1"/>
          </p:cNvSpPr>
          <p:nvPr/>
        </p:nvSpPr>
        <p:spPr>
          <a:xfrm>
            <a:off x="495300" y="5810250"/>
            <a:ext cx="10858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/>
          </a:bodyPr>
          <a:lstStyle/>
          <a:p>
            <a:pPr algn="ctr">
              <a:buNone/>
              <a:defRPr sz="1275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rPr>
              <a:t>浏览器桌面/移动端 + API + MCP + Worker Skills + Team Room + 共享结果</a:t>
            </a:r>
          </a:p>
        </p:txBody>
      </p:sp>
      <p:sp>
        <p:nvSpPr>
          <p:cNvPr id="24" name="footer-13">
            <a:extLst>
              <a:ext uri="{FF2B5EF4-FFF2-40B4-BE49-F238E27FC236}">
                <a16:creationId xmlns:a16="http://schemas.microsoft.com/office/drawing/2014/main" id="{AB63AD46-CA0F-4032-BF3D-831B5AFEC6E6}"/>
              </a:ext>
            </a:extLst>
          </p:cNvPr>
          <p:cNvSpPr>
            <a:spLocks noGrp="1"/>
          </p:cNvSpPr>
          <p:nvPr/>
        </p:nvSpPr>
        <p:spPr>
          <a:xfrm>
            <a:off x="495300" y="6477000"/>
            <a:ext cx="8572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复杂任务多 Agent 自主协同｜实机记录见 show/19</a:t>
            </a:r>
          </a:p>
        </p:txBody>
      </p:sp>
      <p:sp>
        <p:nvSpPr>
          <p:cNvPr id="25" name="page-13">
            <a:extLst>
              <a:ext uri="{FF2B5EF4-FFF2-40B4-BE49-F238E27FC236}">
                <a16:creationId xmlns:a16="http://schemas.microsoft.com/office/drawing/2014/main" id="{153AB684-7C2F-4832-8AA2-1F43255C1305}"/>
              </a:ext>
            </a:extLst>
          </p:cNvPr>
          <p:cNvSpPr>
            <a:spLocks noGrp="1"/>
          </p:cNvSpPr>
          <p:nvPr/>
        </p:nvSpPr>
        <p:spPr>
          <a:xfrm>
            <a:off x="11144250" y="644842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5934794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kicker-14">
            <a:extLst>
              <a:ext uri="{FF2B5EF4-FFF2-40B4-BE49-F238E27FC236}">
                <a16:creationId xmlns:a16="http://schemas.microsoft.com/office/drawing/2014/main" id="{7C307FBE-BA64-4FF3-ADC9-8411DAEDB7C7}"/>
              </a:ext>
            </a:extLst>
          </p:cNvPr>
          <p:cNvSpPr>
            <a:spLocks noGrp="1"/>
          </p:cNvSpPr>
          <p:nvPr/>
        </p:nvSpPr>
        <p:spPr>
          <a:xfrm>
            <a:off x="495300" y="295275"/>
            <a:ext cx="323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CAMPUSMATCH</a:t>
            </a:r>
          </a:p>
        </p:txBody>
      </p:sp>
      <p:sp>
        <p:nvSpPr>
          <p:cNvPr id="2" name="title-14">
            <a:extLst>
              <a:ext uri="{FF2B5EF4-FFF2-40B4-BE49-F238E27FC236}">
                <a16:creationId xmlns:a16="http://schemas.microsoft.com/office/drawing/2014/main" id="{17224152-FEDB-4AB3-9A61-53CA461A68FF}"/>
              </a:ext>
            </a:extLst>
          </p:cNvPr>
          <p:cNvSpPr>
            <a:spLocks noGrp="1"/>
          </p:cNvSpPr>
          <p:nvPr/>
        </p:nvSpPr>
        <p:spPr>
          <a:xfrm>
            <a:off x="495300" y="552450"/>
            <a:ext cx="11201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从高校场景出发，开放一套可信求职 Agent Infra</a:t>
            </a:r>
          </a:p>
        </p:txBody>
      </p:sp>
      <p:cxnSp>
        <p:nvCxnSpPr>
          <p:cNvPr id="35" name="header-line-14"/>
          <p:cNvCxnSpPr/>
          <p:nvPr/>
        </p:nvCxnSpPr>
        <p:spPr>
          <a:xfrm>
            <a:off x="495300" y="1219200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out-num-0">
            <a:extLst>
              <a:ext uri="{FF2B5EF4-FFF2-40B4-BE49-F238E27FC236}">
                <a16:creationId xmlns:a16="http://schemas.microsoft.com/office/drawing/2014/main" id="{D1016212-01F0-4151-8108-A97064FF59B6}"/>
              </a:ext>
            </a:extLst>
          </p:cNvPr>
          <p:cNvSpPr>
            <a:spLocks noGrp="1"/>
          </p:cNvSpPr>
          <p:nvPr/>
        </p:nvSpPr>
        <p:spPr>
          <a:xfrm>
            <a:off x="495300" y="168592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/>
          </a:bodyPr>
          <a:lstStyle/>
          <a:p>
            <a:pPr algn="ctr">
              <a:buNone/>
              <a:defRPr sz="97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out-0">
            <a:extLst>
              <a:ext uri="{FF2B5EF4-FFF2-40B4-BE49-F238E27FC236}">
                <a16:creationId xmlns:a16="http://schemas.microsoft.com/office/drawing/2014/main" id="{9C517DEF-8D1E-4BEA-B10D-1876C3157EAB}"/>
              </a:ext>
            </a:extLst>
          </p:cNvPr>
          <p:cNvSpPr>
            <a:spLocks noGrp="1"/>
          </p:cNvSpPr>
          <p:nvPr/>
        </p:nvSpPr>
        <p:spPr>
          <a:xfrm>
            <a:off x="495300" y="2066925"/>
            <a:ext cx="2381250" cy="1809750"/>
          </a:xfrm>
          <a:prstGeom prst="roundRect">
            <a:avLst>
              <a:gd name="adj" fmla="val 6316"/>
            </a:avLst>
          </a:prstGeom>
          <a:solidFill>
            <a:srgbClr val="EAF2FF"/>
          </a:solidFill>
          <a:ln w="9525">
            <a:solidFill>
              <a:srgbClr val="EAF2FF"/>
            </a:solidFill>
            <a:prstDash val="solid"/>
          </a:ln>
        </p:spPr>
      </p:sp>
      <p:sp>
        <p:nvSpPr>
          <p:cNvPr id="6" name="out-title-0">
            <a:extLst>
              <a:ext uri="{FF2B5EF4-FFF2-40B4-BE49-F238E27FC236}">
                <a16:creationId xmlns:a16="http://schemas.microsoft.com/office/drawing/2014/main" id="{E6F460D2-8036-47B9-A374-5DAF57383F3A}"/>
              </a:ext>
            </a:extLst>
          </p:cNvPr>
          <p:cNvSpPr>
            <a:spLocks noGrp="1"/>
          </p:cNvSpPr>
          <p:nvPr/>
        </p:nvSpPr>
        <p:spPr>
          <a:xfrm>
            <a:off x="685800" y="2343150"/>
            <a:ext cx="2000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/>
          </a:bodyPr>
          <a:lstStyle/>
          <a:p>
            <a:pPr algn="ctr">
              <a:buNone/>
              <a:defRPr sz="1800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rPr>
              <a:t>Identity</a:t>
            </a:r>
          </a:p>
        </p:txBody>
      </p:sp>
      <p:sp>
        <p:nvSpPr>
          <p:cNvPr id="7" name="out-body-0">
            <a:extLst>
              <a:ext uri="{FF2B5EF4-FFF2-40B4-BE49-F238E27FC236}">
                <a16:creationId xmlns:a16="http://schemas.microsoft.com/office/drawing/2014/main" id="{4CB05975-D845-4635-A677-65F13D4AFB6A}"/>
              </a:ext>
            </a:extLst>
          </p:cNvPr>
          <p:cNvSpPr>
            <a:spLocks noGrp="1"/>
          </p:cNvSpPr>
          <p:nvPr/>
        </p:nvSpPr>
        <p:spPr>
          <a:xfrm>
            <a:off x="723900" y="2952750"/>
            <a:ext cx="19240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2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六类 Agent 的职责、输入、输出与边界</a:t>
            </a:r>
          </a:p>
        </p:txBody>
      </p:sp>
      <p:sp>
        <p:nvSpPr>
          <p:cNvPr id="8" name="out-num-1">
            <a:extLst>
              <a:ext uri="{FF2B5EF4-FFF2-40B4-BE49-F238E27FC236}">
                <a16:creationId xmlns:a16="http://schemas.microsoft.com/office/drawing/2014/main" id="{49140809-CC9B-4CD9-8BB8-AE7868002C4F}"/>
              </a:ext>
            </a:extLst>
          </p:cNvPr>
          <p:cNvSpPr>
            <a:spLocks noGrp="1"/>
          </p:cNvSpPr>
          <p:nvPr/>
        </p:nvSpPr>
        <p:spPr>
          <a:xfrm>
            <a:off x="3257550" y="168592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/>
          </a:bodyPr>
          <a:lstStyle/>
          <a:p>
            <a:pPr algn="ctr">
              <a:buNone/>
              <a:defRPr sz="97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9" name="out-1">
            <a:extLst>
              <a:ext uri="{FF2B5EF4-FFF2-40B4-BE49-F238E27FC236}">
                <a16:creationId xmlns:a16="http://schemas.microsoft.com/office/drawing/2014/main" id="{8E2064E9-EEA5-4419-92BE-466C96EF0A8D}"/>
              </a:ext>
            </a:extLst>
          </p:cNvPr>
          <p:cNvSpPr>
            <a:spLocks noGrp="1"/>
          </p:cNvSpPr>
          <p:nvPr/>
        </p:nvSpPr>
        <p:spPr>
          <a:xfrm>
            <a:off x="3257550" y="2066925"/>
            <a:ext cx="2381250" cy="1809750"/>
          </a:xfrm>
          <a:prstGeom prst="roundRect">
            <a:avLst>
              <a:gd name="adj" fmla="val 6316"/>
            </a:avLst>
          </a:prstGeom>
          <a:solidFill>
            <a:srgbClr val="FAFAFB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0" name="out-title-1">
            <a:extLst>
              <a:ext uri="{FF2B5EF4-FFF2-40B4-BE49-F238E27FC236}">
                <a16:creationId xmlns:a16="http://schemas.microsoft.com/office/drawing/2014/main" id="{E339FBFC-D0FE-43E0-8619-CF67FFEB3B8E}"/>
              </a:ext>
            </a:extLst>
          </p:cNvPr>
          <p:cNvSpPr>
            <a:spLocks noGrp="1"/>
          </p:cNvSpPr>
          <p:nvPr/>
        </p:nvSpPr>
        <p:spPr>
          <a:xfrm>
            <a:off x="3448050" y="2343150"/>
            <a:ext cx="2000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/>
          </a:bodyPr>
          <a:lstStyle/>
          <a:p>
            <a:pPr algn="ctr">
              <a:buNone/>
              <a:defRPr sz="1800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rPr>
              <a:t>Skills</a:t>
            </a:r>
          </a:p>
        </p:txBody>
      </p:sp>
      <p:sp>
        <p:nvSpPr>
          <p:cNvPr id="11" name="out-body-1">
            <a:extLst>
              <a:ext uri="{FF2B5EF4-FFF2-40B4-BE49-F238E27FC236}">
                <a16:creationId xmlns:a16="http://schemas.microsoft.com/office/drawing/2014/main" id="{8EF2BBC5-EAF6-4445-A590-850C204FB625}"/>
              </a:ext>
            </a:extLst>
          </p:cNvPr>
          <p:cNvSpPr>
            <a:spLocks noGrp="1"/>
          </p:cNvSpPr>
          <p:nvPr/>
        </p:nvSpPr>
        <p:spPr>
          <a:xfrm>
            <a:off x="3486150" y="2952750"/>
            <a:ext cx="19240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2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证据抽取、匹配、审计和导出流程</a:t>
            </a:r>
          </a:p>
        </p:txBody>
      </p:sp>
      <p:sp>
        <p:nvSpPr>
          <p:cNvPr id="12" name="out-num-2">
            <a:extLst>
              <a:ext uri="{FF2B5EF4-FFF2-40B4-BE49-F238E27FC236}">
                <a16:creationId xmlns:a16="http://schemas.microsoft.com/office/drawing/2014/main" id="{629D1333-B4E2-4EDC-9227-194504F673BA}"/>
              </a:ext>
            </a:extLst>
          </p:cNvPr>
          <p:cNvSpPr>
            <a:spLocks noGrp="1"/>
          </p:cNvSpPr>
          <p:nvPr/>
        </p:nvSpPr>
        <p:spPr>
          <a:xfrm>
            <a:off x="6019800" y="168592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/>
          </a:bodyPr>
          <a:lstStyle/>
          <a:p>
            <a:pPr algn="ctr">
              <a:buNone/>
              <a:defRPr sz="97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3" name="out-2">
            <a:extLst>
              <a:ext uri="{FF2B5EF4-FFF2-40B4-BE49-F238E27FC236}">
                <a16:creationId xmlns:a16="http://schemas.microsoft.com/office/drawing/2014/main" id="{9B047B67-96C7-49F0-9DEE-5C4E636A3677}"/>
              </a:ext>
            </a:extLst>
          </p:cNvPr>
          <p:cNvSpPr>
            <a:spLocks noGrp="1"/>
          </p:cNvSpPr>
          <p:nvPr/>
        </p:nvSpPr>
        <p:spPr>
          <a:xfrm>
            <a:off x="6019800" y="2066925"/>
            <a:ext cx="2381250" cy="1809750"/>
          </a:xfrm>
          <a:prstGeom prst="roundRect">
            <a:avLst>
              <a:gd name="adj" fmla="val 6316"/>
            </a:avLst>
          </a:prstGeom>
          <a:solidFill>
            <a:srgbClr val="FAFAFB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4" name="out-title-2">
            <a:extLst>
              <a:ext uri="{FF2B5EF4-FFF2-40B4-BE49-F238E27FC236}">
                <a16:creationId xmlns:a16="http://schemas.microsoft.com/office/drawing/2014/main" id="{0F08E44B-C4CC-4463-9E5A-4CF6F01B40FF}"/>
              </a:ext>
            </a:extLst>
          </p:cNvPr>
          <p:cNvSpPr>
            <a:spLocks noGrp="1"/>
          </p:cNvSpPr>
          <p:nvPr/>
        </p:nvSpPr>
        <p:spPr>
          <a:xfrm>
            <a:off x="6210300" y="2343150"/>
            <a:ext cx="2000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/>
          </a:bodyPr>
          <a:lstStyle/>
          <a:p>
            <a:pPr algn="ctr">
              <a:buNone/>
              <a:defRPr sz="1800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rPr>
              <a:t>Schemas</a:t>
            </a:r>
          </a:p>
        </p:txBody>
      </p:sp>
      <p:sp>
        <p:nvSpPr>
          <p:cNvPr id="15" name="out-body-2">
            <a:extLst>
              <a:ext uri="{FF2B5EF4-FFF2-40B4-BE49-F238E27FC236}">
                <a16:creationId xmlns:a16="http://schemas.microsoft.com/office/drawing/2014/main" id="{7E832283-7BC7-4602-BDBF-5E04193539FA}"/>
              </a:ext>
            </a:extLst>
          </p:cNvPr>
          <p:cNvSpPr>
            <a:spLocks noGrp="1"/>
          </p:cNvSpPr>
          <p:nvPr/>
        </p:nvSpPr>
        <p:spPr>
          <a:xfrm>
            <a:off x="6248400" y="2952750"/>
            <a:ext cx="19240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2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任务信封、证据对象、匹配矩阵与 Trace</a:t>
            </a:r>
          </a:p>
        </p:txBody>
      </p:sp>
      <p:sp>
        <p:nvSpPr>
          <p:cNvPr id="16" name="out-num-3">
            <a:extLst>
              <a:ext uri="{FF2B5EF4-FFF2-40B4-BE49-F238E27FC236}">
                <a16:creationId xmlns:a16="http://schemas.microsoft.com/office/drawing/2014/main" id="{467270FF-B258-4081-85CA-3ED33A2E9C09}"/>
              </a:ext>
            </a:extLst>
          </p:cNvPr>
          <p:cNvSpPr>
            <a:spLocks noGrp="1"/>
          </p:cNvSpPr>
          <p:nvPr/>
        </p:nvSpPr>
        <p:spPr>
          <a:xfrm>
            <a:off x="8782050" y="168592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/>
          </a:bodyPr>
          <a:lstStyle/>
          <a:p>
            <a:pPr algn="ctr">
              <a:buNone/>
              <a:defRPr sz="97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7" name="out-3">
            <a:extLst>
              <a:ext uri="{FF2B5EF4-FFF2-40B4-BE49-F238E27FC236}">
                <a16:creationId xmlns:a16="http://schemas.microsoft.com/office/drawing/2014/main" id="{BFEE7D00-81CE-4A4B-B44F-F58C53B665B5}"/>
              </a:ext>
            </a:extLst>
          </p:cNvPr>
          <p:cNvSpPr>
            <a:spLocks noGrp="1"/>
          </p:cNvSpPr>
          <p:nvPr/>
        </p:nvSpPr>
        <p:spPr>
          <a:xfrm>
            <a:off x="8782050" y="2066925"/>
            <a:ext cx="2381250" cy="1809750"/>
          </a:xfrm>
          <a:prstGeom prst="roundRect">
            <a:avLst>
              <a:gd name="adj" fmla="val 6316"/>
            </a:avLst>
          </a:prstGeom>
          <a:solidFill>
            <a:srgbClr val="FAFAFB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18" name="out-title-3">
            <a:extLst>
              <a:ext uri="{FF2B5EF4-FFF2-40B4-BE49-F238E27FC236}">
                <a16:creationId xmlns:a16="http://schemas.microsoft.com/office/drawing/2014/main" id="{F98690FD-3099-4FBB-ACB8-6FF317523588}"/>
              </a:ext>
            </a:extLst>
          </p:cNvPr>
          <p:cNvSpPr>
            <a:spLocks noGrp="1"/>
          </p:cNvSpPr>
          <p:nvPr/>
        </p:nvSpPr>
        <p:spPr>
          <a:xfrm>
            <a:off x="8972550" y="2343150"/>
            <a:ext cx="2000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t">
            <a:normAutofit/>
          </a:bodyPr>
          <a:lstStyle/>
          <a:p>
            <a:pPr algn="ctr">
              <a:buNone/>
              <a:defRPr sz="1800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B3B75"/>
                </a:solidFill>
                <a:latin typeface="Microsoft YaHei"/>
                <a:ea typeface="Microsoft YaHei"/>
                <a:cs typeface="Microsoft YaHei"/>
              </a:rPr>
              <a:t>Eval</a:t>
            </a:r>
          </a:p>
        </p:txBody>
      </p:sp>
      <p:sp>
        <p:nvSpPr>
          <p:cNvPr id="19" name="out-body-3">
            <a:extLst>
              <a:ext uri="{FF2B5EF4-FFF2-40B4-BE49-F238E27FC236}">
                <a16:creationId xmlns:a16="http://schemas.microsoft.com/office/drawing/2014/main" id="{B99F97C7-D3F7-4627-9924-28E5C65F2615}"/>
              </a:ext>
            </a:extLst>
          </p:cNvPr>
          <p:cNvSpPr>
            <a:spLocks noGrp="1"/>
          </p:cNvSpPr>
          <p:nvPr/>
        </p:nvSpPr>
        <p:spPr>
          <a:xfrm>
            <a:off x="9010650" y="2952750"/>
            <a:ext cx="19240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12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合成数据、测试用例、适配器与回放样例</a:t>
            </a:r>
          </a:p>
        </p:txBody>
      </p:sp>
      <p:sp>
        <p:nvSpPr>
          <p:cNvPr id="20" name="close-statement">
            <a:extLst>
              <a:ext uri="{FF2B5EF4-FFF2-40B4-BE49-F238E27FC236}">
                <a16:creationId xmlns:a16="http://schemas.microsoft.com/office/drawing/2014/main" id="{7DE2797D-2973-4BF1-943C-DDCE81F7A4E1}"/>
              </a:ext>
            </a:extLst>
          </p:cNvPr>
          <p:cNvSpPr>
            <a:spLocks noGrp="1"/>
          </p:cNvSpPr>
          <p:nvPr/>
        </p:nvSpPr>
        <p:spPr>
          <a:xfrm>
            <a:off x="1219200" y="4438650"/>
            <a:ext cx="975360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57150" rIns="76200" bIns="57150" anchor="ctr">
            <a:normAutofit/>
          </a:bodyPr>
          <a:lstStyle/>
          <a:p>
            <a:pPr algn="ctr">
              <a:buNone/>
              <a:defRPr sz="21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不替学生编造经历，不替企业自动淘汰；</a:t>
            </a:r>
          </a:p>
          <a:p>
            <a:pPr algn="ctr">
              <a:buNone/>
              <a:defRPr sz="21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让每一次匹配都有证据，让每一次自动化都能被人接管。</a:t>
            </a:r>
          </a:p>
        </p:txBody>
      </p:sp>
      <p:sp>
        <p:nvSpPr>
          <p:cNvPr id="21" name="close-scope1">
            <a:extLst>
              <a:ext uri="{FF2B5EF4-FFF2-40B4-BE49-F238E27FC236}">
                <a16:creationId xmlns:a16="http://schemas.microsoft.com/office/drawing/2014/main" id="{D9FCF8E6-21CC-4603-BDC6-DAE6D75366B5}"/>
              </a:ext>
            </a:extLst>
          </p:cNvPr>
          <p:cNvSpPr>
            <a:spLocks noGrp="1"/>
          </p:cNvSpPr>
          <p:nvPr/>
        </p:nvSpPr>
        <p:spPr>
          <a:xfrm>
            <a:off x="2952750" y="5734050"/>
            <a:ext cx="1619250" cy="323850"/>
          </a:xfrm>
          <a:prstGeom prst="roundRect">
            <a:avLst>
              <a:gd name="adj" fmla="val 35294"/>
            </a:avLst>
          </a:prstGeom>
          <a:solidFill>
            <a:srgbClr val="EAF2FF"/>
          </a:solidFill>
          <a:ln w="9525">
            <a:solidFill>
              <a:srgbClr val="EAF2FF"/>
            </a:solidFill>
            <a:prstDash val="solid"/>
          </a:ln>
        </p:spPr>
        <p:txBody>
          <a:bodyPr wrap="square" lIns="66675" tIns="38100" rIns="66675" bIns="38100" anchor="ctr">
            <a:normAutofit/>
          </a:bodyPr>
          <a:lstStyle/>
          <a:p>
            <a:pPr algn="ctr">
              <a:buNone/>
              <a:defRPr sz="10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66D3"/>
                </a:solidFill>
                <a:latin typeface="Microsoft YaHei"/>
                <a:ea typeface="Microsoft YaHei"/>
                <a:cs typeface="Microsoft YaHei"/>
              </a:rPr>
              <a:t>高校就业中心</a:t>
            </a:r>
          </a:p>
        </p:txBody>
      </p:sp>
      <p:sp>
        <p:nvSpPr>
          <p:cNvPr id="22" name="close-scope2">
            <a:extLst>
              <a:ext uri="{FF2B5EF4-FFF2-40B4-BE49-F238E27FC236}">
                <a16:creationId xmlns:a16="http://schemas.microsoft.com/office/drawing/2014/main" id="{33987CA6-86B0-4936-8D18-D88071541F4C}"/>
              </a:ext>
            </a:extLst>
          </p:cNvPr>
          <p:cNvSpPr>
            <a:spLocks noGrp="1"/>
          </p:cNvSpPr>
          <p:nvPr/>
        </p:nvSpPr>
        <p:spPr>
          <a:xfrm>
            <a:off x="4762500" y="5734050"/>
            <a:ext cx="1257300" cy="323850"/>
          </a:xfrm>
          <a:prstGeom prst="roundRect">
            <a:avLst>
              <a:gd name="adj" fmla="val 35294"/>
            </a:avLst>
          </a:prstGeom>
          <a:solidFill>
            <a:srgbClr val="F2ECFF"/>
          </a:solidFill>
          <a:ln w="9525">
            <a:solidFill>
              <a:srgbClr val="F2ECFF"/>
            </a:solidFill>
            <a:prstDash val="solid"/>
          </a:ln>
        </p:spPr>
        <p:txBody>
          <a:bodyPr wrap="square" lIns="66675" tIns="38100" rIns="66675" bIns="38100" anchor="ctr">
            <a:normAutofit/>
          </a:bodyPr>
          <a:lstStyle/>
          <a:p>
            <a:pPr algn="ctr">
              <a:buNone/>
              <a:defRPr sz="1050" b="1">
                <a:solidFill>
                  <a:srgbClr val="704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7047B8"/>
                </a:solidFill>
                <a:latin typeface="Microsoft YaHei"/>
                <a:ea typeface="Microsoft YaHei"/>
                <a:cs typeface="Microsoft YaHei"/>
              </a:rPr>
              <a:t>职业培训</a:t>
            </a:r>
          </a:p>
        </p:txBody>
      </p:sp>
      <p:sp>
        <p:nvSpPr>
          <p:cNvPr id="23" name="close-scope3">
            <a:extLst>
              <a:ext uri="{FF2B5EF4-FFF2-40B4-BE49-F238E27FC236}">
                <a16:creationId xmlns:a16="http://schemas.microsoft.com/office/drawing/2014/main" id="{9D5719C9-F22A-44A6-ADE8-855A29C448C7}"/>
              </a:ext>
            </a:extLst>
          </p:cNvPr>
          <p:cNvSpPr>
            <a:spLocks noGrp="1"/>
          </p:cNvSpPr>
          <p:nvPr/>
        </p:nvSpPr>
        <p:spPr>
          <a:xfrm>
            <a:off x="6210300" y="5734050"/>
            <a:ext cx="1257300" cy="323850"/>
          </a:xfrm>
          <a:prstGeom prst="roundRect">
            <a:avLst>
              <a:gd name="adj" fmla="val 35294"/>
            </a:avLst>
          </a:prstGeom>
          <a:solidFill>
            <a:srgbClr val="E8F7F0"/>
          </a:solidFill>
          <a:ln w="9525">
            <a:solidFill>
              <a:srgbClr val="E8F7F0"/>
            </a:solidFill>
            <a:prstDash val="solid"/>
          </a:ln>
        </p:spPr>
        <p:txBody>
          <a:bodyPr wrap="square" lIns="66675" tIns="38100" rIns="66675" bIns="38100" anchor="ctr">
            <a:normAutofit/>
          </a:bodyPr>
          <a:lstStyle/>
          <a:p>
            <a:pPr algn="ctr">
              <a:buNone/>
              <a:defRPr sz="105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865B"/>
                </a:solidFill>
                <a:latin typeface="Microsoft YaHei"/>
                <a:ea typeface="Microsoft YaHei"/>
                <a:cs typeface="Microsoft YaHei"/>
              </a:rPr>
              <a:t>校招平台</a:t>
            </a:r>
          </a:p>
        </p:txBody>
      </p:sp>
      <p:sp>
        <p:nvSpPr>
          <p:cNvPr id="24" name="close-scope4">
            <a:extLst>
              <a:ext uri="{FF2B5EF4-FFF2-40B4-BE49-F238E27FC236}">
                <a16:creationId xmlns:a16="http://schemas.microsoft.com/office/drawing/2014/main" id="{698C21C0-56B5-4C34-8394-074F113BAD9A}"/>
              </a:ext>
            </a:extLst>
          </p:cNvPr>
          <p:cNvSpPr>
            <a:spLocks noGrp="1"/>
          </p:cNvSpPr>
          <p:nvPr/>
        </p:nvSpPr>
        <p:spPr>
          <a:xfrm>
            <a:off x="7658100" y="5734050"/>
            <a:ext cx="1619250" cy="323850"/>
          </a:xfrm>
          <a:prstGeom prst="roundRect">
            <a:avLst>
              <a:gd name="adj" fmla="val 35294"/>
            </a:avLst>
          </a:prstGeom>
          <a:solidFill>
            <a:srgbClr val="0B3B75"/>
          </a:solidFill>
          <a:ln w="9525">
            <a:solidFill>
              <a:srgbClr val="0B3B75"/>
            </a:solidFill>
            <a:prstDash val="solid"/>
          </a:ln>
        </p:spPr>
        <p:txBody>
          <a:bodyPr wrap="square" lIns="66675" tIns="38100" rIns="66675" bIns="38100" anchor="ctr">
            <a:normAutofit/>
          </a:bodyPr>
          <a:lstStyle/>
          <a:p>
            <a:pPr algn="ctr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可信求职 Infra</a:t>
            </a:r>
          </a:p>
        </p:txBody>
      </p:sp>
      <p:sp>
        <p:nvSpPr>
          <p:cNvPr id="25" name="footer-14">
            <a:extLst>
              <a:ext uri="{FF2B5EF4-FFF2-40B4-BE49-F238E27FC236}">
                <a16:creationId xmlns:a16="http://schemas.microsoft.com/office/drawing/2014/main" id="{9789C085-78BF-49A8-8CD1-58961E3EC134}"/>
              </a:ext>
            </a:extLst>
          </p:cNvPr>
          <p:cNvSpPr>
            <a:spLocks noGrp="1"/>
          </p:cNvSpPr>
          <p:nvPr/>
        </p:nvSpPr>
        <p:spPr>
          <a:xfrm>
            <a:off x="495300" y="6477000"/>
            <a:ext cx="8572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复杂任务多 Agent 自主协同｜初赛方案</a:t>
            </a:r>
          </a:p>
        </p:txBody>
      </p:sp>
      <p:sp>
        <p:nvSpPr>
          <p:cNvPr id="26" name="page-14">
            <a:extLst>
              <a:ext uri="{FF2B5EF4-FFF2-40B4-BE49-F238E27FC236}">
                <a16:creationId xmlns:a16="http://schemas.microsoft.com/office/drawing/2014/main" id="{0C847598-5A7C-4008-B765-306DC8AF3166}"/>
              </a:ext>
            </a:extLst>
          </p:cNvPr>
          <p:cNvSpPr>
            <a:spLocks noGrp="1"/>
          </p:cNvSpPr>
          <p:nvPr/>
        </p:nvSpPr>
        <p:spPr>
          <a:xfrm>
            <a:off x="11144250" y="644842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21081774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1326</Words>
  <Application>Microsoft Office PowerPoint</Application>
  <DocSecurity>0</DocSecurity>
  <PresentationFormat>宽屏</PresentationFormat>
  <Paragraphs>416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8" baseType="lpstr">
      <vt:lpstr>Microsoft YaHei</vt:lpstr>
      <vt:lpstr>Calibri</vt:lpstr>
      <vt:lpstr>Consolas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文杰 石</cp:lastModifiedBy>
  <cp:revision>1</cp:revision>
  <dcterms:created xsi:type="dcterms:W3CDTF">2026-08-14T09:39:34Z</dcterms:created>
  <dcterms:modified xsi:type="dcterms:W3CDTF">2026-08-14T12:03:52Z</dcterms:modified>
</cp:coreProperties>
</file>